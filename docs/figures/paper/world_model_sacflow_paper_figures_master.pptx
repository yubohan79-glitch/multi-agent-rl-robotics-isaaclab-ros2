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Figure 1. Object-Centric World-Model Flow RL: From Arena Physics to Audited Evidence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Top-conference style overview: environment objects, structured tokens, model-based self-play, rule-gated deployment and replay evidence.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190499" y="749300"/>
            <a:ext cx="3555999" cy="288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0479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558799" y="831850"/>
            <a:ext cx="169735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Arena-to-object abstraction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457199" y="1130299"/>
            <a:ext cx="2317749" cy="203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cxnSp>
        <p:nvCxnSpPr>
          <p:cNvPr id="8" name="line 8"/>
          <p:cNvCxnSpPr/>
          <p:nvPr/>
        </p:nvCxnSpPr>
        <p:spPr>
          <a:xfrm>
            <a:off x="920749" y="1130299"/>
            <a:ext cx="1" cy="20320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9" name="line 9"/>
          <p:cNvCxnSpPr/>
          <p:nvPr/>
        </p:nvCxnSpPr>
        <p:spPr>
          <a:xfrm>
            <a:off x="457199" y="1536700"/>
            <a:ext cx="23177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0" name="line 10"/>
          <p:cNvCxnSpPr/>
          <p:nvPr/>
        </p:nvCxnSpPr>
        <p:spPr>
          <a:xfrm>
            <a:off x="1384299" y="1130299"/>
            <a:ext cx="1" cy="20320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1" name="line 11"/>
          <p:cNvCxnSpPr/>
          <p:nvPr/>
        </p:nvCxnSpPr>
        <p:spPr>
          <a:xfrm>
            <a:off x="457199" y="1943100"/>
            <a:ext cx="23177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2" name="line 12"/>
          <p:cNvCxnSpPr/>
          <p:nvPr/>
        </p:nvCxnSpPr>
        <p:spPr>
          <a:xfrm>
            <a:off x="1847849" y="1130299"/>
            <a:ext cx="1" cy="20320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3" name="line 13"/>
          <p:cNvCxnSpPr/>
          <p:nvPr/>
        </p:nvCxnSpPr>
        <p:spPr>
          <a:xfrm>
            <a:off x="457199" y="2349500"/>
            <a:ext cx="23177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4" name="line 14"/>
          <p:cNvCxnSpPr/>
          <p:nvPr/>
        </p:nvCxnSpPr>
        <p:spPr>
          <a:xfrm>
            <a:off x="2311399" y="1130299"/>
            <a:ext cx="1" cy="20320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5" name="line 15"/>
          <p:cNvCxnSpPr/>
          <p:nvPr/>
        </p:nvCxnSpPr>
        <p:spPr>
          <a:xfrm>
            <a:off x="457199" y="2755900"/>
            <a:ext cx="23177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71499" y="1244600"/>
            <a:ext cx="520699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139949" y="2590799"/>
            <a:ext cx="520699" cy="457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1894204" y="1577340"/>
            <a:ext cx="304799" cy="3048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967104" y="2471420"/>
            <a:ext cx="304799" cy="3048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991869" y="2641600"/>
            <a:ext cx="228599" cy="2286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1106169" y="27114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Y</a:t>
            </a:r>
            <a:endParaRPr lang="en-US" sz="1300"/>
          </a:p>
        </p:txBody>
      </p:sp>
      <p:sp>
        <p:nvSpPr>
          <p:cNvPr id="22" name="shape 22"/>
          <p:cNvSpPr/>
          <p:nvPr/>
        </p:nvSpPr>
        <p:spPr>
          <a:xfrm>
            <a:off x="2081212" y="1747520"/>
            <a:ext cx="228599" cy="2286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2195512" y="181737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</a:t>
            </a:r>
            <a:endParaRPr lang="en-US" sz="1300"/>
          </a:p>
        </p:txBody>
      </p:sp>
      <p:sp>
        <p:nvSpPr>
          <p:cNvPr id="24" name="shape 24"/>
          <p:cNvSpPr/>
          <p:nvPr/>
        </p:nvSpPr>
        <p:spPr>
          <a:xfrm>
            <a:off x="671829" y="200405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703579" y="207391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810894" y="249173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842644" y="2561589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1274444" y="127254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1306194" y="134239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552574" y="151638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1584324" y="158623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2294254" y="159766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2326004" y="166751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2340609" y="216662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2372359" y="223647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1969769" y="269493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2001519" y="276479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1181734" y="281686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1213484" y="288671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cxnSp>
        <p:nvCxnSpPr>
          <p:cNvPr id="40" name="line 40"/>
          <p:cNvCxnSpPr/>
          <p:nvPr/>
        </p:nvCxnSpPr>
        <p:spPr>
          <a:xfrm>
            <a:off x="1106169" y="2755900"/>
            <a:ext cx="139064" cy="162560"/>
          </a:xfrm>
          <a:prstGeom prst="line">
            <a:avLst/>
          </a:prstGeom>
          <a:ln w="19050">
            <a:solidFill>
              <a:srgbClr val="E5B82E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2195512" y="1861819"/>
            <a:ext cx="208597" cy="4064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967104" y="2471420"/>
            <a:ext cx="139064" cy="284479"/>
          </a:xfrm>
          <a:prstGeom prst="line">
            <a:avLst/>
          </a:prstGeom>
          <a:ln w="19050">
            <a:solidFill>
              <a:srgbClr val="F97316"/>
            </a:solidFill>
            <a:tailEnd type="triangle"/>
          </a:ln>
        </p:spPr>
      </p:cxnSp>
      <p:sp>
        <p:nvSpPr>
          <p:cNvPr id="43" name="shape 43"/>
          <p:cNvSpPr/>
          <p:nvPr/>
        </p:nvSpPr>
        <p:spPr>
          <a:xfrm>
            <a:off x="558799" y="3047999"/>
            <a:ext cx="2727642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3m x 3m arena: robots, targets, armor and pushable boxes become objects</a:t>
            </a:r>
            <a:endParaRPr lang="en-US" sz="1100"/>
          </a:p>
        </p:txBody>
      </p:sp>
      <p:cxnSp>
        <p:nvCxnSpPr>
          <p:cNvPr id="44" name="line 44"/>
          <p:cNvCxnSpPr/>
          <p:nvPr/>
        </p:nvCxnSpPr>
        <p:spPr>
          <a:xfrm>
            <a:off x="2870199" y="2146299"/>
            <a:ext cx="46354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45" name="shape 45"/>
          <p:cNvSpPr/>
          <p:nvPr/>
        </p:nvSpPr>
        <p:spPr>
          <a:xfrm>
            <a:off x="3035299" y="1244600"/>
            <a:ext cx="495299" cy="3683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46" name="shape 46"/>
          <p:cNvSpPr/>
          <p:nvPr/>
        </p:nvSpPr>
        <p:spPr>
          <a:xfrm>
            <a:off x="3111499" y="1320800"/>
            <a:ext cx="3428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event
log</a:t>
            </a:r>
            <a:endParaRPr lang="en-US" sz="1200"/>
          </a:p>
        </p:txBody>
      </p:sp>
      <p:sp>
        <p:nvSpPr>
          <p:cNvPr id="47" name="shape 47"/>
          <p:cNvSpPr/>
          <p:nvPr/>
        </p:nvSpPr>
        <p:spPr>
          <a:xfrm>
            <a:off x="3035299" y="1790700"/>
            <a:ext cx="495299" cy="3683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3111499" y="1866899"/>
            <a:ext cx="3428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object
state</a:t>
            </a:r>
            <a:endParaRPr lang="en-US" sz="1200"/>
          </a:p>
        </p:txBody>
      </p:sp>
      <p:sp>
        <p:nvSpPr>
          <p:cNvPr id="49" name="shape 49"/>
          <p:cNvSpPr/>
          <p:nvPr/>
        </p:nvSpPr>
        <p:spPr>
          <a:xfrm>
            <a:off x="3035299" y="2336800"/>
            <a:ext cx="495299" cy="368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0" name="shape 50"/>
          <p:cNvSpPr/>
          <p:nvPr/>
        </p:nvSpPr>
        <p:spPr>
          <a:xfrm>
            <a:off x="3111499" y="2413000"/>
            <a:ext cx="3428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rule
state</a:t>
            </a:r>
            <a:endParaRPr lang="en-US" sz="1200"/>
          </a:p>
        </p:txBody>
      </p:sp>
      <p:sp>
        <p:nvSpPr>
          <p:cNvPr id="51" name="shape 51"/>
          <p:cNvSpPr/>
          <p:nvPr/>
        </p:nvSpPr>
        <p:spPr>
          <a:xfrm>
            <a:off x="3936999" y="749300"/>
            <a:ext cx="3206749" cy="288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405129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53" name="shape 53"/>
          <p:cNvSpPr/>
          <p:nvPr/>
        </p:nvSpPr>
        <p:spPr>
          <a:xfrm>
            <a:off x="4305299" y="831850"/>
            <a:ext cx="207454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Structured state used by learning</a:t>
            </a:r>
            <a:endParaRPr lang="en-US" sz="1800"/>
          </a:p>
        </p:txBody>
      </p:sp>
      <p:sp>
        <p:nvSpPr>
          <p:cNvPr id="54" name="shape 54"/>
          <p:cNvSpPr/>
          <p:nvPr/>
        </p:nvSpPr>
        <p:spPr>
          <a:xfrm>
            <a:off x="4222749" y="1174750"/>
            <a:ext cx="2666999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55" name="shape 55"/>
          <p:cNvSpPr/>
          <p:nvPr/>
        </p:nvSpPr>
        <p:spPr>
          <a:xfrm>
            <a:off x="4337049" y="1301750"/>
            <a:ext cx="122935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Object-token table z_t</a:t>
            </a:r>
            <a:endParaRPr lang="en-US" sz="1600"/>
          </a:p>
        </p:txBody>
      </p:sp>
      <p:sp>
        <p:nvSpPr>
          <p:cNvPr id="56" name="shape 56"/>
          <p:cNvSpPr/>
          <p:nvPr/>
        </p:nvSpPr>
        <p:spPr>
          <a:xfrm>
            <a:off x="43878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type</a:t>
            </a:r>
            <a:endParaRPr lang="en-US" sz="1000"/>
          </a:p>
        </p:txBody>
      </p:sp>
      <p:sp>
        <p:nvSpPr>
          <p:cNvPr id="57" name="shape 57"/>
          <p:cNvSpPr/>
          <p:nvPr/>
        </p:nvSpPr>
        <p:spPr>
          <a:xfrm>
            <a:off x="47815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x/y</a:t>
            </a:r>
            <a:endParaRPr lang="en-US" sz="1000"/>
          </a:p>
        </p:txBody>
      </p:sp>
      <p:sp>
        <p:nvSpPr>
          <p:cNvPr id="58" name="shape 58"/>
          <p:cNvSpPr/>
          <p:nvPr/>
        </p:nvSpPr>
        <p:spPr>
          <a:xfrm>
            <a:off x="51752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yaw</a:t>
            </a:r>
            <a:endParaRPr lang="en-US" sz="1000"/>
          </a:p>
        </p:txBody>
      </p:sp>
      <p:sp>
        <p:nvSpPr>
          <p:cNvPr id="59" name="shape 59"/>
          <p:cNvSpPr/>
          <p:nvPr/>
        </p:nvSpPr>
        <p:spPr>
          <a:xfrm>
            <a:off x="55689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owner</a:t>
            </a:r>
            <a:endParaRPr lang="en-US" sz="1000"/>
          </a:p>
        </p:txBody>
      </p:sp>
      <p:sp>
        <p:nvSpPr>
          <p:cNvPr id="60" name="shape 60"/>
          <p:cNvSpPr/>
          <p:nvPr/>
        </p:nvSpPr>
        <p:spPr>
          <a:xfrm>
            <a:off x="59626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state</a:t>
            </a:r>
            <a:endParaRPr lang="en-US" sz="1000"/>
          </a:p>
        </p:txBody>
      </p:sp>
      <p:sp>
        <p:nvSpPr>
          <p:cNvPr id="61" name="shape 61"/>
          <p:cNvSpPr/>
          <p:nvPr/>
        </p:nvSpPr>
        <p:spPr>
          <a:xfrm>
            <a:off x="6356349" y="15430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visible</a:t>
            </a:r>
            <a:endParaRPr lang="en-US" sz="1000"/>
          </a:p>
        </p:txBody>
      </p:sp>
      <p:sp>
        <p:nvSpPr>
          <p:cNvPr id="62" name="shape 62"/>
          <p:cNvSpPr/>
          <p:nvPr/>
        </p:nvSpPr>
        <p:spPr>
          <a:xfrm>
            <a:off x="4375149" y="17081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robot_Y</a:t>
            </a:r>
            <a:endParaRPr lang="en-US" sz="1000"/>
          </a:p>
        </p:txBody>
      </p:sp>
      <p:sp>
        <p:nvSpPr>
          <p:cNvPr id="63" name="shape 63"/>
          <p:cNvSpPr/>
          <p:nvPr/>
        </p:nvSpPr>
        <p:spPr>
          <a:xfrm>
            <a:off x="4781549" y="1663700"/>
            <a:ext cx="26542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64" name="shape 64"/>
          <p:cNvSpPr/>
          <p:nvPr/>
        </p:nvSpPr>
        <p:spPr>
          <a:xfrm>
            <a:off x="5175249" y="1663700"/>
            <a:ext cx="172084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5568949" y="1663700"/>
            <a:ext cx="7873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66" name="shape 66"/>
          <p:cNvSpPr/>
          <p:nvPr/>
        </p:nvSpPr>
        <p:spPr>
          <a:xfrm>
            <a:off x="5962649" y="1663700"/>
            <a:ext cx="29209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67" name="shape 67"/>
          <p:cNvSpPr/>
          <p:nvPr/>
        </p:nvSpPr>
        <p:spPr>
          <a:xfrm>
            <a:off x="6356349" y="1663700"/>
            <a:ext cx="252094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4375149" y="18796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robot_B</a:t>
            </a:r>
            <a:endParaRPr lang="en-US" sz="1000"/>
          </a:p>
        </p:txBody>
      </p:sp>
      <p:sp>
        <p:nvSpPr>
          <p:cNvPr id="69" name="shape 69"/>
          <p:cNvSpPr/>
          <p:nvPr/>
        </p:nvSpPr>
        <p:spPr>
          <a:xfrm>
            <a:off x="4781549" y="1835150"/>
            <a:ext cx="7873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0" name="shape 70"/>
          <p:cNvSpPr/>
          <p:nvPr/>
        </p:nvSpPr>
        <p:spPr>
          <a:xfrm>
            <a:off x="5175249" y="1835150"/>
            <a:ext cx="190753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5568949" y="1835150"/>
            <a:ext cx="225424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2" name="shape 72"/>
          <p:cNvSpPr/>
          <p:nvPr/>
        </p:nvSpPr>
        <p:spPr>
          <a:xfrm>
            <a:off x="5962649" y="1835150"/>
            <a:ext cx="29209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6356349" y="1835150"/>
            <a:ext cx="23875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4" name="shape 74"/>
          <p:cNvSpPr/>
          <p:nvPr/>
        </p:nvSpPr>
        <p:spPr>
          <a:xfrm>
            <a:off x="4375149" y="2051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target</a:t>
            </a:r>
            <a:endParaRPr lang="en-US" sz="1000"/>
          </a:p>
        </p:txBody>
      </p:sp>
      <p:sp>
        <p:nvSpPr>
          <p:cNvPr id="75" name="shape 75"/>
          <p:cNvSpPr/>
          <p:nvPr/>
        </p:nvSpPr>
        <p:spPr>
          <a:xfrm>
            <a:off x="4781549" y="2006599"/>
            <a:ext cx="21208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6" name="shape 76"/>
          <p:cNvSpPr/>
          <p:nvPr/>
        </p:nvSpPr>
        <p:spPr>
          <a:xfrm>
            <a:off x="5175249" y="2006599"/>
            <a:ext cx="73405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7" name="shape 77"/>
          <p:cNvSpPr/>
          <p:nvPr/>
        </p:nvSpPr>
        <p:spPr>
          <a:xfrm>
            <a:off x="5568949" y="2006599"/>
            <a:ext cx="15874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8" name="shape 78"/>
          <p:cNvSpPr/>
          <p:nvPr/>
        </p:nvSpPr>
        <p:spPr>
          <a:xfrm>
            <a:off x="5962649" y="2006599"/>
            <a:ext cx="10540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9" name="shape 79"/>
          <p:cNvSpPr/>
          <p:nvPr/>
        </p:nvSpPr>
        <p:spPr>
          <a:xfrm>
            <a:off x="6356349" y="2006599"/>
            <a:ext cx="278764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80" name="shape 80"/>
          <p:cNvSpPr/>
          <p:nvPr/>
        </p:nvSpPr>
        <p:spPr>
          <a:xfrm>
            <a:off x="4375149" y="22225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armor</a:t>
            </a:r>
            <a:endParaRPr lang="en-US" sz="1000"/>
          </a:p>
        </p:txBody>
      </p:sp>
      <p:sp>
        <p:nvSpPr>
          <p:cNvPr id="81" name="shape 81"/>
          <p:cNvSpPr/>
          <p:nvPr/>
        </p:nvSpPr>
        <p:spPr>
          <a:xfrm>
            <a:off x="4781549" y="2178050"/>
            <a:ext cx="132079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82" name="shape 82"/>
          <p:cNvSpPr/>
          <p:nvPr/>
        </p:nvSpPr>
        <p:spPr>
          <a:xfrm>
            <a:off x="5175249" y="2178050"/>
            <a:ext cx="260095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83" name="shape 83"/>
          <p:cNvSpPr/>
          <p:nvPr/>
        </p:nvSpPr>
        <p:spPr>
          <a:xfrm>
            <a:off x="5568949" y="2178050"/>
            <a:ext cx="145414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84" name="shape 84"/>
          <p:cNvSpPr/>
          <p:nvPr/>
        </p:nvSpPr>
        <p:spPr>
          <a:xfrm>
            <a:off x="5962649" y="2178050"/>
            <a:ext cx="185419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85" name="shape 85"/>
          <p:cNvSpPr/>
          <p:nvPr/>
        </p:nvSpPr>
        <p:spPr>
          <a:xfrm>
            <a:off x="6356349" y="2178050"/>
            <a:ext cx="118744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86" name="shape 86"/>
          <p:cNvSpPr/>
          <p:nvPr/>
        </p:nvSpPr>
        <p:spPr>
          <a:xfrm>
            <a:off x="4375149" y="23939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box</a:t>
            </a:r>
            <a:endParaRPr lang="en-US" sz="1000"/>
          </a:p>
        </p:txBody>
      </p:sp>
      <p:sp>
        <p:nvSpPr>
          <p:cNvPr id="87" name="shape 87"/>
          <p:cNvSpPr/>
          <p:nvPr/>
        </p:nvSpPr>
        <p:spPr>
          <a:xfrm>
            <a:off x="4781549" y="2349500"/>
            <a:ext cx="180085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8" name="shape 88"/>
          <p:cNvSpPr/>
          <p:nvPr/>
        </p:nvSpPr>
        <p:spPr>
          <a:xfrm>
            <a:off x="5175249" y="2349500"/>
            <a:ext cx="137413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9" name="shape 89"/>
          <p:cNvSpPr/>
          <p:nvPr/>
        </p:nvSpPr>
        <p:spPr>
          <a:xfrm>
            <a:off x="5568949" y="2349500"/>
            <a:ext cx="25399" cy="76200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90" name="shape 90"/>
          <p:cNvSpPr/>
          <p:nvPr/>
        </p:nvSpPr>
        <p:spPr>
          <a:xfrm>
            <a:off x="5962649" y="2349500"/>
            <a:ext cx="225424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91" name="shape 91"/>
          <p:cNvSpPr/>
          <p:nvPr/>
        </p:nvSpPr>
        <p:spPr>
          <a:xfrm>
            <a:off x="6356349" y="2349500"/>
            <a:ext cx="212089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92" name="shape 92"/>
          <p:cNvSpPr/>
          <p:nvPr/>
        </p:nvSpPr>
        <p:spPr>
          <a:xfrm>
            <a:off x="4375149" y="2520950"/>
            <a:ext cx="2228214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typed rows keep ownership, armor and box dynamics explicit</a:t>
            </a:r>
            <a:endParaRPr lang="en-US" sz="1100"/>
          </a:p>
        </p:txBody>
      </p:sp>
      <p:sp>
        <p:nvSpPr>
          <p:cNvPr id="93" name="shape 93"/>
          <p:cNvSpPr/>
          <p:nvPr/>
        </p:nvSpPr>
        <p:spPr>
          <a:xfrm>
            <a:off x="4241799" y="2781300"/>
            <a:ext cx="7746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4" name="shape 94"/>
          <p:cNvSpPr/>
          <p:nvPr/>
        </p:nvSpPr>
        <p:spPr>
          <a:xfrm>
            <a:off x="4343399" y="289560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obs</a:t>
            </a:r>
            <a:endParaRPr lang="en-US" sz="1300"/>
          </a:p>
        </p:txBody>
      </p:sp>
      <p:sp>
        <p:nvSpPr>
          <p:cNvPr id="95" name="shape 95"/>
          <p:cNvSpPr/>
          <p:nvPr/>
        </p:nvSpPr>
        <p:spPr>
          <a:xfrm>
            <a:off x="4343399" y="306070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46</a:t>
            </a:r>
            <a:endParaRPr lang="en-US" sz="2100"/>
          </a:p>
        </p:txBody>
      </p:sp>
      <p:sp>
        <p:nvSpPr>
          <p:cNvPr id="96" name="shape 96"/>
          <p:cNvSpPr/>
          <p:nvPr/>
        </p:nvSpPr>
        <p:spPr>
          <a:xfrm>
            <a:off x="4914899" y="30861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local</a:t>
            </a:r>
            <a:endParaRPr lang="en-US" sz="1100"/>
          </a:p>
        </p:txBody>
      </p:sp>
      <p:sp>
        <p:nvSpPr>
          <p:cNvPr id="97" name="shape 97"/>
          <p:cNvSpPr/>
          <p:nvPr/>
        </p:nvSpPr>
        <p:spPr>
          <a:xfrm>
            <a:off x="5143499" y="2781300"/>
            <a:ext cx="7746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98" name="shape 98"/>
          <p:cNvSpPr/>
          <p:nvPr/>
        </p:nvSpPr>
        <p:spPr>
          <a:xfrm>
            <a:off x="5245099" y="289560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objects</a:t>
            </a:r>
            <a:endParaRPr lang="en-US" sz="1300"/>
          </a:p>
        </p:txBody>
      </p:sp>
      <p:sp>
        <p:nvSpPr>
          <p:cNvPr id="99" name="shape 99"/>
          <p:cNvSpPr/>
          <p:nvPr/>
        </p:nvSpPr>
        <p:spPr>
          <a:xfrm>
            <a:off x="5245099" y="306070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165</a:t>
            </a:r>
            <a:endParaRPr lang="en-US" sz="2100"/>
          </a:p>
        </p:txBody>
      </p:sp>
      <p:sp>
        <p:nvSpPr>
          <p:cNvPr id="100" name="shape 100"/>
          <p:cNvSpPr/>
          <p:nvPr/>
        </p:nvSpPr>
        <p:spPr>
          <a:xfrm>
            <a:off x="5816599" y="30861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global</a:t>
            </a:r>
            <a:endParaRPr lang="en-US" sz="1100"/>
          </a:p>
        </p:txBody>
      </p:sp>
      <p:sp>
        <p:nvSpPr>
          <p:cNvPr id="101" name="shape 101"/>
          <p:cNvSpPr/>
          <p:nvPr/>
        </p:nvSpPr>
        <p:spPr>
          <a:xfrm>
            <a:off x="6045199" y="2781300"/>
            <a:ext cx="7746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02" name="shape 102"/>
          <p:cNvSpPr/>
          <p:nvPr/>
        </p:nvSpPr>
        <p:spPr>
          <a:xfrm>
            <a:off x="6146799" y="289560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action</a:t>
            </a:r>
            <a:endParaRPr lang="en-US" sz="1300"/>
          </a:p>
        </p:txBody>
      </p:sp>
      <p:sp>
        <p:nvSpPr>
          <p:cNvPr id="103" name="shape 103"/>
          <p:cNvSpPr/>
          <p:nvPr/>
        </p:nvSpPr>
        <p:spPr>
          <a:xfrm>
            <a:off x="6146799" y="306070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6D</a:t>
            </a:r>
            <a:endParaRPr lang="en-US" sz="2100"/>
          </a:p>
        </p:txBody>
      </p:sp>
      <p:sp>
        <p:nvSpPr>
          <p:cNvPr id="104" name="shape 104"/>
          <p:cNvSpPr/>
          <p:nvPr/>
        </p:nvSpPr>
        <p:spPr>
          <a:xfrm>
            <a:off x="6718299" y="30861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tactical</a:t>
            </a:r>
            <a:endParaRPr lang="en-US" sz="1100"/>
          </a:p>
        </p:txBody>
      </p:sp>
      <p:sp>
        <p:nvSpPr>
          <p:cNvPr id="105" name="shape 105"/>
          <p:cNvSpPr/>
          <p:nvPr/>
        </p:nvSpPr>
        <p:spPr>
          <a:xfrm>
            <a:off x="7334249" y="749300"/>
            <a:ext cx="4667249" cy="288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744854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107" name="shape 107"/>
          <p:cNvSpPr/>
          <p:nvPr/>
        </p:nvSpPr>
        <p:spPr>
          <a:xfrm>
            <a:off x="7702549" y="831850"/>
            <a:ext cx="188594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Model-based flow-control stack</a:t>
            </a:r>
            <a:endParaRPr lang="en-US" sz="1800"/>
          </a:p>
        </p:txBody>
      </p:sp>
      <p:sp>
        <p:nvSpPr>
          <p:cNvPr id="108" name="shape 108"/>
          <p:cNvSpPr/>
          <p:nvPr/>
        </p:nvSpPr>
        <p:spPr>
          <a:xfrm>
            <a:off x="7683499" y="1193800"/>
            <a:ext cx="952499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7759699" y="1270000"/>
            <a:ext cx="800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Object
encoder</a:t>
            </a:r>
            <a:endParaRPr lang="en-US" sz="1400"/>
          </a:p>
        </p:txBody>
      </p:sp>
      <p:sp>
        <p:nvSpPr>
          <p:cNvPr id="110" name="shape 110"/>
          <p:cNvSpPr/>
          <p:nvPr/>
        </p:nvSpPr>
        <p:spPr>
          <a:xfrm>
            <a:off x="8953499" y="1193800"/>
            <a:ext cx="1015999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1" name="shape 111"/>
          <p:cNvSpPr/>
          <p:nvPr/>
        </p:nvSpPr>
        <p:spPr>
          <a:xfrm>
            <a:off x="9029699" y="127000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World model
rollout</a:t>
            </a:r>
            <a:endParaRPr lang="en-US" sz="1400"/>
          </a:p>
        </p:txBody>
      </p:sp>
      <p:sp>
        <p:nvSpPr>
          <p:cNvPr id="112" name="shape 112"/>
          <p:cNvSpPr/>
          <p:nvPr/>
        </p:nvSpPr>
        <p:spPr>
          <a:xfrm>
            <a:off x="10318749" y="1193800"/>
            <a:ext cx="1015999" cy="457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off x="10394949" y="127000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Flow actor
u(t,a|z)</a:t>
            </a:r>
            <a:endParaRPr lang="en-US" sz="1400"/>
          </a:p>
        </p:txBody>
      </p:sp>
      <p:sp>
        <p:nvSpPr>
          <p:cNvPr id="114" name="shape 114"/>
          <p:cNvSpPr/>
          <p:nvPr/>
        </p:nvSpPr>
        <p:spPr>
          <a:xfrm>
            <a:off x="8350249" y="2159000"/>
            <a:ext cx="10159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8426449" y="223520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Twin-Q
self-play SAC</a:t>
            </a:r>
            <a:endParaRPr lang="en-US" sz="1400"/>
          </a:p>
        </p:txBody>
      </p:sp>
      <p:sp>
        <p:nvSpPr>
          <p:cNvPr id="116" name="shape 116"/>
          <p:cNvSpPr/>
          <p:nvPr/>
        </p:nvSpPr>
        <p:spPr>
          <a:xfrm>
            <a:off x="9747249" y="2159000"/>
            <a:ext cx="1079499" cy="457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9823449" y="2235200"/>
            <a:ext cx="927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Rule shield
legal action</a:t>
            </a:r>
            <a:endParaRPr lang="en-US" sz="1400"/>
          </a:p>
        </p:txBody>
      </p:sp>
      <p:cxnSp>
        <p:nvCxnSpPr>
          <p:cNvPr id="118" name="line 118"/>
          <p:cNvCxnSpPr/>
          <p:nvPr/>
        </p:nvCxnSpPr>
        <p:spPr>
          <a:xfrm>
            <a:off x="8635999" y="1422400"/>
            <a:ext cx="31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9" name="line 119"/>
          <p:cNvCxnSpPr/>
          <p:nvPr/>
        </p:nvCxnSpPr>
        <p:spPr>
          <a:xfrm>
            <a:off x="9969499" y="1422400"/>
            <a:ext cx="349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20" name="line 120"/>
          <p:cNvCxnSpPr/>
          <p:nvPr/>
        </p:nvCxnSpPr>
        <p:spPr>
          <a:xfrm>
            <a:off x="10286999" y="1650999"/>
            <a:ext cx="539749" cy="5080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21" name="line 121"/>
          <p:cNvCxnSpPr/>
          <p:nvPr/>
        </p:nvCxnSpPr>
        <p:spPr>
          <a:xfrm>
            <a:off x="9366249" y="23876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22" name="line 122"/>
          <p:cNvCxnSpPr/>
          <p:nvPr/>
        </p:nvCxnSpPr>
        <p:spPr>
          <a:xfrm>
            <a:off x="8858249" y="1650999"/>
            <a:ext cx="603249" cy="5080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23" name="shape 123"/>
          <p:cNvSpPr/>
          <p:nvPr/>
        </p:nvSpPr>
        <p:spPr>
          <a:xfrm>
            <a:off x="7746999" y="2984500"/>
            <a:ext cx="3428999" cy="2413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4" name="shape 124"/>
          <p:cNvSpPr/>
          <p:nvPr/>
        </p:nvSpPr>
        <p:spPr>
          <a:xfrm>
            <a:off x="7823199" y="3060700"/>
            <a:ext cx="3276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replay buffer: z_t, local obs, flow action, reward, z_{t+1}</a:t>
            </a:r>
            <a:endParaRPr lang="en-US" sz="1400"/>
          </a:p>
        </p:txBody>
      </p:sp>
      <p:sp>
        <p:nvSpPr>
          <p:cNvPr id="125" name="shape 125"/>
          <p:cNvSpPr/>
          <p:nvPr/>
        </p:nvSpPr>
        <p:spPr>
          <a:xfrm>
            <a:off x="190499" y="3873499"/>
            <a:ext cx="46989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26" name="shape 126"/>
          <p:cNvSpPr/>
          <p:nvPr/>
        </p:nvSpPr>
        <p:spPr>
          <a:xfrm>
            <a:off x="304799" y="3949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127" name="shape 127"/>
          <p:cNvSpPr/>
          <p:nvPr/>
        </p:nvSpPr>
        <p:spPr>
          <a:xfrm>
            <a:off x="558799" y="3956049"/>
            <a:ext cx="22002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Evidence from multi-seed evaluation</a:t>
            </a:r>
            <a:endParaRPr lang="en-US" sz="1800"/>
          </a:p>
        </p:txBody>
      </p:sp>
      <p:cxnSp>
        <p:nvCxnSpPr>
          <p:cNvPr id="128" name="line 128"/>
          <p:cNvCxnSpPr/>
          <p:nvPr/>
        </p:nvCxnSpPr>
        <p:spPr>
          <a:xfrm>
            <a:off x="520699" y="4381499"/>
            <a:ext cx="1904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29" name="line 129"/>
          <p:cNvCxnSpPr/>
          <p:nvPr/>
        </p:nvCxnSpPr>
        <p:spPr>
          <a:xfrm>
            <a:off x="520699" y="4611687"/>
            <a:ext cx="1904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30" name="line 130"/>
          <p:cNvCxnSpPr/>
          <p:nvPr/>
        </p:nvCxnSpPr>
        <p:spPr>
          <a:xfrm>
            <a:off x="520699" y="4841875"/>
            <a:ext cx="1904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31" name="line 131"/>
          <p:cNvCxnSpPr/>
          <p:nvPr/>
        </p:nvCxnSpPr>
        <p:spPr>
          <a:xfrm>
            <a:off x="520699" y="5072062"/>
            <a:ext cx="1904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32" name="line 132"/>
          <p:cNvCxnSpPr/>
          <p:nvPr/>
        </p:nvCxnSpPr>
        <p:spPr>
          <a:xfrm>
            <a:off x="520699" y="5302250"/>
            <a:ext cx="1904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33" name="line 133"/>
          <p:cNvCxnSpPr/>
          <p:nvPr/>
        </p:nvCxnSpPr>
        <p:spPr>
          <a:xfrm>
            <a:off x="520699" y="5302250"/>
            <a:ext cx="1904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34" name="line 134"/>
          <p:cNvCxnSpPr/>
          <p:nvPr/>
        </p:nvCxnSpPr>
        <p:spPr>
          <a:xfrm>
            <a:off x="520699" y="4381499"/>
            <a:ext cx="1" cy="920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5" name="shape 135"/>
          <p:cNvSpPr/>
          <p:nvPr/>
        </p:nvSpPr>
        <p:spPr>
          <a:xfrm>
            <a:off x="342899" y="429259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36" name="shape 136"/>
          <p:cNvSpPr/>
          <p:nvPr/>
        </p:nvSpPr>
        <p:spPr>
          <a:xfrm>
            <a:off x="704849" y="4849056"/>
            <a:ext cx="266699" cy="45319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37" name="shape 137"/>
          <p:cNvSpPr/>
          <p:nvPr/>
        </p:nvSpPr>
        <p:spPr>
          <a:xfrm>
            <a:off x="838199" y="469665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38" name="shape 138"/>
          <p:cNvSpPr/>
          <p:nvPr/>
        </p:nvSpPr>
        <p:spPr>
          <a:xfrm>
            <a:off x="838199" y="54038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Yellow</a:t>
            </a:r>
            <a:endParaRPr lang="en-US" sz="1100"/>
          </a:p>
        </p:txBody>
      </p:sp>
      <p:sp>
        <p:nvSpPr>
          <p:cNvPr id="139" name="shape 139"/>
          <p:cNvSpPr/>
          <p:nvPr/>
        </p:nvSpPr>
        <p:spPr>
          <a:xfrm>
            <a:off x="1339849" y="4834693"/>
            <a:ext cx="266699" cy="46755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40" name="shape 140"/>
          <p:cNvSpPr/>
          <p:nvPr/>
        </p:nvSpPr>
        <p:spPr>
          <a:xfrm>
            <a:off x="1473199" y="468229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141" name="shape 141"/>
          <p:cNvSpPr/>
          <p:nvPr/>
        </p:nvSpPr>
        <p:spPr>
          <a:xfrm>
            <a:off x="1473199" y="54038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Blue</a:t>
            </a:r>
            <a:endParaRPr lang="en-US" sz="1100"/>
          </a:p>
        </p:txBody>
      </p:sp>
      <p:sp>
        <p:nvSpPr>
          <p:cNvPr id="142" name="shape 142"/>
          <p:cNvSpPr/>
          <p:nvPr/>
        </p:nvSpPr>
        <p:spPr>
          <a:xfrm>
            <a:off x="1974849" y="5302250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43" name="shape 143"/>
          <p:cNvSpPr/>
          <p:nvPr/>
        </p:nvSpPr>
        <p:spPr>
          <a:xfrm>
            <a:off x="2108199" y="514984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144" name="shape 144"/>
          <p:cNvSpPr/>
          <p:nvPr/>
        </p:nvSpPr>
        <p:spPr>
          <a:xfrm>
            <a:off x="2108199" y="54038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Draw</a:t>
            </a:r>
            <a:endParaRPr lang="en-US" sz="1100"/>
          </a:p>
        </p:txBody>
      </p:sp>
      <p:sp>
        <p:nvSpPr>
          <p:cNvPr id="145" name="shape 145"/>
          <p:cNvSpPr/>
          <p:nvPr/>
        </p:nvSpPr>
        <p:spPr>
          <a:xfrm>
            <a:off x="2793999" y="4330700"/>
            <a:ext cx="8254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46" name="shape 146"/>
          <p:cNvSpPr/>
          <p:nvPr/>
        </p:nvSpPr>
        <p:spPr>
          <a:xfrm>
            <a:off x="2895599" y="444500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games</a:t>
            </a:r>
            <a:endParaRPr lang="en-US" sz="1300"/>
          </a:p>
        </p:txBody>
      </p:sp>
      <p:sp>
        <p:nvSpPr>
          <p:cNvPr id="147" name="shape 147"/>
          <p:cNvSpPr/>
          <p:nvPr/>
        </p:nvSpPr>
        <p:spPr>
          <a:xfrm>
            <a:off x="2895599" y="461010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128</a:t>
            </a:r>
            <a:endParaRPr lang="en-US" sz="2100"/>
          </a:p>
        </p:txBody>
      </p:sp>
      <p:sp>
        <p:nvSpPr>
          <p:cNvPr id="148" name="shape 148"/>
          <p:cNvSpPr/>
          <p:nvPr/>
        </p:nvSpPr>
        <p:spPr>
          <a:xfrm>
            <a:off x="3746499" y="4330700"/>
            <a:ext cx="8254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149" name="shape 149"/>
          <p:cNvSpPr/>
          <p:nvPr/>
        </p:nvSpPr>
        <p:spPr>
          <a:xfrm>
            <a:off x="3848099" y="444500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mean time</a:t>
            </a:r>
            <a:endParaRPr lang="en-US" sz="1300"/>
          </a:p>
        </p:txBody>
      </p:sp>
      <p:sp>
        <p:nvSpPr>
          <p:cNvPr id="150" name="shape 150"/>
          <p:cNvSpPr/>
          <p:nvPr/>
        </p:nvSpPr>
        <p:spPr>
          <a:xfrm>
            <a:off x="3848099" y="461010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30.8s</a:t>
            </a:r>
            <a:endParaRPr lang="en-US" sz="2100"/>
          </a:p>
        </p:txBody>
      </p:sp>
      <p:sp>
        <p:nvSpPr>
          <p:cNvPr id="151" name="shape 151"/>
          <p:cNvSpPr/>
          <p:nvPr/>
        </p:nvSpPr>
        <p:spPr>
          <a:xfrm>
            <a:off x="2793999" y="5016500"/>
            <a:ext cx="1777999" cy="2921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52" name="shape 152"/>
          <p:cNvSpPr/>
          <p:nvPr/>
        </p:nvSpPr>
        <p:spPr>
          <a:xfrm>
            <a:off x="2870199" y="5092700"/>
            <a:ext cx="1625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zero static / box penetration in contract eval</a:t>
            </a:r>
            <a:endParaRPr lang="en-US" sz="1400"/>
          </a:p>
        </p:txBody>
      </p:sp>
      <p:sp>
        <p:nvSpPr>
          <p:cNvPr id="153" name="shape 153"/>
          <p:cNvSpPr/>
          <p:nvPr/>
        </p:nvSpPr>
        <p:spPr>
          <a:xfrm>
            <a:off x="5111749" y="3873499"/>
            <a:ext cx="33019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54" name="shape 154"/>
          <p:cNvSpPr/>
          <p:nvPr/>
        </p:nvSpPr>
        <p:spPr>
          <a:xfrm>
            <a:off x="5226049" y="3949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155" name="shape 155"/>
          <p:cNvSpPr/>
          <p:nvPr/>
        </p:nvSpPr>
        <p:spPr>
          <a:xfrm>
            <a:off x="5480049" y="3956049"/>
            <a:ext cx="113156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Strict replay gate</a:t>
            </a:r>
            <a:endParaRPr lang="en-US" sz="1800"/>
          </a:p>
        </p:txBody>
      </p:sp>
      <p:sp>
        <p:nvSpPr>
          <p:cNvPr id="156" name="shape 156"/>
          <p:cNvSpPr/>
          <p:nvPr/>
        </p:nvSpPr>
        <p:spPr>
          <a:xfrm>
            <a:off x="5295899" y="4394200"/>
            <a:ext cx="203199" cy="20320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57" name="shape 157"/>
          <p:cNvSpPr/>
          <p:nvPr/>
        </p:nvSpPr>
        <p:spPr>
          <a:xfrm>
            <a:off x="5397499" y="44513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1</a:t>
            </a:r>
            <a:endParaRPr lang="en-US" sz="1300"/>
          </a:p>
        </p:txBody>
      </p:sp>
      <p:sp>
        <p:nvSpPr>
          <p:cNvPr id="158" name="shape 158"/>
          <p:cNvSpPr/>
          <p:nvPr/>
        </p:nvSpPr>
        <p:spPr>
          <a:xfrm>
            <a:off x="5619749" y="4425950"/>
            <a:ext cx="57626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0.80s dwell</a:t>
            </a:r>
            <a:endParaRPr lang="en-US" sz="1500"/>
          </a:p>
        </p:txBody>
      </p:sp>
      <p:sp>
        <p:nvSpPr>
          <p:cNvPr id="159" name="shape 159"/>
          <p:cNvSpPr/>
          <p:nvPr/>
        </p:nvSpPr>
        <p:spPr>
          <a:xfrm>
            <a:off x="6692899" y="4394200"/>
            <a:ext cx="203199" cy="203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60" name="shape 160"/>
          <p:cNvSpPr/>
          <p:nvPr/>
        </p:nvSpPr>
        <p:spPr>
          <a:xfrm>
            <a:off x="6794499" y="44513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2</a:t>
            </a:r>
            <a:endParaRPr lang="en-US" sz="1300"/>
          </a:p>
        </p:txBody>
      </p:sp>
      <p:sp>
        <p:nvSpPr>
          <p:cNvPr id="161" name="shape 161"/>
          <p:cNvSpPr/>
          <p:nvPr/>
        </p:nvSpPr>
        <p:spPr>
          <a:xfrm>
            <a:off x="7016749" y="4425950"/>
            <a:ext cx="89058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20-80cm base shot</a:t>
            </a:r>
            <a:endParaRPr lang="en-US" sz="1500"/>
          </a:p>
        </p:txBody>
      </p:sp>
      <p:sp>
        <p:nvSpPr>
          <p:cNvPr id="162" name="shape 162"/>
          <p:cNvSpPr/>
          <p:nvPr/>
        </p:nvSpPr>
        <p:spPr>
          <a:xfrm>
            <a:off x="5295899" y="4902200"/>
            <a:ext cx="203199" cy="203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63" name="shape 163"/>
          <p:cNvSpPr/>
          <p:nvPr/>
        </p:nvSpPr>
        <p:spPr>
          <a:xfrm>
            <a:off x="5397499" y="49593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3</a:t>
            </a:r>
            <a:endParaRPr lang="en-US" sz="1300"/>
          </a:p>
        </p:txBody>
      </p:sp>
      <p:sp>
        <p:nvSpPr>
          <p:cNvPr id="164" name="shape 164"/>
          <p:cNvSpPr/>
          <p:nvPr/>
        </p:nvSpPr>
        <p:spPr>
          <a:xfrm>
            <a:off x="5619749" y="4933950"/>
            <a:ext cx="838199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box pose changes</a:t>
            </a:r>
            <a:endParaRPr lang="en-US" sz="1500"/>
          </a:p>
        </p:txBody>
      </p:sp>
      <p:sp>
        <p:nvSpPr>
          <p:cNvPr id="165" name="shape 165"/>
          <p:cNvSpPr/>
          <p:nvPr/>
        </p:nvSpPr>
        <p:spPr>
          <a:xfrm>
            <a:off x="6692899" y="4902200"/>
            <a:ext cx="203199" cy="203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66" name="shape 166"/>
          <p:cNvSpPr/>
          <p:nvPr/>
        </p:nvSpPr>
        <p:spPr>
          <a:xfrm>
            <a:off x="6794499" y="49593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4</a:t>
            </a:r>
            <a:endParaRPr lang="en-US" sz="1300"/>
          </a:p>
        </p:txBody>
      </p:sp>
      <p:sp>
        <p:nvSpPr>
          <p:cNvPr id="167" name="shape 167"/>
          <p:cNvSpPr/>
          <p:nvPr/>
        </p:nvSpPr>
        <p:spPr>
          <a:xfrm>
            <a:off x="7016749" y="4933950"/>
            <a:ext cx="733424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no penetration</a:t>
            </a:r>
            <a:endParaRPr lang="en-US" sz="1500"/>
          </a:p>
        </p:txBody>
      </p:sp>
      <p:sp>
        <p:nvSpPr>
          <p:cNvPr id="168" name="shape 168"/>
          <p:cNvSpPr/>
          <p:nvPr/>
        </p:nvSpPr>
        <p:spPr>
          <a:xfrm>
            <a:off x="5778499" y="5334000"/>
            <a:ext cx="1904999" cy="241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69" name="shape 169"/>
          <p:cNvSpPr/>
          <p:nvPr/>
        </p:nvSpPr>
        <p:spPr>
          <a:xfrm>
            <a:off x="5854699" y="5410199"/>
            <a:ext cx="1752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0 hard violations, 0 warnings</a:t>
            </a:r>
            <a:endParaRPr lang="en-US" sz="1500"/>
          </a:p>
        </p:txBody>
      </p:sp>
      <p:sp>
        <p:nvSpPr>
          <p:cNvPr id="170" name="shape 170"/>
          <p:cNvSpPr/>
          <p:nvPr/>
        </p:nvSpPr>
        <p:spPr>
          <a:xfrm>
            <a:off x="8635999" y="3873499"/>
            <a:ext cx="33654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71" name="shape 171"/>
          <p:cNvSpPr/>
          <p:nvPr/>
        </p:nvSpPr>
        <p:spPr>
          <a:xfrm>
            <a:off x="8750299" y="3949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(f)</a:t>
            </a:r>
            <a:endParaRPr lang="en-US" sz="1800"/>
          </a:p>
        </p:txBody>
      </p:sp>
      <p:sp>
        <p:nvSpPr>
          <p:cNvPr id="172" name="shape 172"/>
          <p:cNvSpPr/>
          <p:nvPr/>
        </p:nvSpPr>
        <p:spPr>
          <a:xfrm>
            <a:off x="9004299" y="3956049"/>
            <a:ext cx="289178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Three-view replay is the first README evidence</a:t>
            </a:r>
            <a:endParaRPr lang="en-US" sz="1800"/>
          </a:p>
        </p:txBody>
      </p:sp>
      <p:sp>
        <p:nvSpPr>
          <p:cNvPr id="173" name="shape 173"/>
          <p:cNvSpPr/>
          <p:nvPr/>
        </p:nvSpPr>
        <p:spPr>
          <a:xfrm>
            <a:off x="8889999" y="4318000"/>
            <a:ext cx="857249" cy="482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top</a:t>
            </a:r>
            <a:endParaRPr lang="en-US" sz="1200"/>
          </a:p>
        </p:txBody>
      </p:sp>
      <p:sp>
        <p:nvSpPr>
          <p:cNvPr id="174" name="shape 174"/>
          <p:cNvSpPr/>
          <p:nvPr/>
        </p:nvSpPr>
        <p:spPr>
          <a:xfrm>
            <a:off x="9829799" y="4318000"/>
            <a:ext cx="857249" cy="482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B82E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yellow</a:t>
            </a:r>
            <a:endParaRPr lang="en-US" sz="1200"/>
          </a:p>
        </p:txBody>
      </p:sp>
      <p:sp>
        <p:nvSpPr>
          <p:cNvPr id="175" name="shape 175"/>
          <p:cNvSpPr/>
          <p:nvPr/>
        </p:nvSpPr>
        <p:spPr>
          <a:xfrm>
            <a:off x="10769599" y="4318000"/>
            <a:ext cx="857249" cy="482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blue</a:t>
            </a:r>
            <a:endParaRPr lang="en-US" sz="1200"/>
          </a:p>
        </p:txBody>
      </p:sp>
      <p:sp>
        <p:nvSpPr>
          <p:cNvPr id="176" name="shape 176"/>
          <p:cNvSpPr/>
          <p:nvPr/>
        </p:nvSpPr>
        <p:spPr>
          <a:xfrm>
            <a:off x="9048749" y="5130800"/>
            <a:ext cx="2285999" cy="355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77" name="shape 177"/>
          <p:cNvSpPr/>
          <p:nvPr/>
        </p:nvSpPr>
        <p:spPr>
          <a:xfrm>
            <a:off x="9124949" y="5207000"/>
            <a:ext cx="213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README first visual: top-view replay GIF
then method figures and metrics</a:t>
            </a:r>
            <a:endParaRPr lang="en-US" sz="1400"/>
          </a:p>
        </p:txBody>
      </p:sp>
      <p:sp>
        <p:nvSpPr>
          <p:cNvPr id="178" name="shape 178"/>
          <p:cNvSpPr/>
          <p:nvPr/>
        </p:nvSpPr>
        <p:spPr>
          <a:xfrm>
            <a:off x="317499" y="6095999"/>
            <a:ext cx="115569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79" name="shape 179"/>
          <p:cNvSpPr/>
          <p:nvPr/>
        </p:nvSpPr>
        <p:spPr>
          <a:xfrm>
            <a:off x="393699" y="6172200"/>
            <a:ext cx="11404599" cy="5867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200" b="1">
                <a:solidFill>
                  <a:srgbClr val="111827"/>
                </a:solidFill>
              </a:rPr>
              <a:t>Core claim: object tokens + learned flow policy + explicit rule audit produce interpretable robotic self-play results.</a:t>
            </a:r>
            <a:endParaRPr lang="en-US"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Figure 2. Detailed Architecture: Object Tokens, Imagination Rollout and Flow Actor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 publishable method diagram: each arrow corresponds to a logged tensor, loss term, safety gate or deployment artifact.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28599" y="749300"/>
            <a:ext cx="3206749" cy="52387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4289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596899" y="831850"/>
            <a:ext cx="20116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Object-centric observation model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495299" y="1206500"/>
            <a:ext cx="1746249" cy="15875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cxnSp>
        <p:nvCxnSpPr>
          <p:cNvPr id="8" name="line 8"/>
          <p:cNvCxnSpPr/>
          <p:nvPr/>
        </p:nvCxnSpPr>
        <p:spPr>
          <a:xfrm>
            <a:off x="844549" y="1206500"/>
            <a:ext cx="1" cy="15875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9" name="line 9"/>
          <p:cNvCxnSpPr/>
          <p:nvPr/>
        </p:nvCxnSpPr>
        <p:spPr>
          <a:xfrm>
            <a:off x="495299" y="1523999"/>
            <a:ext cx="17462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0" name="line 10"/>
          <p:cNvCxnSpPr/>
          <p:nvPr/>
        </p:nvCxnSpPr>
        <p:spPr>
          <a:xfrm>
            <a:off x="1193799" y="1206500"/>
            <a:ext cx="1" cy="15875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1" name="line 11"/>
          <p:cNvCxnSpPr/>
          <p:nvPr/>
        </p:nvCxnSpPr>
        <p:spPr>
          <a:xfrm>
            <a:off x="495299" y="1841500"/>
            <a:ext cx="17462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2" name="line 12"/>
          <p:cNvCxnSpPr/>
          <p:nvPr/>
        </p:nvCxnSpPr>
        <p:spPr>
          <a:xfrm>
            <a:off x="1543049" y="1206500"/>
            <a:ext cx="1" cy="15875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3" name="line 13"/>
          <p:cNvCxnSpPr/>
          <p:nvPr/>
        </p:nvCxnSpPr>
        <p:spPr>
          <a:xfrm>
            <a:off x="495299" y="2159000"/>
            <a:ext cx="17462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4" name="line 14"/>
          <p:cNvCxnSpPr/>
          <p:nvPr/>
        </p:nvCxnSpPr>
        <p:spPr>
          <a:xfrm>
            <a:off x="1892299" y="1206500"/>
            <a:ext cx="1" cy="1587500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cxnSp>
        <p:nvCxnSpPr>
          <p:cNvPr id="15" name="line 15"/>
          <p:cNvCxnSpPr/>
          <p:nvPr/>
        </p:nvCxnSpPr>
        <p:spPr>
          <a:xfrm>
            <a:off x="495299" y="2476500"/>
            <a:ext cx="1746249" cy="1"/>
          </a:xfrm>
          <a:prstGeom prst="line">
            <a:avLst/>
          </a:prstGeom>
          <a:ln w="19050">
            <a:solidFill>
              <a:srgbClr val="D7DEE8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609599" y="1320800"/>
            <a:ext cx="520699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1606549" y="2222500"/>
            <a:ext cx="520699" cy="457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1577974" y="1555750"/>
            <a:ext cx="304799" cy="3048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879474" y="2254250"/>
            <a:ext cx="304799" cy="304800"/>
          </a:xfrm>
          <a:prstGeom prst="roundRect">
            <a:avLst/>
          </a:prstGeom>
          <a:solidFill>
            <a:srgbClr val="FB923C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869949" y="2362200"/>
            <a:ext cx="228599" cy="2286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984249" y="243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Y</a:t>
            </a:r>
            <a:endParaRPr lang="en-US" sz="1300"/>
          </a:p>
        </p:txBody>
      </p:sp>
      <p:sp>
        <p:nvSpPr>
          <p:cNvPr id="22" name="shape 22"/>
          <p:cNvSpPr/>
          <p:nvPr/>
        </p:nvSpPr>
        <p:spPr>
          <a:xfrm>
            <a:off x="1690687" y="1663700"/>
            <a:ext cx="228599" cy="2286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804987" y="17335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</a:t>
            </a:r>
            <a:endParaRPr lang="en-US" sz="1300"/>
          </a:p>
        </p:txBody>
      </p:sp>
      <p:sp>
        <p:nvSpPr>
          <p:cNvPr id="24" name="shape 24"/>
          <p:cNvSpPr/>
          <p:nvPr/>
        </p:nvSpPr>
        <p:spPr>
          <a:xfrm>
            <a:off x="641349" y="186689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73099" y="1936749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746124" y="224790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777874" y="23177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1095374" y="129539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1127124" y="13652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304924" y="148590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1336674" y="15557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1863724" y="154940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895474" y="16192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1898649" y="1993899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5" name="shape 35"/>
          <p:cNvSpPr/>
          <p:nvPr/>
        </p:nvSpPr>
        <p:spPr>
          <a:xfrm>
            <a:off x="1930399" y="20637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1619249" y="240665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1650999" y="247650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1025524" y="2501900"/>
            <a:ext cx="126999" cy="20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1057274" y="2571750"/>
            <a:ext cx="63499" cy="635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cxnSp>
        <p:nvCxnSpPr>
          <p:cNvPr id="40" name="line 40"/>
          <p:cNvCxnSpPr/>
          <p:nvPr/>
        </p:nvCxnSpPr>
        <p:spPr>
          <a:xfrm>
            <a:off x="984249" y="2476500"/>
            <a:ext cx="104774" cy="127000"/>
          </a:xfrm>
          <a:prstGeom prst="line">
            <a:avLst/>
          </a:prstGeom>
          <a:ln w="19050">
            <a:solidFill>
              <a:srgbClr val="E5B82E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1804987" y="1778000"/>
            <a:ext cx="157162" cy="3175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879474" y="2254250"/>
            <a:ext cx="104774" cy="222250"/>
          </a:xfrm>
          <a:prstGeom prst="line">
            <a:avLst/>
          </a:prstGeom>
          <a:ln w="19050">
            <a:solidFill>
              <a:srgbClr val="F97316"/>
            </a:solidFill>
            <a:tailEnd type="triangle"/>
          </a:ln>
        </p:spPr>
      </p:cxnSp>
      <p:sp>
        <p:nvSpPr>
          <p:cNvPr id="43" name="shape 43"/>
          <p:cNvSpPr/>
          <p:nvPr/>
        </p:nvSpPr>
        <p:spPr>
          <a:xfrm>
            <a:off x="596899" y="2679700"/>
            <a:ext cx="2727642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3m x 3m arena: robots, targets, armor and pushable boxes become objects</a:t>
            </a:r>
            <a:endParaRPr lang="en-US" sz="1100"/>
          </a:p>
        </p:txBody>
      </p:sp>
      <p:sp>
        <p:nvSpPr>
          <p:cNvPr id="44" name="shape 44"/>
          <p:cNvSpPr/>
          <p:nvPr/>
        </p:nvSpPr>
        <p:spPr>
          <a:xfrm>
            <a:off x="495299" y="3079750"/>
            <a:ext cx="2666999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609599" y="3206750"/>
            <a:ext cx="122935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Object-token table z_t</a:t>
            </a:r>
            <a:endParaRPr lang="en-US" sz="1600"/>
          </a:p>
        </p:txBody>
      </p:sp>
      <p:sp>
        <p:nvSpPr>
          <p:cNvPr id="46" name="shape 46"/>
          <p:cNvSpPr/>
          <p:nvPr/>
        </p:nvSpPr>
        <p:spPr>
          <a:xfrm>
            <a:off x="6603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type</a:t>
            </a:r>
            <a:endParaRPr lang="en-US" sz="1000"/>
          </a:p>
        </p:txBody>
      </p:sp>
      <p:sp>
        <p:nvSpPr>
          <p:cNvPr id="47" name="shape 47"/>
          <p:cNvSpPr/>
          <p:nvPr/>
        </p:nvSpPr>
        <p:spPr>
          <a:xfrm>
            <a:off x="10540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x/y</a:t>
            </a:r>
            <a:endParaRPr lang="en-US" sz="1000"/>
          </a:p>
        </p:txBody>
      </p:sp>
      <p:sp>
        <p:nvSpPr>
          <p:cNvPr id="48" name="shape 48"/>
          <p:cNvSpPr/>
          <p:nvPr/>
        </p:nvSpPr>
        <p:spPr>
          <a:xfrm>
            <a:off x="14477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yaw</a:t>
            </a:r>
            <a:endParaRPr lang="en-US" sz="1000"/>
          </a:p>
        </p:txBody>
      </p:sp>
      <p:sp>
        <p:nvSpPr>
          <p:cNvPr id="49" name="shape 49"/>
          <p:cNvSpPr/>
          <p:nvPr/>
        </p:nvSpPr>
        <p:spPr>
          <a:xfrm>
            <a:off x="18414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owner</a:t>
            </a:r>
            <a:endParaRPr lang="en-US" sz="1000"/>
          </a:p>
        </p:txBody>
      </p:sp>
      <p:sp>
        <p:nvSpPr>
          <p:cNvPr id="50" name="shape 50"/>
          <p:cNvSpPr/>
          <p:nvPr/>
        </p:nvSpPr>
        <p:spPr>
          <a:xfrm>
            <a:off x="22351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state</a:t>
            </a:r>
            <a:endParaRPr lang="en-US" sz="1000"/>
          </a:p>
        </p:txBody>
      </p:sp>
      <p:sp>
        <p:nvSpPr>
          <p:cNvPr id="51" name="shape 51"/>
          <p:cNvSpPr/>
          <p:nvPr/>
        </p:nvSpPr>
        <p:spPr>
          <a:xfrm>
            <a:off x="2628899" y="3448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visible</a:t>
            </a:r>
            <a:endParaRPr lang="en-US" sz="1000"/>
          </a:p>
        </p:txBody>
      </p:sp>
      <p:sp>
        <p:nvSpPr>
          <p:cNvPr id="52" name="shape 52"/>
          <p:cNvSpPr/>
          <p:nvPr/>
        </p:nvSpPr>
        <p:spPr>
          <a:xfrm>
            <a:off x="647699" y="36131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robot_Y</a:t>
            </a:r>
            <a:endParaRPr lang="en-US" sz="1000"/>
          </a:p>
        </p:txBody>
      </p:sp>
      <p:sp>
        <p:nvSpPr>
          <p:cNvPr id="53" name="shape 53"/>
          <p:cNvSpPr/>
          <p:nvPr/>
        </p:nvSpPr>
        <p:spPr>
          <a:xfrm>
            <a:off x="1054099" y="3568700"/>
            <a:ext cx="26542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1447799" y="3568700"/>
            <a:ext cx="172084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5" name="shape 55"/>
          <p:cNvSpPr/>
          <p:nvPr/>
        </p:nvSpPr>
        <p:spPr>
          <a:xfrm>
            <a:off x="1841499" y="3568700"/>
            <a:ext cx="7873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6" name="shape 56"/>
          <p:cNvSpPr/>
          <p:nvPr/>
        </p:nvSpPr>
        <p:spPr>
          <a:xfrm>
            <a:off x="2235199" y="3568700"/>
            <a:ext cx="292099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7" name="shape 57"/>
          <p:cNvSpPr/>
          <p:nvPr/>
        </p:nvSpPr>
        <p:spPr>
          <a:xfrm>
            <a:off x="2628899" y="3568700"/>
            <a:ext cx="252094" cy="762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647699" y="378459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robot_B</a:t>
            </a:r>
            <a:endParaRPr lang="en-US" sz="1000"/>
          </a:p>
        </p:txBody>
      </p:sp>
      <p:sp>
        <p:nvSpPr>
          <p:cNvPr id="59" name="shape 59"/>
          <p:cNvSpPr/>
          <p:nvPr/>
        </p:nvSpPr>
        <p:spPr>
          <a:xfrm>
            <a:off x="1054099" y="3740150"/>
            <a:ext cx="7873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1447799" y="3740150"/>
            <a:ext cx="190753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61" name="shape 61"/>
          <p:cNvSpPr/>
          <p:nvPr/>
        </p:nvSpPr>
        <p:spPr>
          <a:xfrm>
            <a:off x="1841499" y="3740150"/>
            <a:ext cx="225424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2235199" y="3740150"/>
            <a:ext cx="29209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63" name="shape 63"/>
          <p:cNvSpPr/>
          <p:nvPr/>
        </p:nvSpPr>
        <p:spPr>
          <a:xfrm>
            <a:off x="2628899" y="3740150"/>
            <a:ext cx="238759" cy="762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64" name="shape 64"/>
          <p:cNvSpPr/>
          <p:nvPr/>
        </p:nvSpPr>
        <p:spPr>
          <a:xfrm>
            <a:off x="647699" y="39560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target</a:t>
            </a:r>
            <a:endParaRPr lang="en-US" sz="1000"/>
          </a:p>
        </p:txBody>
      </p:sp>
      <p:sp>
        <p:nvSpPr>
          <p:cNvPr id="65" name="shape 65"/>
          <p:cNvSpPr/>
          <p:nvPr/>
        </p:nvSpPr>
        <p:spPr>
          <a:xfrm>
            <a:off x="1054099" y="3911600"/>
            <a:ext cx="21208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6" name="shape 66"/>
          <p:cNvSpPr/>
          <p:nvPr/>
        </p:nvSpPr>
        <p:spPr>
          <a:xfrm>
            <a:off x="1447799" y="3911600"/>
            <a:ext cx="73405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7" name="shape 67"/>
          <p:cNvSpPr/>
          <p:nvPr/>
        </p:nvSpPr>
        <p:spPr>
          <a:xfrm>
            <a:off x="1841499" y="3911600"/>
            <a:ext cx="15874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8" name="shape 68"/>
          <p:cNvSpPr/>
          <p:nvPr/>
        </p:nvSpPr>
        <p:spPr>
          <a:xfrm>
            <a:off x="2235199" y="3911600"/>
            <a:ext cx="105409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9" name="shape 69"/>
          <p:cNvSpPr/>
          <p:nvPr/>
        </p:nvSpPr>
        <p:spPr>
          <a:xfrm>
            <a:off x="2628899" y="3911600"/>
            <a:ext cx="278764" cy="762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0" name="shape 70"/>
          <p:cNvSpPr/>
          <p:nvPr/>
        </p:nvSpPr>
        <p:spPr>
          <a:xfrm>
            <a:off x="647699" y="41275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armor</a:t>
            </a:r>
            <a:endParaRPr lang="en-US" sz="1000"/>
          </a:p>
        </p:txBody>
      </p:sp>
      <p:sp>
        <p:nvSpPr>
          <p:cNvPr id="71" name="shape 71"/>
          <p:cNvSpPr/>
          <p:nvPr/>
        </p:nvSpPr>
        <p:spPr>
          <a:xfrm>
            <a:off x="1054099" y="4083050"/>
            <a:ext cx="132079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72" name="shape 72"/>
          <p:cNvSpPr/>
          <p:nvPr/>
        </p:nvSpPr>
        <p:spPr>
          <a:xfrm>
            <a:off x="1447799" y="4083050"/>
            <a:ext cx="260095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1841499" y="4083050"/>
            <a:ext cx="145414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74" name="shape 74"/>
          <p:cNvSpPr/>
          <p:nvPr/>
        </p:nvSpPr>
        <p:spPr>
          <a:xfrm>
            <a:off x="2235199" y="4083050"/>
            <a:ext cx="185419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75" name="shape 75"/>
          <p:cNvSpPr/>
          <p:nvPr/>
        </p:nvSpPr>
        <p:spPr>
          <a:xfrm>
            <a:off x="2628899" y="4083050"/>
            <a:ext cx="118744" cy="76200"/>
          </a:xfrm>
          <a:prstGeom prst="roundRect">
            <a:avLst/>
          </a:prstGeom>
          <a:solidFill>
            <a:srgbClr val="0891B2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76" name="shape 76"/>
          <p:cNvSpPr/>
          <p:nvPr/>
        </p:nvSpPr>
        <p:spPr>
          <a:xfrm>
            <a:off x="647699" y="429895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 b="1">
                <a:solidFill>
                  <a:srgbClr val="111827"/>
                </a:solidFill>
              </a:rPr>
              <a:t>box</a:t>
            </a:r>
            <a:endParaRPr lang="en-US" sz="1000"/>
          </a:p>
        </p:txBody>
      </p:sp>
      <p:sp>
        <p:nvSpPr>
          <p:cNvPr id="77" name="shape 77"/>
          <p:cNvSpPr/>
          <p:nvPr/>
        </p:nvSpPr>
        <p:spPr>
          <a:xfrm>
            <a:off x="1054099" y="4254500"/>
            <a:ext cx="180085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78" name="shape 78"/>
          <p:cNvSpPr/>
          <p:nvPr/>
        </p:nvSpPr>
        <p:spPr>
          <a:xfrm>
            <a:off x="1447799" y="4254500"/>
            <a:ext cx="137413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79" name="shape 79"/>
          <p:cNvSpPr/>
          <p:nvPr/>
        </p:nvSpPr>
        <p:spPr>
          <a:xfrm>
            <a:off x="1841499" y="4254500"/>
            <a:ext cx="25399" cy="76200"/>
          </a:xfrm>
          <a:prstGeom prst="round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/>
          <a:lstStyle/>
          <a:p/>
        </p:txBody>
      </p:sp>
      <p:sp>
        <p:nvSpPr>
          <p:cNvPr id="80" name="shape 80"/>
          <p:cNvSpPr/>
          <p:nvPr/>
        </p:nvSpPr>
        <p:spPr>
          <a:xfrm>
            <a:off x="2235199" y="4254500"/>
            <a:ext cx="225424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2628899" y="4254500"/>
            <a:ext cx="212089" cy="762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2" name="shape 82"/>
          <p:cNvSpPr/>
          <p:nvPr/>
        </p:nvSpPr>
        <p:spPr>
          <a:xfrm>
            <a:off x="647699" y="4425950"/>
            <a:ext cx="2228214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typed rows keep ownership, armor and box dynamics explicit</a:t>
            </a:r>
            <a:endParaRPr lang="en-US" sz="1100"/>
          </a:p>
        </p:txBody>
      </p:sp>
      <p:sp>
        <p:nvSpPr>
          <p:cNvPr id="83" name="shape 83"/>
          <p:cNvSpPr/>
          <p:nvPr/>
        </p:nvSpPr>
        <p:spPr>
          <a:xfrm>
            <a:off x="2412999" y="1365250"/>
            <a:ext cx="749299" cy="34925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4" name="shape 84"/>
          <p:cNvSpPr/>
          <p:nvPr/>
        </p:nvSpPr>
        <p:spPr>
          <a:xfrm>
            <a:off x="2489199" y="1441450"/>
            <a:ext cx="5968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local obs
46-D</a:t>
            </a:r>
            <a:endParaRPr lang="en-US" sz="1300"/>
          </a:p>
        </p:txBody>
      </p:sp>
      <p:sp>
        <p:nvSpPr>
          <p:cNvPr id="85" name="shape 85"/>
          <p:cNvSpPr/>
          <p:nvPr/>
        </p:nvSpPr>
        <p:spPr>
          <a:xfrm>
            <a:off x="2412999" y="1905000"/>
            <a:ext cx="749299" cy="34925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86" name="shape 86"/>
          <p:cNvSpPr/>
          <p:nvPr/>
        </p:nvSpPr>
        <p:spPr>
          <a:xfrm>
            <a:off x="2489199" y="1981199"/>
            <a:ext cx="5968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object state
165-D</a:t>
            </a:r>
            <a:endParaRPr lang="en-US" sz="1300"/>
          </a:p>
        </p:txBody>
      </p:sp>
      <p:sp>
        <p:nvSpPr>
          <p:cNvPr id="87" name="shape 87"/>
          <p:cNvSpPr/>
          <p:nvPr/>
        </p:nvSpPr>
        <p:spPr>
          <a:xfrm>
            <a:off x="2412999" y="2444749"/>
            <a:ext cx="749299" cy="34925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88" name="shape 88"/>
          <p:cNvSpPr/>
          <p:nvPr/>
        </p:nvSpPr>
        <p:spPr>
          <a:xfrm>
            <a:off x="2489199" y="2520950"/>
            <a:ext cx="5968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action
6-D</a:t>
            </a:r>
            <a:endParaRPr lang="en-US" sz="1300"/>
          </a:p>
        </p:txBody>
      </p:sp>
      <p:sp>
        <p:nvSpPr>
          <p:cNvPr id="89" name="shape 89"/>
          <p:cNvSpPr/>
          <p:nvPr/>
        </p:nvSpPr>
        <p:spPr>
          <a:xfrm>
            <a:off x="520699" y="4711700"/>
            <a:ext cx="24764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>
                <a:solidFill>
                  <a:srgbClr val="111827"/>
                </a:solidFill>
              </a:rPr>
              <a:t>Objects retain identity over time: a pushed box is the same box after contact, and a base armor plate is removed only by legal target events.</a:t>
            </a:r>
            <a:endParaRPr lang="en-US" sz="1400"/>
          </a:p>
        </p:txBody>
      </p:sp>
      <p:sp>
        <p:nvSpPr>
          <p:cNvPr id="90" name="shape 90"/>
          <p:cNvSpPr/>
          <p:nvPr/>
        </p:nvSpPr>
        <p:spPr>
          <a:xfrm>
            <a:off x="3682999" y="749300"/>
            <a:ext cx="4825999" cy="52387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1" name="shape 91"/>
          <p:cNvSpPr/>
          <p:nvPr/>
        </p:nvSpPr>
        <p:spPr>
          <a:xfrm>
            <a:off x="379729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92" name="shape 92"/>
          <p:cNvSpPr/>
          <p:nvPr/>
        </p:nvSpPr>
        <p:spPr>
          <a:xfrm>
            <a:off x="4051299" y="831850"/>
            <a:ext cx="150875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Self-play learning graph</a:t>
            </a:r>
            <a:endParaRPr lang="en-US" sz="1800"/>
          </a:p>
        </p:txBody>
      </p:sp>
      <p:sp>
        <p:nvSpPr>
          <p:cNvPr id="93" name="shape 93"/>
          <p:cNvSpPr/>
          <p:nvPr/>
        </p:nvSpPr>
        <p:spPr>
          <a:xfrm>
            <a:off x="4063999" y="1206500"/>
            <a:ext cx="1206499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4" name="shape 94"/>
          <p:cNvSpPr/>
          <p:nvPr/>
        </p:nvSpPr>
        <p:spPr>
          <a:xfrm>
            <a:off x="4140199" y="1282700"/>
            <a:ext cx="1054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Encoder
E(z_t, o_t)</a:t>
            </a:r>
            <a:endParaRPr lang="en-US" sz="1500"/>
          </a:p>
        </p:txBody>
      </p:sp>
      <p:sp>
        <p:nvSpPr>
          <p:cNvPr id="95" name="shape 95"/>
          <p:cNvSpPr/>
          <p:nvPr/>
        </p:nvSpPr>
        <p:spPr>
          <a:xfrm>
            <a:off x="5778499" y="1206500"/>
            <a:ext cx="1206499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96" name="shape 96"/>
          <p:cNvSpPr/>
          <p:nvPr/>
        </p:nvSpPr>
        <p:spPr>
          <a:xfrm>
            <a:off x="5854699" y="1282700"/>
            <a:ext cx="1054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 model
p(z_{t+1}, r, d)</a:t>
            </a:r>
            <a:endParaRPr lang="en-US" sz="1500"/>
          </a:p>
        </p:txBody>
      </p:sp>
      <p:sp>
        <p:nvSpPr>
          <p:cNvPr id="97" name="shape 97"/>
          <p:cNvSpPr/>
          <p:nvPr/>
        </p:nvSpPr>
        <p:spPr>
          <a:xfrm>
            <a:off x="7365999" y="1206500"/>
            <a:ext cx="825499" cy="457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98" name="shape 98"/>
          <p:cNvSpPr/>
          <p:nvPr/>
        </p:nvSpPr>
        <p:spPr>
          <a:xfrm>
            <a:off x="7442199" y="1282700"/>
            <a:ext cx="673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k-step
rollout</a:t>
            </a:r>
            <a:endParaRPr lang="en-US" sz="1500"/>
          </a:p>
        </p:txBody>
      </p:sp>
      <p:sp>
        <p:nvSpPr>
          <p:cNvPr id="99" name="shape 99"/>
          <p:cNvSpPr/>
          <p:nvPr/>
        </p:nvSpPr>
        <p:spPr>
          <a:xfrm>
            <a:off x="4063999" y="2463800"/>
            <a:ext cx="1206499" cy="457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off x="4140199" y="2540000"/>
            <a:ext cx="1054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Flow actor
v_theta(a,t|z)</a:t>
            </a:r>
            <a:endParaRPr lang="en-US" sz="1500"/>
          </a:p>
        </p:txBody>
      </p:sp>
      <p:sp>
        <p:nvSpPr>
          <p:cNvPr id="101" name="shape 101"/>
          <p:cNvSpPr/>
          <p:nvPr/>
        </p:nvSpPr>
        <p:spPr>
          <a:xfrm>
            <a:off x="5778499" y="2463800"/>
            <a:ext cx="12064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2" name="shape 102"/>
          <p:cNvSpPr/>
          <p:nvPr/>
        </p:nvSpPr>
        <p:spPr>
          <a:xfrm>
            <a:off x="5854699" y="2540000"/>
            <a:ext cx="1054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Twin-Q critic
min(Q1,Q2)</a:t>
            </a:r>
            <a:endParaRPr lang="en-US" sz="1500"/>
          </a:p>
        </p:txBody>
      </p:sp>
      <p:sp>
        <p:nvSpPr>
          <p:cNvPr id="103" name="shape 103"/>
          <p:cNvSpPr/>
          <p:nvPr/>
        </p:nvSpPr>
        <p:spPr>
          <a:xfrm>
            <a:off x="7365999" y="2463800"/>
            <a:ext cx="825499" cy="457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7442199" y="2540000"/>
            <a:ext cx="673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target
networks</a:t>
            </a:r>
            <a:endParaRPr lang="en-US" sz="1400"/>
          </a:p>
        </p:txBody>
      </p:sp>
      <p:sp>
        <p:nvSpPr>
          <p:cNvPr id="105" name="shape 105"/>
          <p:cNvSpPr/>
          <p:nvPr/>
        </p:nvSpPr>
        <p:spPr>
          <a:xfrm>
            <a:off x="4730749" y="3746500"/>
            <a:ext cx="2476499" cy="44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4806949" y="3822700"/>
            <a:ext cx="2324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Replay buffer with yellow/blue transitions
z_t, o_t, a_t, r_t, done, z_{t+1}</a:t>
            </a:r>
            <a:endParaRPr lang="en-US" sz="1500"/>
          </a:p>
        </p:txBody>
      </p:sp>
      <p:cxnSp>
        <p:nvCxnSpPr>
          <p:cNvPr id="107" name="line 107"/>
          <p:cNvCxnSpPr/>
          <p:nvPr/>
        </p:nvCxnSpPr>
        <p:spPr>
          <a:xfrm>
            <a:off x="5270499" y="1435100"/>
            <a:ext cx="507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08" name="line 108"/>
          <p:cNvCxnSpPr/>
          <p:nvPr/>
        </p:nvCxnSpPr>
        <p:spPr>
          <a:xfrm>
            <a:off x="6984999" y="14351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09" name="line 109"/>
          <p:cNvCxnSpPr/>
          <p:nvPr/>
        </p:nvCxnSpPr>
        <p:spPr>
          <a:xfrm>
            <a:off x="4667249" y="1663700"/>
            <a:ext cx="1" cy="8001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0" name="line 110"/>
          <p:cNvCxnSpPr/>
          <p:nvPr/>
        </p:nvCxnSpPr>
        <p:spPr>
          <a:xfrm>
            <a:off x="6381749" y="1663700"/>
            <a:ext cx="1" cy="8001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1" name="line 111"/>
          <p:cNvCxnSpPr/>
          <p:nvPr/>
        </p:nvCxnSpPr>
        <p:spPr>
          <a:xfrm>
            <a:off x="5270499" y="2692400"/>
            <a:ext cx="507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2" name="line 112"/>
          <p:cNvCxnSpPr/>
          <p:nvPr/>
        </p:nvCxnSpPr>
        <p:spPr>
          <a:xfrm>
            <a:off x="6984999" y="26924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3" name="line 113"/>
          <p:cNvCxnSpPr/>
          <p:nvPr/>
        </p:nvCxnSpPr>
        <p:spPr>
          <a:xfrm>
            <a:off x="4571999" y="2921000"/>
            <a:ext cx="730249" cy="825499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14" name="line 114"/>
          <p:cNvCxnSpPr/>
          <p:nvPr/>
        </p:nvCxnSpPr>
        <p:spPr>
          <a:xfrm>
            <a:off x="6381749" y="2921000"/>
            <a:ext cx="190499" cy="825499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15" name="shape 115"/>
          <p:cNvSpPr/>
          <p:nvPr/>
        </p:nvSpPr>
        <p:spPr>
          <a:xfrm>
            <a:off x="4190999" y="4667250"/>
            <a:ext cx="1174749" cy="368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16" name="shape 116"/>
          <p:cNvSpPr/>
          <p:nvPr/>
        </p:nvSpPr>
        <p:spPr>
          <a:xfrm>
            <a:off x="4267199" y="4743450"/>
            <a:ext cx="102234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L_Q
Bellman residual</a:t>
            </a:r>
            <a:endParaRPr lang="en-US" sz="1200"/>
          </a:p>
        </p:txBody>
      </p:sp>
      <p:sp>
        <p:nvSpPr>
          <p:cNvPr id="117" name="shape 117"/>
          <p:cNvSpPr/>
          <p:nvPr/>
        </p:nvSpPr>
        <p:spPr>
          <a:xfrm>
            <a:off x="5524499" y="4667250"/>
            <a:ext cx="1174749" cy="368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18" name="shape 118"/>
          <p:cNvSpPr/>
          <p:nvPr/>
        </p:nvSpPr>
        <p:spPr>
          <a:xfrm>
            <a:off x="5600699" y="4743450"/>
            <a:ext cx="102234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L_actor
entropy-regularized flow objective</a:t>
            </a:r>
            <a:endParaRPr lang="en-US" sz="1200"/>
          </a:p>
        </p:txBody>
      </p:sp>
      <p:sp>
        <p:nvSpPr>
          <p:cNvPr id="119" name="shape 119"/>
          <p:cNvSpPr/>
          <p:nvPr/>
        </p:nvSpPr>
        <p:spPr>
          <a:xfrm>
            <a:off x="6857999" y="4667250"/>
            <a:ext cx="1174749" cy="368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20" name="shape 120"/>
          <p:cNvSpPr/>
          <p:nvPr/>
        </p:nvSpPr>
        <p:spPr>
          <a:xfrm>
            <a:off x="6934199" y="4743450"/>
            <a:ext cx="102234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L_model
object transition prediction</a:t>
            </a:r>
            <a:endParaRPr lang="en-US" sz="1200"/>
          </a:p>
        </p:txBody>
      </p:sp>
      <p:sp>
        <p:nvSpPr>
          <p:cNvPr id="121" name="shape 121"/>
          <p:cNvSpPr/>
          <p:nvPr/>
        </p:nvSpPr>
        <p:spPr>
          <a:xfrm>
            <a:off x="8731249" y="749300"/>
            <a:ext cx="3206749" cy="523874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22" name="shape 122"/>
          <p:cNvSpPr/>
          <p:nvPr/>
        </p:nvSpPr>
        <p:spPr>
          <a:xfrm>
            <a:off x="8845549" y="82549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123" name="shape 123"/>
          <p:cNvSpPr/>
          <p:nvPr/>
        </p:nvSpPr>
        <p:spPr>
          <a:xfrm>
            <a:off x="9099549" y="831850"/>
            <a:ext cx="182308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Runtime safety and deployment</a:t>
            </a:r>
            <a:endParaRPr lang="en-US" sz="1800"/>
          </a:p>
        </p:txBody>
      </p:sp>
      <p:sp>
        <p:nvSpPr>
          <p:cNvPr id="124" name="shape 124"/>
          <p:cNvSpPr/>
          <p:nvPr/>
        </p:nvSpPr>
        <p:spPr>
          <a:xfrm>
            <a:off x="9048749" y="1270000"/>
            <a:ext cx="2285999" cy="495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25" name="shape 125"/>
          <p:cNvSpPr/>
          <p:nvPr/>
        </p:nvSpPr>
        <p:spPr>
          <a:xfrm>
            <a:off x="9124949" y="1346200"/>
            <a:ext cx="21335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flow action
target / base / block / recover / fire / risk</a:t>
            </a:r>
            <a:endParaRPr lang="en-US" sz="1300"/>
          </a:p>
        </p:txBody>
      </p:sp>
      <p:cxnSp>
        <p:nvCxnSpPr>
          <p:cNvPr id="126" name="line 126"/>
          <p:cNvCxnSpPr/>
          <p:nvPr/>
        </p:nvCxnSpPr>
        <p:spPr>
          <a:xfrm>
            <a:off x="10191749" y="1765300"/>
            <a:ext cx="1" cy="2984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27" name="shape 127"/>
          <p:cNvSpPr/>
          <p:nvPr/>
        </p:nvSpPr>
        <p:spPr>
          <a:xfrm>
            <a:off x="9048749" y="2063750"/>
            <a:ext cx="2285999" cy="495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28" name="shape 128"/>
          <p:cNvSpPr/>
          <p:nvPr/>
        </p:nvSpPr>
        <p:spPr>
          <a:xfrm>
            <a:off x="9124949" y="2139950"/>
            <a:ext cx="21335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expert residual
route-aware prior and micro-aim corrections</a:t>
            </a:r>
            <a:endParaRPr lang="en-US" sz="1300"/>
          </a:p>
        </p:txBody>
      </p:sp>
      <p:cxnSp>
        <p:nvCxnSpPr>
          <p:cNvPr id="129" name="line 129"/>
          <p:cNvCxnSpPr/>
          <p:nvPr/>
        </p:nvCxnSpPr>
        <p:spPr>
          <a:xfrm>
            <a:off x="10191749" y="2559050"/>
            <a:ext cx="1" cy="2984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0" name="shape 130"/>
          <p:cNvSpPr/>
          <p:nvPr/>
        </p:nvSpPr>
        <p:spPr>
          <a:xfrm>
            <a:off x="9048749" y="2857500"/>
            <a:ext cx="2285999" cy="495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31" name="shape 131"/>
          <p:cNvSpPr/>
          <p:nvPr/>
        </p:nvSpPr>
        <p:spPr>
          <a:xfrm>
            <a:off x="9124949" y="2933699"/>
            <a:ext cx="21335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geometry shield
LOS, dwell, range, armor and collision gates</a:t>
            </a:r>
            <a:endParaRPr lang="en-US" sz="1300"/>
          </a:p>
        </p:txBody>
      </p:sp>
      <p:cxnSp>
        <p:nvCxnSpPr>
          <p:cNvPr id="132" name="line 132"/>
          <p:cNvCxnSpPr/>
          <p:nvPr/>
        </p:nvCxnSpPr>
        <p:spPr>
          <a:xfrm>
            <a:off x="10191749" y="3352800"/>
            <a:ext cx="1" cy="2984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3" name="shape 133"/>
          <p:cNvSpPr/>
          <p:nvPr/>
        </p:nvSpPr>
        <p:spPr>
          <a:xfrm>
            <a:off x="9048749" y="3651250"/>
            <a:ext cx="2285999" cy="495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34" name="shape 134"/>
          <p:cNvSpPr/>
          <p:nvPr/>
        </p:nvSpPr>
        <p:spPr>
          <a:xfrm>
            <a:off x="9124949" y="3727450"/>
            <a:ext cx="21335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ROS2 output
cmd_vel, shooter service and replay trace</a:t>
            </a:r>
            <a:endParaRPr lang="en-US" sz="1300"/>
          </a:p>
        </p:txBody>
      </p:sp>
      <p:sp>
        <p:nvSpPr>
          <p:cNvPr id="135" name="shape 135"/>
          <p:cNvSpPr/>
          <p:nvPr/>
        </p:nvSpPr>
        <p:spPr>
          <a:xfrm>
            <a:off x="9143999" y="4667250"/>
            <a:ext cx="2095499" cy="4952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36" name="shape 136"/>
          <p:cNvSpPr/>
          <p:nvPr/>
        </p:nvSpPr>
        <p:spPr>
          <a:xfrm>
            <a:off x="9220199" y="4743450"/>
            <a:ext cx="1943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Formal output:
audited policy + result tables + three-view replay</a:t>
            </a:r>
            <a:endParaRPr lang="en-US" sz="1500"/>
          </a:p>
        </p:txBody>
      </p:sp>
      <p:sp>
        <p:nvSpPr>
          <p:cNvPr id="137" name="shape 137"/>
          <p:cNvSpPr/>
          <p:nvPr/>
        </p:nvSpPr>
        <p:spPr>
          <a:xfrm>
            <a:off x="469899" y="61468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38" name="shape 138"/>
          <p:cNvSpPr/>
          <p:nvPr/>
        </p:nvSpPr>
        <p:spPr>
          <a:xfrm>
            <a:off x="546099" y="6223000"/>
            <a:ext cx="11099799" cy="5867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200" b="1">
                <a:solidFill>
                  <a:srgbClr val="111827"/>
                </a:solidFill>
              </a:rPr>
              <a:t>Tensor interfaces, loss paths, safety gates and deployment artifacts are shown in one reproducible method graph.</a:t>
            </a:r>
            <a:endParaRPr lang="en-US"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Figure 3. Training Loop, Logged Dynamics and Multi-Seed Evaluation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The figure combines the training objective flow, logged optimization curves and final game-level contract metrics.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3301999" cy="2571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2572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Closed training loop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558799" y="1301750"/>
            <a:ext cx="1015999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34999" y="137795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parallel self-play
32 envs</a:t>
            </a:r>
            <a:endParaRPr lang="en-US" sz="1400"/>
          </a:p>
        </p:txBody>
      </p:sp>
      <p:sp>
        <p:nvSpPr>
          <p:cNvPr id="9" name="shape 9"/>
          <p:cNvSpPr/>
          <p:nvPr/>
        </p:nvSpPr>
        <p:spPr>
          <a:xfrm>
            <a:off x="2019299" y="1301750"/>
            <a:ext cx="1015999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2095499" y="137795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object replay
buffer</a:t>
            </a:r>
            <a:endParaRPr lang="en-US" sz="1400"/>
          </a:p>
        </p:txBody>
      </p:sp>
      <p:sp>
        <p:nvSpPr>
          <p:cNvPr id="11" name="shape 11"/>
          <p:cNvSpPr/>
          <p:nvPr/>
        </p:nvSpPr>
        <p:spPr>
          <a:xfrm>
            <a:off x="2019299" y="2317750"/>
            <a:ext cx="1015999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095499" y="239395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SAC Flow
updates</a:t>
            </a:r>
            <a:endParaRPr lang="en-US" sz="1400"/>
          </a:p>
        </p:txBody>
      </p:sp>
      <p:sp>
        <p:nvSpPr>
          <p:cNvPr id="13" name="shape 13"/>
          <p:cNvSpPr/>
          <p:nvPr/>
        </p:nvSpPr>
        <p:spPr>
          <a:xfrm>
            <a:off x="558799" y="2317750"/>
            <a:ext cx="1015999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34999" y="2393950"/>
            <a:ext cx="863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strict quick
eval</a:t>
            </a:r>
            <a:endParaRPr lang="en-US" sz="1400"/>
          </a:p>
        </p:txBody>
      </p:sp>
      <p:cxnSp>
        <p:nvCxnSpPr>
          <p:cNvPr id="15" name="line 15"/>
          <p:cNvCxnSpPr/>
          <p:nvPr/>
        </p:nvCxnSpPr>
        <p:spPr>
          <a:xfrm>
            <a:off x="1574799" y="1530350"/>
            <a:ext cx="444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6" name="line 16"/>
          <p:cNvCxnSpPr/>
          <p:nvPr/>
        </p:nvCxnSpPr>
        <p:spPr>
          <a:xfrm>
            <a:off x="2527299" y="175895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7" name="line 17"/>
          <p:cNvCxnSpPr/>
          <p:nvPr/>
        </p:nvCxnSpPr>
        <p:spPr>
          <a:xfrm>
            <a:off x="1574799" y="2546350"/>
            <a:ext cx="444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8" name="line 18"/>
          <p:cNvCxnSpPr/>
          <p:nvPr/>
        </p:nvCxnSpPr>
        <p:spPr>
          <a:xfrm>
            <a:off x="1066799" y="175895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9" name="shape 19"/>
          <p:cNvSpPr/>
          <p:nvPr/>
        </p:nvSpPr>
        <p:spPr>
          <a:xfrm>
            <a:off x="558799" y="2952750"/>
            <a:ext cx="24764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634999" y="3028950"/>
            <a:ext cx="2324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promotion requires contract metrics, not reward only</a:t>
            </a:r>
            <a:endParaRPr lang="en-US" sz="1400"/>
          </a:p>
        </p:txBody>
      </p:sp>
      <p:sp>
        <p:nvSpPr>
          <p:cNvPr id="21" name="shape 21"/>
          <p:cNvSpPr/>
          <p:nvPr/>
        </p:nvSpPr>
        <p:spPr>
          <a:xfrm>
            <a:off x="3778249" y="761999"/>
            <a:ext cx="4667249" cy="2571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38925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3" name="shape 23"/>
          <p:cNvSpPr/>
          <p:nvPr/>
        </p:nvSpPr>
        <p:spPr>
          <a:xfrm>
            <a:off x="414654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Optimization dynamics</a:t>
            </a:r>
            <a:endParaRPr lang="en-US" sz="1800"/>
          </a:p>
        </p:txBody>
      </p:sp>
      <p:cxnSp>
        <p:nvCxnSpPr>
          <p:cNvPr id="24" name="line 24"/>
          <p:cNvCxnSpPr/>
          <p:nvPr/>
        </p:nvCxnSpPr>
        <p:spPr>
          <a:xfrm>
            <a:off x="4127499" y="133350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5" name="line 25"/>
          <p:cNvCxnSpPr/>
          <p:nvPr/>
        </p:nvCxnSpPr>
        <p:spPr>
          <a:xfrm>
            <a:off x="4127499" y="1611312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6" name="line 26"/>
          <p:cNvCxnSpPr/>
          <p:nvPr/>
        </p:nvCxnSpPr>
        <p:spPr>
          <a:xfrm>
            <a:off x="4127499" y="188912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7" name="line 27"/>
          <p:cNvCxnSpPr/>
          <p:nvPr/>
        </p:nvCxnSpPr>
        <p:spPr>
          <a:xfrm>
            <a:off x="4127499" y="2166937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8" name="line 28"/>
          <p:cNvCxnSpPr/>
          <p:nvPr/>
        </p:nvCxnSpPr>
        <p:spPr>
          <a:xfrm>
            <a:off x="4127499" y="2444749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9" name="line 29"/>
          <p:cNvCxnSpPr/>
          <p:nvPr/>
        </p:nvCxnSpPr>
        <p:spPr>
          <a:xfrm>
            <a:off x="4127499" y="2444749"/>
            <a:ext cx="18097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0" name="line 30"/>
          <p:cNvCxnSpPr/>
          <p:nvPr/>
        </p:nvCxnSpPr>
        <p:spPr>
          <a:xfrm>
            <a:off x="4127499" y="1333500"/>
            <a:ext cx="1" cy="1111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31" name="shape 31"/>
          <p:cNvSpPr/>
          <p:nvPr/>
        </p:nvSpPr>
        <p:spPr>
          <a:xfrm>
            <a:off x="39496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mean reward</a:t>
            </a:r>
            <a:endParaRPr lang="en-US" sz="1200"/>
          </a:p>
        </p:txBody>
      </p:sp>
      <p:sp>
        <p:nvSpPr>
          <p:cNvPr id="32" name="shape 32"/>
          <p:cNvSpPr/>
          <p:nvPr/>
        </p:nvSpPr>
        <p:spPr>
          <a:xfrm>
            <a:off x="5429249" y="25844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33" name="line 33"/>
          <p:cNvCxnSpPr/>
          <p:nvPr/>
        </p:nvCxnSpPr>
        <p:spPr>
          <a:xfrm>
            <a:off x="4127499" y="2087388"/>
            <a:ext cx="29189" cy="35736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4156689" y="2087388"/>
            <a:ext cx="29189" cy="14240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4185878" y="2229793"/>
            <a:ext cx="29189" cy="1148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6" name="line 36"/>
          <p:cNvCxnSpPr/>
          <p:nvPr/>
        </p:nvCxnSpPr>
        <p:spPr>
          <a:xfrm>
            <a:off x="4215068" y="2241277"/>
            <a:ext cx="29189" cy="1363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7" name="line 37"/>
          <p:cNvCxnSpPr/>
          <p:nvPr/>
        </p:nvCxnSpPr>
        <p:spPr>
          <a:xfrm>
            <a:off x="4244257" y="2254911"/>
            <a:ext cx="29189" cy="3535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>
            <a:off x="4273447" y="2290269"/>
            <a:ext cx="29189" cy="471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9" name="line 39"/>
          <p:cNvCxnSpPr/>
          <p:nvPr/>
        </p:nvCxnSpPr>
        <p:spPr>
          <a:xfrm>
            <a:off x="4302636" y="2183445"/>
            <a:ext cx="29189" cy="11154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0" name="line 40"/>
          <p:cNvCxnSpPr/>
          <p:nvPr/>
        </p:nvCxnSpPr>
        <p:spPr>
          <a:xfrm>
            <a:off x="4331826" y="2183445"/>
            <a:ext cx="29189" cy="5351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4361016" y="2122209"/>
            <a:ext cx="29189" cy="11474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4390205" y="2019668"/>
            <a:ext cx="29189" cy="10254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3" name="line 43"/>
          <p:cNvCxnSpPr/>
          <p:nvPr/>
        </p:nvCxnSpPr>
        <p:spPr>
          <a:xfrm>
            <a:off x="4419395" y="2019668"/>
            <a:ext cx="29189" cy="22553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4" name="line 44"/>
          <p:cNvCxnSpPr/>
          <p:nvPr/>
        </p:nvCxnSpPr>
        <p:spPr>
          <a:xfrm>
            <a:off x="4448584" y="2147118"/>
            <a:ext cx="29189" cy="9808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5" name="line 45"/>
          <p:cNvCxnSpPr/>
          <p:nvPr/>
        </p:nvCxnSpPr>
        <p:spPr>
          <a:xfrm>
            <a:off x="4477774" y="2147118"/>
            <a:ext cx="29189" cy="4387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6" name="line 46"/>
          <p:cNvCxnSpPr/>
          <p:nvPr/>
        </p:nvCxnSpPr>
        <p:spPr>
          <a:xfrm>
            <a:off x="4506963" y="1960448"/>
            <a:ext cx="29189" cy="23054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7" name="line 47"/>
          <p:cNvCxnSpPr/>
          <p:nvPr/>
        </p:nvCxnSpPr>
        <p:spPr>
          <a:xfrm>
            <a:off x="4536153" y="1904558"/>
            <a:ext cx="29189" cy="5588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8" name="line 48"/>
          <p:cNvCxnSpPr/>
          <p:nvPr/>
        </p:nvCxnSpPr>
        <p:spPr>
          <a:xfrm>
            <a:off x="4565342" y="1904558"/>
            <a:ext cx="29189" cy="39697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9" name="line 49"/>
          <p:cNvCxnSpPr/>
          <p:nvPr/>
        </p:nvCxnSpPr>
        <p:spPr>
          <a:xfrm>
            <a:off x="4594532" y="2301530"/>
            <a:ext cx="29189" cy="75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0" name="line 50"/>
          <p:cNvCxnSpPr/>
          <p:nvPr/>
        </p:nvCxnSpPr>
        <p:spPr>
          <a:xfrm>
            <a:off x="4623721" y="1402913"/>
            <a:ext cx="29189" cy="90617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1" name="line 51"/>
          <p:cNvCxnSpPr/>
          <p:nvPr/>
        </p:nvCxnSpPr>
        <p:spPr>
          <a:xfrm>
            <a:off x="4652911" y="1380627"/>
            <a:ext cx="29189" cy="2228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2" name="line 52"/>
          <p:cNvCxnSpPr/>
          <p:nvPr/>
        </p:nvCxnSpPr>
        <p:spPr>
          <a:xfrm>
            <a:off x="4682100" y="1380627"/>
            <a:ext cx="29189" cy="73734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3" name="line 53"/>
          <p:cNvCxnSpPr/>
          <p:nvPr/>
        </p:nvCxnSpPr>
        <p:spPr>
          <a:xfrm>
            <a:off x="4711290" y="2117968"/>
            <a:ext cx="29189" cy="13409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4" name="line 54"/>
          <p:cNvCxnSpPr/>
          <p:nvPr/>
        </p:nvCxnSpPr>
        <p:spPr>
          <a:xfrm>
            <a:off x="4740479" y="2070859"/>
            <a:ext cx="29189" cy="18120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5" name="line 55"/>
          <p:cNvCxnSpPr/>
          <p:nvPr/>
        </p:nvCxnSpPr>
        <p:spPr>
          <a:xfrm>
            <a:off x="4769669" y="2070859"/>
            <a:ext cx="29189" cy="11779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6" name="line 56"/>
          <p:cNvCxnSpPr/>
          <p:nvPr/>
        </p:nvCxnSpPr>
        <p:spPr>
          <a:xfrm>
            <a:off x="4798858" y="2188652"/>
            <a:ext cx="29189" cy="7195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4828048" y="1727309"/>
            <a:ext cx="29189" cy="53330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8" name="line 58"/>
          <p:cNvCxnSpPr/>
          <p:nvPr/>
        </p:nvCxnSpPr>
        <p:spPr>
          <a:xfrm>
            <a:off x="4857237" y="1727309"/>
            <a:ext cx="29189" cy="13010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9" name="line 59"/>
          <p:cNvCxnSpPr/>
          <p:nvPr/>
        </p:nvCxnSpPr>
        <p:spPr>
          <a:xfrm>
            <a:off x="4886427" y="1857418"/>
            <a:ext cx="29189" cy="40795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0" name="line 60"/>
          <p:cNvCxnSpPr/>
          <p:nvPr/>
        </p:nvCxnSpPr>
        <p:spPr>
          <a:xfrm>
            <a:off x="4915616" y="1338292"/>
            <a:ext cx="29189" cy="92708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1" name="line 61"/>
          <p:cNvCxnSpPr/>
          <p:nvPr/>
        </p:nvCxnSpPr>
        <p:spPr>
          <a:xfrm>
            <a:off x="4944806" y="1338292"/>
            <a:ext cx="29189" cy="10456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2" name="line 62"/>
          <p:cNvCxnSpPr/>
          <p:nvPr/>
        </p:nvCxnSpPr>
        <p:spPr>
          <a:xfrm>
            <a:off x="4973995" y="1442859"/>
            <a:ext cx="29189" cy="80334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3" name="line 63"/>
          <p:cNvCxnSpPr/>
          <p:nvPr/>
        </p:nvCxnSpPr>
        <p:spPr>
          <a:xfrm>
            <a:off x="5003185" y="2246204"/>
            <a:ext cx="29189" cy="4529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4" name="line 64"/>
          <p:cNvCxnSpPr/>
          <p:nvPr/>
        </p:nvCxnSpPr>
        <p:spPr>
          <a:xfrm>
            <a:off x="5032374" y="2255108"/>
            <a:ext cx="29189" cy="3638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5" name="line 65"/>
          <p:cNvCxnSpPr/>
          <p:nvPr/>
        </p:nvCxnSpPr>
        <p:spPr>
          <a:xfrm>
            <a:off x="5061564" y="2255108"/>
            <a:ext cx="29189" cy="769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6" name="line 66"/>
          <p:cNvCxnSpPr/>
          <p:nvPr/>
        </p:nvCxnSpPr>
        <p:spPr>
          <a:xfrm>
            <a:off x="5090753" y="2150747"/>
            <a:ext cx="29189" cy="1120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7" name="line 67"/>
          <p:cNvCxnSpPr/>
          <p:nvPr/>
        </p:nvCxnSpPr>
        <p:spPr>
          <a:xfrm>
            <a:off x="5119943" y="2150747"/>
            <a:ext cx="29189" cy="13802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8" name="line 68"/>
          <p:cNvCxnSpPr/>
          <p:nvPr/>
        </p:nvCxnSpPr>
        <p:spPr>
          <a:xfrm>
            <a:off x="5149132" y="2113846"/>
            <a:ext cx="29189" cy="17492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9" name="line 69"/>
          <p:cNvCxnSpPr/>
          <p:nvPr/>
        </p:nvCxnSpPr>
        <p:spPr>
          <a:xfrm>
            <a:off x="5178322" y="1449387"/>
            <a:ext cx="29189" cy="66445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0" name="line 70"/>
          <p:cNvCxnSpPr/>
          <p:nvPr/>
        </p:nvCxnSpPr>
        <p:spPr>
          <a:xfrm>
            <a:off x="5207511" y="1449387"/>
            <a:ext cx="29189" cy="79849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1" name="line 71"/>
          <p:cNvCxnSpPr/>
          <p:nvPr/>
        </p:nvCxnSpPr>
        <p:spPr>
          <a:xfrm>
            <a:off x="5236701" y="2171846"/>
            <a:ext cx="29189" cy="7603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2" name="line 72"/>
          <p:cNvCxnSpPr/>
          <p:nvPr/>
        </p:nvCxnSpPr>
        <p:spPr>
          <a:xfrm>
            <a:off x="5265890" y="2171846"/>
            <a:ext cx="29189" cy="9097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3" name="line 73"/>
          <p:cNvCxnSpPr/>
          <p:nvPr/>
        </p:nvCxnSpPr>
        <p:spPr>
          <a:xfrm>
            <a:off x="5295080" y="1972956"/>
            <a:ext cx="29189" cy="28986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4" name="line 74"/>
          <p:cNvCxnSpPr/>
          <p:nvPr/>
        </p:nvCxnSpPr>
        <p:spPr>
          <a:xfrm>
            <a:off x="5324270" y="1972956"/>
            <a:ext cx="29189" cy="8758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5" name="line 75"/>
          <p:cNvCxnSpPr/>
          <p:nvPr/>
        </p:nvCxnSpPr>
        <p:spPr>
          <a:xfrm>
            <a:off x="5353459" y="2045963"/>
            <a:ext cx="29189" cy="1457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6" name="line 76"/>
          <p:cNvCxnSpPr/>
          <p:nvPr/>
        </p:nvCxnSpPr>
        <p:spPr>
          <a:xfrm>
            <a:off x="5382649" y="2045963"/>
            <a:ext cx="29189" cy="1000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7" name="line 77"/>
          <p:cNvCxnSpPr/>
          <p:nvPr/>
        </p:nvCxnSpPr>
        <p:spPr>
          <a:xfrm>
            <a:off x="5411838" y="2145963"/>
            <a:ext cx="29189" cy="11087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8" name="line 78"/>
          <p:cNvCxnSpPr/>
          <p:nvPr/>
        </p:nvCxnSpPr>
        <p:spPr>
          <a:xfrm>
            <a:off x="5441028" y="2128156"/>
            <a:ext cx="29189" cy="12867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9" name="line 79"/>
          <p:cNvCxnSpPr/>
          <p:nvPr/>
        </p:nvCxnSpPr>
        <p:spPr>
          <a:xfrm>
            <a:off x="5470217" y="2128156"/>
            <a:ext cx="29189" cy="12537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0" name="line 80"/>
          <p:cNvCxnSpPr/>
          <p:nvPr/>
        </p:nvCxnSpPr>
        <p:spPr>
          <a:xfrm>
            <a:off x="5499407" y="2059469"/>
            <a:ext cx="29189" cy="19406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1" name="line 81"/>
          <p:cNvCxnSpPr/>
          <p:nvPr/>
        </p:nvCxnSpPr>
        <p:spPr>
          <a:xfrm>
            <a:off x="5528596" y="2059469"/>
            <a:ext cx="29189" cy="7680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2" name="line 82"/>
          <p:cNvCxnSpPr/>
          <p:nvPr/>
        </p:nvCxnSpPr>
        <p:spPr>
          <a:xfrm>
            <a:off x="5557786" y="2136279"/>
            <a:ext cx="29189" cy="16027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3" name="line 83"/>
          <p:cNvCxnSpPr/>
          <p:nvPr/>
        </p:nvCxnSpPr>
        <p:spPr>
          <a:xfrm>
            <a:off x="5586975" y="1810180"/>
            <a:ext cx="29189" cy="48637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4" name="line 84"/>
          <p:cNvCxnSpPr/>
          <p:nvPr/>
        </p:nvCxnSpPr>
        <p:spPr>
          <a:xfrm>
            <a:off x="5616165" y="1810180"/>
            <a:ext cx="29189" cy="45577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5" name="line 85"/>
          <p:cNvCxnSpPr/>
          <p:nvPr/>
        </p:nvCxnSpPr>
        <p:spPr>
          <a:xfrm>
            <a:off x="5645354" y="2204610"/>
            <a:ext cx="29189" cy="6134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6" name="line 86"/>
          <p:cNvCxnSpPr/>
          <p:nvPr/>
        </p:nvCxnSpPr>
        <p:spPr>
          <a:xfrm>
            <a:off x="5674544" y="2118287"/>
            <a:ext cx="29189" cy="8632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7" name="line 87"/>
          <p:cNvCxnSpPr/>
          <p:nvPr/>
        </p:nvCxnSpPr>
        <p:spPr>
          <a:xfrm>
            <a:off x="5703733" y="2118287"/>
            <a:ext cx="29189" cy="12070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8" name="line 88"/>
          <p:cNvCxnSpPr/>
          <p:nvPr/>
        </p:nvCxnSpPr>
        <p:spPr>
          <a:xfrm>
            <a:off x="5732923" y="2206171"/>
            <a:ext cx="29189" cy="3282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89" name="line 89"/>
          <p:cNvCxnSpPr/>
          <p:nvPr/>
        </p:nvCxnSpPr>
        <p:spPr>
          <a:xfrm>
            <a:off x="5762112" y="2167016"/>
            <a:ext cx="29189" cy="3915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90" name="line 90"/>
          <p:cNvCxnSpPr/>
          <p:nvPr/>
        </p:nvCxnSpPr>
        <p:spPr>
          <a:xfrm>
            <a:off x="5791302" y="1333500"/>
            <a:ext cx="29189" cy="83351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91" name="line 91"/>
          <p:cNvCxnSpPr/>
          <p:nvPr/>
        </p:nvCxnSpPr>
        <p:spPr>
          <a:xfrm>
            <a:off x="5820491" y="1333500"/>
            <a:ext cx="29189" cy="70465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92" name="line 92"/>
          <p:cNvCxnSpPr/>
          <p:nvPr/>
        </p:nvCxnSpPr>
        <p:spPr>
          <a:xfrm>
            <a:off x="5849681" y="2038153"/>
            <a:ext cx="29189" cy="19016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93" name="line 93"/>
          <p:cNvCxnSpPr/>
          <p:nvPr/>
        </p:nvCxnSpPr>
        <p:spPr>
          <a:xfrm>
            <a:off x="5878870" y="2228321"/>
            <a:ext cx="29189" cy="4196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94" name="line 94"/>
          <p:cNvCxnSpPr/>
          <p:nvPr/>
        </p:nvCxnSpPr>
        <p:spPr>
          <a:xfrm>
            <a:off x="5908060" y="2250221"/>
            <a:ext cx="29189" cy="2006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sp>
        <p:nvSpPr>
          <p:cNvPr id="95" name="shape 95"/>
          <p:cNvSpPr/>
          <p:nvPr/>
        </p:nvSpPr>
        <p:spPr>
          <a:xfrm>
            <a:off x="5911849" y="2224821"/>
            <a:ext cx="50799" cy="508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6" name="shape 96"/>
          <p:cNvSpPr/>
          <p:nvPr/>
        </p:nvSpPr>
        <p:spPr>
          <a:xfrm>
            <a:off x="41782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1.16</a:t>
            </a:r>
            <a:endParaRPr lang="en-US" sz="1000"/>
          </a:p>
        </p:txBody>
      </p:sp>
      <p:sp>
        <p:nvSpPr>
          <p:cNvPr id="97" name="shape 97"/>
          <p:cNvSpPr/>
          <p:nvPr/>
        </p:nvSpPr>
        <p:spPr>
          <a:xfrm>
            <a:off x="4178299" y="23304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-0.0113</a:t>
            </a:r>
            <a:endParaRPr lang="en-US" sz="1000"/>
          </a:p>
        </p:txBody>
      </p:sp>
      <p:cxnSp>
        <p:nvCxnSpPr>
          <p:cNvPr id="98" name="line 98"/>
          <p:cNvCxnSpPr/>
          <p:nvPr/>
        </p:nvCxnSpPr>
        <p:spPr>
          <a:xfrm>
            <a:off x="6349999" y="133350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9" name="line 99"/>
          <p:cNvCxnSpPr/>
          <p:nvPr/>
        </p:nvCxnSpPr>
        <p:spPr>
          <a:xfrm>
            <a:off x="6349999" y="1611312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0" name="line 100"/>
          <p:cNvCxnSpPr/>
          <p:nvPr/>
        </p:nvCxnSpPr>
        <p:spPr>
          <a:xfrm>
            <a:off x="6349999" y="188912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1" name="line 101"/>
          <p:cNvCxnSpPr/>
          <p:nvPr/>
        </p:nvCxnSpPr>
        <p:spPr>
          <a:xfrm>
            <a:off x="6349999" y="2166937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2" name="line 102"/>
          <p:cNvCxnSpPr/>
          <p:nvPr/>
        </p:nvCxnSpPr>
        <p:spPr>
          <a:xfrm>
            <a:off x="6349999" y="2444749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3" name="line 103"/>
          <p:cNvCxnSpPr/>
          <p:nvPr/>
        </p:nvCxnSpPr>
        <p:spPr>
          <a:xfrm>
            <a:off x="6349999" y="2444749"/>
            <a:ext cx="18097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04" name="line 104"/>
          <p:cNvCxnSpPr/>
          <p:nvPr/>
        </p:nvCxnSpPr>
        <p:spPr>
          <a:xfrm>
            <a:off x="6349999" y="1333500"/>
            <a:ext cx="1" cy="1111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5" name="shape 105"/>
          <p:cNvSpPr/>
          <p:nvPr/>
        </p:nvSpPr>
        <p:spPr>
          <a:xfrm>
            <a:off x="61721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critic loss</a:t>
            </a:r>
            <a:endParaRPr lang="en-US" sz="1200"/>
          </a:p>
        </p:txBody>
      </p:sp>
      <p:sp>
        <p:nvSpPr>
          <p:cNvPr id="106" name="shape 106"/>
          <p:cNvSpPr/>
          <p:nvPr/>
        </p:nvSpPr>
        <p:spPr>
          <a:xfrm>
            <a:off x="7651749" y="25844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107" name="line 107"/>
          <p:cNvCxnSpPr/>
          <p:nvPr/>
        </p:nvCxnSpPr>
        <p:spPr>
          <a:xfrm>
            <a:off x="6349999" y="2444749"/>
            <a:ext cx="29189" cy="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08" name="line 108"/>
          <p:cNvCxnSpPr/>
          <p:nvPr/>
        </p:nvCxnSpPr>
        <p:spPr>
          <a:xfrm>
            <a:off x="6379189" y="2436130"/>
            <a:ext cx="29189" cy="8619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09" name="line 109"/>
          <p:cNvCxnSpPr/>
          <p:nvPr/>
        </p:nvCxnSpPr>
        <p:spPr>
          <a:xfrm>
            <a:off x="6408378" y="2292256"/>
            <a:ext cx="29189" cy="14387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0" name="line 110"/>
          <p:cNvCxnSpPr/>
          <p:nvPr/>
        </p:nvCxnSpPr>
        <p:spPr>
          <a:xfrm>
            <a:off x="6437568" y="1873847"/>
            <a:ext cx="29189" cy="41840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1" name="line 111"/>
          <p:cNvCxnSpPr/>
          <p:nvPr/>
        </p:nvCxnSpPr>
        <p:spPr>
          <a:xfrm>
            <a:off x="6466757" y="1873847"/>
            <a:ext cx="29189" cy="42826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2" name="line 112"/>
          <p:cNvCxnSpPr/>
          <p:nvPr/>
        </p:nvCxnSpPr>
        <p:spPr>
          <a:xfrm>
            <a:off x="6495947" y="2172732"/>
            <a:ext cx="29189" cy="12938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3" name="line 113"/>
          <p:cNvCxnSpPr/>
          <p:nvPr/>
        </p:nvCxnSpPr>
        <p:spPr>
          <a:xfrm>
            <a:off x="6525136" y="2172732"/>
            <a:ext cx="29189" cy="115647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4" name="line 114"/>
          <p:cNvCxnSpPr/>
          <p:nvPr/>
        </p:nvCxnSpPr>
        <p:spPr>
          <a:xfrm>
            <a:off x="6554326" y="1881952"/>
            <a:ext cx="29189" cy="406427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5" name="line 115"/>
          <p:cNvCxnSpPr/>
          <p:nvPr/>
        </p:nvCxnSpPr>
        <p:spPr>
          <a:xfrm>
            <a:off x="6583515" y="1881952"/>
            <a:ext cx="29189" cy="31981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6" name="line 116"/>
          <p:cNvCxnSpPr/>
          <p:nvPr/>
        </p:nvCxnSpPr>
        <p:spPr>
          <a:xfrm>
            <a:off x="6612705" y="2077344"/>
            <a:ext cx="29189" cy="124425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7" name="line 117"/>
          <p:cNvCxnSpPr/>
          <p:nvPr/>
        </p:nvCxnSpPr>
        <p:spPr>
          <a:xfrm>
            <a:off x="6641894" y="2077344"/>
            <a:ext cx="29189" cy="35707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8" name="line 118"/>
          <p:cNvCxnSpPr/>
          <p:nvPr/>
        </p:nvCxnSpPr>
        <p:spPr>
          <a:xfrm>
            <a:off x="6671084" y="2303611"/>
            <a:ext cx="29189" cy="13080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19" name="line 119"/>
          <p:cNvCxnSpPr/>
          <p:nvPr/>
        </p:nvCxnSpPr>
        <p:spPr>
          <a:xfrm>
            <a:off x="6700274" y="2076389"/>
            <a:ext cx="29189" cy="22722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0" name="line 120"/>
          <p:cNvCxnSpPr/>
          <p:nvPr/>
        </p:nvCxnSpPr>
        <p:spPr>
          <a:xfrm>
            <a:off x="6729463" y="2076389"/>
            <a:ext cx="29189" cy="207616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1" name="line 121"/>
          <p:cNvCxnSpPr/>
          <p:nvPr/>
        </p:nvCxnSpPr>
        <p:spPr>
          <a:xfrm>
            <a:off x="6758653" y="1722650"/>
            <a:ext cx="29189" cy="56135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2" name="line 122"/>
          <p:cNvCxnSpPr/>
          <p:nvPr/>
        </p:nvCxnSpPr>
        <p:spPr>
          <a:xfrm>
            <a:off x="6787842" y="1722650"/>
            <a:ext cx="29189" cy="6301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3" name="line 123"/>
          <p:cNvCxnSpPr/>
          <p:nvPr/>
        </p:nvCxnSpPr>
        <p:spPr>
          <a:xfrm>
            <a:off x="6817032" y="1785661"/>
            <a:ext cx="29189" cy="234833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4" name="line 124"/>
          <p:cNvCxnSpPr/>
          <p:nvPr/>
        </p:nvCxnSpPr>
        <p:spPr>
          <a:xfrm>
            <a:off x="6846221" y="1559575"/>
            <a:ext cx="29189" cy="46092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5" name="line 125"/>
          <p:cNvCxnSpPr/>
          <p:nvPr/>
        </p:nvCxnSpPr>
        <p:spPr>
          <a:xfrm>
            <a:off x="6875411" y="1559575"/>
            <a:ext cx="29189" cy="20880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6" name="line 126"/>
          <p:cNvCxnSpPr/>
          <p:nvPr/>
        </p:nvCxnSpPr>
        <p:spPr>
          <a:xfrm>
            <a:off x="6904600" y="1694440"/>
            <a:ext cx="29189" cy="73936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7" name="line 127"/>
          <p:cNvCxnSpPr/>
          <p:nvPr/>
        </p:nvCxnSpPr>
        <p:spPr>
          <a:xfrm>
            <a:off x="6933790" y="1694440"/>
            <a:ext cx="29189" cy="274126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8" name="line 128"/>
          <p:cNvCxnSpPr/>
          <p:nvPr/>
        </p:nvCxnSpPr>
        <p:spPr>
          <a:xfrm>
            <a:off x="6962979" y="1968567"/>
            <a:ext cx="29189" cy="30127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29" name="line 129"/>
          <p:cNvCxnSpPr/>
          <p:nvPr/>
        </p:nvCxnSpPr>
        <p:spPr>
          <a:xfrm>
            <a:off x="6992169" y="1777211"/>
            <a:ext cx="29189" cy="49263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0" name="line 130"/>
          <p:cNvCxnSpPr/>
          <p:nvPr/>
        </p:nvCxnSpPr>
        <p:spPr>
          <a:xfrm>
            <a:off x="7021358" y="1777211"/>
            <a:ext cx="29189" cy="323227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1" name="line 131"/>
          <p:cNvCxnSpPr/>
          <p:nvPr/>
        </p:nvCxnSpPr>
        <p:spPr>
          <a:xfrm>
            <a:off x="7050548" y="2100439"/>
            <a:ext cx="29189" cy="178902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2" name="line 132"/>
          <p:cNvCxnSpPr/>
          <p:nvPr/>
        </p:nvCxnSpPr>
        <p:spPr>
          <a:xfrm>
            <a:off x="7079737" y="2277470"/>
            <a:ext cx="29189" cy="187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3" name="line 133"/>
          <p:cNvCxnSpPr/>
          <p:nvPr/>
        </p:nvCxnSpPr>
        <p:spPr>
          <a:xfrm>
            <a:off x="7108927" y="2227886"/>
            <a:ext cx="29189" cy="4958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4" name="line 134"/>
          <p:cNvCxnSpPr/>
          <p:nvPr/>
        </p:nvCxnSpPr>
        <p:spPr>
          <a:xfrm>
            <a:off x="7138116" y="1911584"/>
            <a:ext cx="29189" cy="31630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5" name="line 135"/>
          <p:cNvCxnSpPr/>
          <p:nvPr/>
        </p:nvCxnSpPr>
        <p:spPr>
          <a:xfrm>
            <a:off x="7167306" y="1911584"/>
            <a:ext cx="29189" cy="29256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6" name="line 136"/>
          <p:cNvCxnSpPr/>
          <p:nvPr/>
        </p:nvCxnSpPr>
        <p:spPr>
          <a:xfrm>
            <a:off x="7196495" y="2204145"/>
            <a:ext cx="29189" cy="6963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7" name="line 137"/>
          <p:cNvCxnSpPr/>
          <p:nvPr/>
        </p:nvCxnSpPr>
        <p:spPr>
          <a:xfrm>
            <a:off x="7225685" y="1940417"/>
            <a:ext cx="29189" cy="333367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8" name="line 138"/>
          <p:cNvCxnSpPr/>
          <p:nvPr/>
        </p:nvCxnSpPr>
        <p:spPr>
          <a:xfrm>
            <a:off x="7254874" y="1940417"/>
            <a:ext cx="29189" cy="18407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39" name="line 139"/>
          <p:cNvCxnSpPr/>
          <p:nvPr/>
        </p:nvCxnSpPr>
        <p:spPr>
          <a:xfrm>
            <a:off x="7284064" y="2097493"/>
            <a:ext cx="29189" cy="27002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0" name="line 140"/>
          <p:cNvCxnSpPr/>
          <p:nvPr/>
        </p:nvCxnSpPr>
        <p:spPr>
          <a:xfrm>
            <a:off x="7313253" y="1880459"/>
            <a:ext cx="29189" cy="21703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1" name="line 141"/>
          <p:cNvCxnSpPr/>
          <p:nvPr/>
        </p:nvCxnSpPr>
        <p:spPr>
          <a:xfrm>
            <a:off x="7342443" y="1880459"/>
            <a:ext cx="29189" cy="35248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2" name="line 142"/>
          <p:cNvCxnSpPr/>
          <p:nvPr/>
        </p:nvCxnSpPr>
        <p:spPr>
          <a:xfrm>
            <a:off x="7371632" y="2089142"/>
            <a:ext cx="29189" cy="14380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3" name="line 143"/>
          <p:cNvCxnSpPr/>
          <p:nvPr/>
        </p:nvCxnSpPr>
        <p:spPr>
          <a:xfrm>
            <a:off x="7400822" y="1333500"/>
            <a:ext cx="29189" cy="755642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4" name="line 144"/>
          <p:cNvCxnSpPr/>
          <p:nvPr/>
        </p:nvCxnSpPr>
        <p:spPr>
          <a:xfrm>
            <a:off x="7430011" y="1333500"/>
            <a:ext cx="29189" cy="98514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5" name="line 145"/>
          <p:cNvCxnSpPr/>
          <p:nvPr/>
        </p:nvCxnSpPr>
        <p:spPr>
          <a:xfrm>
            <a:off x="7459201" y="2224151"/>
            <a:ext cx="29189" cy="94493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6" name="line 146"/>
          <p:cNvCxnSpPr/>
          <p:nvPr/>
        </p:nvCxnSpPr>
        <p:spPr>
          <a:xfrm>
            <a:off x="7488390" y="1698285"/>
            <a:ext cx="29189" cy="525865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7" name="line 147"/>
          <p:cNvCxnSpPr/>
          <p:nvPr/>
        </p:nvCxnSpPr>
        <p:spPr>
          <a:xfrm>
            <a:off x="7517580" y="1698285"/>
            <a:ext cx="29189" cy="31458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8" name="line 148"/>
          <p:cNvCxnSpPr/>
          <p:nvPr/>
        </p:nvCxnSpPr>
        <p:spPr>
          <a:xfrm>
            <a:off x="7546769" y="1685285"/>
            <a:ext cx="29189" cy="327581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49" name="line 149"/>
          <p:cNvCxnSpPr/>
          <p:nvPr/>
        </p:nvCxnSpPr>
        <p:spPr>
          <a:xfrm>
            <a:off x="7575959" y="1685285"/>
            <a:ext cx="29189" cy="595092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0" name="line 150"/>
          <p:cNvCxnSpPr/>
          <p:nvPr/>
        </p:nvCxnSpPr>
        <p:spPr>
          <a:xfrm>
            <a:off x="7605149" y="1663682"/>
            <a:ext cx="29189" cy="61669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1" name="line 151"/>
          <p:cNvCxnSpPr/>
          <p:nvPr/>
        </p:nvCxnSpPr>
        <p:spPr>
          <a:xfrm>
            <a:off x="7634338" y="1663682"/>
            <a:ext cx="29189" cy="590295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2" name="line 152"/>
          <p:cNvCxnSpPr/>
          <p:nvPr/>
        </p:nvCxnSpPr>
        <p:spPr>
          <a:xfrm>
            <a:off x="7663528" y="1964159"/>
            <a:ext cx="29189" cy="28981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3" name="line 153"/>
          <p:cNvCxnSpPr/>
          <p:nvPr/>
        </p:nvCxnSpPr>
        <p:spPr>
          <a:xfrm>
            <a:off x="7692717" y="1769422"/>
            <a:ext cx="29189" cy="194736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4" name="line 154"/>
          <p:cNvCxnSpPr/>
          <p:nvPr/>
        </p:nvCxnSpPr>
        <p:spPr>
          <a:xfrm>
            <a:off x="7721907" y="1769422"/>
            <a:ext cx="29189" cy="60283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5" name="line 155"/>
          <p:cNvCxnSpPr/>
          <p:nvPr/>
        </p:nvCxnSpPr>
        <p:spPr>
          <a:xfrm>
            <a:off x="7751096" y="1773334"/>
            <a:ext cx="29189" cy="598919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6" name="line 156"/>
          <p:cNvCxnSpPr/>
          <p:nvPr/>
        </p:nvCxnSpPr>
        <p:spPr>
          <a:xfrm>
            <a:off x="7780286" y="1773334"/>
            <a:ext cx="29189" cy="352673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7" name="line 157"/>
          <p:cNvCxnSpPr/>
          <p:nvPr/>
        </p:nvCxnSpPr>
        <p:spPr>
          <a:xfrm>
            <a:off x="7809475" y="2126008"/>
            <a:ext cx="29189" cy="188787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8" name="line 158"/>
          <p:cNvCxnSpPr/>
          <p:nvPr/>
        </p:nvCxnSpPr>
        <p:spPr>
          <a:xfrm>
            <a:off x="7838665" y="2314795"/>
            <a:ext cx="29189" cy="7871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59" name="line 159"/>
          <p:cNvCxnSpPr/>
          <p:nvPr/>
        </p:nvCxnSpPr>
        <p:spPr>
          <a:xfrm>
            <a:off x="7867854" y="1977270"/>
            <a:ext cx="29189" cy="416235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0" name="line 160"/>
          <p:cNvCxnSpPr/>
          <p:nvPr/>
        </p:nvCxnSpPr>
        <p:spPr>
          <a:xfrm>
            <a:off x="7897044" y="1977270"/>
            <a:ext cx="29189" cy="40783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1" name="line 161"/>
          <p:cNvCxnSpPr/>
          <p:nvPr/>
        </p:nvCxnSpPr>
        <p:spPr>
          <a:xfrm>
            <a:off x="7926233" y="2303495"/>
            <a:ext cx="29189" cy="81609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2" name="line 162"/>
          <p:cNvCxnSpPr/>
          <p:nvPr/>
        </p:nvCxnSpPr>
        <p:spPr>
          <a:xfrm>
            <a:off x="7955423" y="2111477"/>
            <a:ext cx="29189" cy="19201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3" name="line 163"/>
          <p:cNvCxnSpPr/>
          <p:nvPr/>
        </p:nvCxnSpPr>
        <p:spPr>
          <a:xfrm>
            <a:off x="7984612" y="2111477"/>
            <a:ext cx="29189" cy="40698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4" name="line 164"/>
          <p:cNvCxnSpPr/>
          <p:nvPr/>
        </p:nvCxnSpPr>
        <p:spPr>
          <a:xfrm>
            <a:off x="8013802" y="2152175"/>
            <a:ext cx="29189" cy="51840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5" name="line 165"/>
          <p:cNvCxnSpPr/>
          <p:nvPr/>
        </p:nvCxnSpPr>
        <p:spPr>
          <a:xfrm>
            <a:off x="8042991" y="2052086"/>
            <a:ext cx="29189" cy="151929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6" name="line 166"/>
          <p:cNvCxnSpPr/>
          <p:nvPr/>
        </p:nvCxnSpPr>
        <p:spPr>
          <a:xfrm>
            <a:off x="8072181" y="2052086"/>
            <a:ext cx="29189" cy="13832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7" name="line 167"/>
          <p:cNvCxnSpPr/>
          <p:nvPr/>
        </p:nvCxnSpPr>
        <p:spPr>
          <a:xfrm>
            <a:off x="8101370" y="2052369"/>
            <a:ext cx="29189" cy="13549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cxnSp>
        <p:nvCxnSpPr>
          <p:cNvPr id="168" name="line 168"/>
          <p:cNvCxnSpPr/>
          <p:nvPr/>
        </p:nvCxnSpPr>
        <p:spPr>
          <a:xfrm>
            <a:off x="8130560" y="2035375"/>
            <a:ext cx="29189" cy="16994"/>
          </a:xfrm>
          <a:prstGeom prst="line">
            <a:avLst/>
          </a:prstGeom>
          <a:ln w="19050">
            <a:solidFill>
              <a:srgbClr val="DC2626"/>
            </a:solidFill>
            <a:tailEnd type="triangle"/>
          </a:ln>
        </p:spPr>
      </p:cxnSp>
      <p:sp>
        <p:nvSpPr>
          <p:cNvPr id="169" name="shape 169"/>
          <p:cNvSpPr/>
          <p:nvPr/>
        </p:nvSpPr>
        <p:spPr>
          <a:xfrm>
            <a:off x="8134349" y="2009975"/>
            <a:ext cx="50799" cy="508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70" name="shape 170"/>
          <p:cNvSpPr/>
          <p:nvPr/>
        </p:nvSpPr>
        <p:spPr>
          <a:xfrm>
            <a:off x="64007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356</a:t>
            </a:r>
            <a:endParaRPr lang="en-US" sz="1000"/>
          </a:p>
        </p:txBody>
      </p:sp>
      <p:sp>
        <p:nvSpPr>
          <p:cNvPr id="171" name="shape 171"/>
          <p:cNvSpPr/>
          <p:nvPr/>
        </p:nvSpPr>
        <p:spPr>
          <a:xfrm>
            <a:off x="6400799" y="2330449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0</a:t>
            </a:r>
            <a:endParaRPr lang="en-US" sz="1000"/>
          </a:p>
        </p:txBody>
      </p:sp>
      <p:sp>
        <p:nvSpPr>
          <p:cNvPr id="172" name="shape 172"/>
          <p:cNvSpPr/>
          <p:nvPr/>
        </p:nvSpPr>
        <p:spPr>
          <a:xfrm>
            <a:off x="4127499" y="2698750"/>
            <a:ext cx="9524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73" name="shape 173"/>
          <p:cNvSpPr/>
          <p:nvPr/>
        </p:nvSpPr>
        <p:spPr>
          <a:xfrm>
            <a:off x="4229099" y="2813050"/>
            <a:ext cx="54482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final reward</a:t>
            </a:r>
            <a:endParaRPr lang="en-US" sz="1300"/>
          </a:p>
        </p:txBody>
      </p:sp>
      <p:sp>
        <p:nvSpPr>
          <p:cNvPr id="174" name="shape 174"/>
          <p:cNvSpPr/>
          <p:nvPr/>
        </p:nvSpPr>
        <p:spPr>
          <a:xfrm>
            <a:off x="4229099" y="297815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0.246</a:t>
            </a:r>
            <a:endParaRPr lang="en-US" sz="2100"/>
          </a:p>
        </p:txBody>
      </p:sp>
      <p:sp>
        <p:nvSpPr>
          <p:cNvPr id="175" name="shape 175"/>
          <p:cNvSpPr/>
          <p:nvPr/>
        </p:nvSpPr>
        <p:spPr>
          <a:xfrm>
            <a:off x="5238749" y="2698750"/>
            <a:ext cx="9524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76" name="shape 176"/>
          <p:cNvSpPr/>
          <p:nvPr/>
        </p:nvSpPr>
        <p:spPr>
          <a:xfrm>
            <a:off x="5340349" y="2813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alpha</a:t>
            </a:r>
            <a:endParaRPr lang="en-US" sz="1300"/>
          </a:p>
        </p:txBody>
      </p:sp>
      <p:sp>
        <p:nvSpPr>
          <p:cNvPr id="177" name="shape 177"/>
          <p:cNvSpPr/>
          <p:nvPr/>
        </p:nvSpPr>
        <p:spPr>
          <a:xfrm>
            <a:off x="5340349" y="297815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0.03</a:t>
            </a:r>
            <a:endParaRPr lang="en-US" sz="2100"/>
          </a:p>
        </p:txBody>
      </p:sp>
      <p:sp>
        <p:nvSpPr>
          <p:cNvPr id="178" name="shape 178"/>
          <p:cNvSpPr/>
          <p:nvPr/>
        </p:nvSpPr>
        <p:spPr>
          <a:xfrm>
            <a:off x="6349999" y="2698750"/>
            <a:ext cx="9524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79" name="shape 179"/>
          <p:cNvSpPr/>
          <p:nvPr/>
        </p:nvSpPr>
        <p:spPr>
          <a:xfrm>
            <a:off x="6451599" y="2813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throughput</a:t>
            </a:r>
            <a:endParaRPr lang="en-US" sz="1300"/>
          </a:p>
        </p:txBody>
      </p:sp>
      <p:sp>
        <p:nvSpPr>
          <p:cNvPr id="180" name="shape 180"/>
          <p:cNvSpPr/>
          <p:nvPr/>
        </p:nvSpPr>
        <p:spPr>
          <a:xfrm>
            <a:off x="6451599" y="297815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52.0</a:t>
            </a:r>
            <a:endParaRPr lang="en-US" sz="2100"/>
          </a:p>
        </p:txBody>
      </p:sp>
      <p:sp>
        <p:nvSpPr>
          <p:cNvPr id="181" name="shape 181"/>
          <p:cNvSpPr/>
          <p:nvPr/>
        </p:nvSpPr>
        <p:spPr>
          <a:xfrm>
            <a:off x="7200899" y="30035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steps/s</a:t>
            </a:r>
            <a:endParaRPr lang="en-US" sz="1100"/>
          </a:p>
        </p:txBody>
      </p:sp>
      <p:sp>
        <p:nvSpPr>
          <p:cNvPr id="182" name="shape 182"/>
          <p:cNvSpPr/>
          <p:nvPr/>
        </p:nvSpPr>
        <p:spPr>
          <a:xfrm>
            <a:off x="7461249" y="2698750"/>
            <a:ext cx="761999" cy="482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83" name="shape 183"/>
          <p:cNvSpPr/>
          <p:nvPr/>
        </p:nvSpPr>
        <p:spPr>
          <a:xfrm>
            <a:off x="7562849" y="2813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done</a:t>
            </a:r>
            <a:endParaRPr lang="en-US" sz="1300"/>
          </a:p>
        </p:txBody>
      </p:sp>
      <p:sp>
        <p:nvSpPr>
          <p:cNvPr id="184" name="shape 184"/>
          <p:cNvSpPr/>
          <p:nvPr/>
        </p:nvSpPr>
        <p:spPr>
          <a:xfrm>
            <a:off x="7562849" y="2978150"/>
            <a:ext cx="507999" cy="2000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100" b="1">
                <a:solidFill>
                  <a:srgbClr val="111827"/>
                </a:solidFill>
              </a:rPr>
              <a:t>0.00</a:t>
            </a:r>
            <a:endParaRPr lang="en-US" sz="2100"/>
          </a:p>
        </p:txBody>
      </p:sp>
      <p:sp>
        <p:nvSpPr>
          <p:cNvPr id="185" name="shape 185"/>
          <p:cNvSpPr/>
          <p:nvPr/>
        </p:nvSpPr>
        <p:spPr>
          <a:xfrm>
            <a:off x="8667749" y="761999"/>
            <a:ext cx="3270249" cy="2571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86" name="shape 186"/>
          <p:cNvSpPr/>
          <p:nvPr/>
        </p:nvSpPr>
        <p:spPr>
          <a:xfrm>
            <a:off x="8782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187" name="shape 187"/>
          <p:cNvSpPr/>
          <p:nvPr/>
        </p:nvSpPr>
        <p:spPr>
          <a:xfrm>
            <a:off x="9036049" y="844550"/>
            <a:ext cx="150875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Contract result snapshot</a:t>
            </a:r>
            <a:endParaRPr lang="en-US" sz="1800"/>
          </a:p>
        </p:txBody>
      </p:sp>
      <p:cxnSp>
        <p:nvCxnSpPr>
          <p:cNvPr id="188" name="line 188"/>
          <p:cNvCxnSpPr/>
          <p:nvPr/>
        </p:nvCxnSpPr>
        <p:spPr>
          <a:xfrm>
            <a:off x="9067799" y="1333500"/>
            <a:ext cx="2063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9" name="line 189"/>
          <p:cNvCxnSpPr/>
          <p:nvPr/>
        </p:nvCxnSpPr>
        <p:spPr>
          <a:xfrm>
            <a:off x="9067799" y="1611312"/>
            <a:ext cx="2063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90" name="line 190"/>
          <p:cNvCxnSpPr/>
          <p:nvPr/>
        </p:nvCxnSpPr>
        <p:spPr>
          <a:xfrm>
            <a:off x="9067799" y="1889125"/>
            <a:ext cx="2063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91" name="line 191"/>
          <p:cNvCxnSpPr/>
          <p:nvPr/>
        </p:nvCxnSpPr>
        <p:spPr>
          <a:xfrm>
            <a:off x="9067799" y="2166937"/>
            <a:ext cx="2063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92" name="line 192"/>
          <p:cNvCxnSpPr/>
          <p:nvPr/>
        </p:nvCxnSpPr>
        <p:spPr>
          <a:xfrm>
            <a:off x="9067799" y="2444749"/>
            <a:ext cx="2063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93" name="line 193"/>
          <p:cNvCxnSpPr/>
          <p:nvPr/>
        </p:nvCxnSpPr>
        <p:spPr>
          <a:xfrm>
            <a:off x="9067799" y="2444749"/>
            <a:ext cx="20637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94" name="line 194"/>
          <p:cNvCxnSpPr/>
          <p:nvPr/>
        </p:nvCxnSpPr>
        <p:spPr>
          <a:xfrm>
            <a:off x="9067799" y="1333500"/>
            <a:ext cx="1" cy="1111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95" name="shape 195"/>
          <p:cNvSpPr/>
          <p:nvPr/>
        </p:nvSpPr>
        <p:spPr>
          <a:xfrm>
            <a:off x="88899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96" name="shape 196"/>
          <p:cNvSpPr/>
          <p:nvPr/>
        </p:nvSpPr>
        <p:spPr>
          <a:xfrm>
            <a:off x="9278408" y="1897792"/>
            <a:ext cx="266699" cy="546957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97" name="shape 197"/>
          <p:cNvSpPr/>
          <p:nvPr/>
        </p:nvSpPr>
        <p:spPr>
          <a:xfrm>
            <a:off x="9411758" y="1745392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98" name="shape 198"/>
          <p:cNvSpPr/>
          <p:nvPr/>
        </p:nvSpPr>
        <p:spPr>
          <a:xfrm>
            <a:off x="9411758" y="2546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</a:t>
            </a:r>
            <a:endParaRPr lang="en-US" sz="1100"/>
          </a:p>
        </p:txBody>
      </p:sp>
      <p:sp>
        <p:nvSpPr>
          <p:cNvPr id="199" name="shape 199"/>
          <p:cNvSpPr/>
          <p:nvPr/>
        </p:nvSpPr>
        <p:spPr>
          <a:xfrm>
            <a:off x="9966324" y="1880457"/>
            <a:ext cx="266699" cy="56429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00" name="shape 200"/>
          <p:cNvSpPr/>
          <p:nvPr/>
        </p:nvSpPr>
        <p:spPr>
          <a:xfrm>
            <a:off x="10099674" y="1728057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201" name="shape 201"/>
          <p:cNvSpPr/>
          <p:nvPr/>
        </p:nvSpPr>
        <p:spPr>
          <a:xfrm>
            <a:off x="10099674" y="2546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</a:t>
            </a:r>
            <a:endParaRPr lang="en-US" sz="1100"/>
          </a:p>
        </p:txBody>
      </p:sp>
      <p:sp>
        <p:nvSpPr>
          <p:cNvPr id="202" name="shape 202"/>
          <p:cNvSpPr/>
          <p:nvPr/>
        </p:nvSpPr>
        <p:spPr>
          <a:xfrm>
            <a:off x="10654241" y="2444749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203" name="shape 203"/>
          <p:cNvSpPr/>
          <p:nvPr/>
        </p:nvSpPr>
        <p:spPr>
          <a:xfrm>
            <a:off x="10787591" y="2292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04" name="shape 204"/>
          <p:cNvSpPr/>
          <p:nvPr/>
        </p:nvSpPr>
        <p:spPr>
          <a:xfrm>
            <a:off x="10787591" y="2546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</a:t>
            </a:r>
            <a:endParaRPr lang="en-US" sz="1100"/>
          </a:p>
        </p:txBody>
      </p:sp>
      <p:sp>
        <p:nvSpPr>
          <p:cNvPr id="205" name="shape 205"/>
          <p:cNvSpPr/>
          <p:nvPr/>
        </p:nvSpPr>
        <p:spPr>
          <a:xfrm>
            <a:off x="9112249" y="2698750"/>
            <a:ext cx="2095499" cy="2413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206" name="shape 206"/>
          <p:cNvSpPr/>
          <p:nvPr/>
        </p:nvSpPr>
        <p:spPr>
          <a:xfrm>
            <a:off x="9188449" y="2774950"/>
            <a:ext cx="19430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128 games | mean 30.81s | draw 0.0%</a:t>
            </a:r>
            <a:endParaRPr lang="en-US" sz="1300"/>
          </a:p>
        </p:txBody>
      </p:sp>
      <p:sp>
        <p:nvSpPr>
          <p:cNvPr id="207" name="shape 207"/>
          <p:cNvSpPr/>
          <p:nvPr/>
        </p:nvSpPr>
        <p:spPr>
          <a:xfrm>
            <a:off x="241299" y="3587750"/>
            <a:ext cx="5714999" cy="222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08" name="shape 208"/>
          <p:cNvSpPr/>
          <p:nvPr/>
        </p:nvSpPr>
        <p:spPr>
          <a:xfrm>
            <a:off x="355599" y="366394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209" name="shape 209"/>
          <p:cNvSpPr/>
          <p:nvPr/>
        </p:nvSpPr>
        <p:spPr>
          <a:xfrm>
            <a:off x="609599" y="3670300"/>
            <a:ext cx="20116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Normal target count distribution</a:t>
            </a:r>
            <a:endParaRPr lang="en-US" sz="1800"/>
          </a:p>
        </p:txBody>
      </p:sp>
      <p:cxnSp>
        <p:nvCxnSpPr>
          <p:cNvPr id="210" name="line 210"/>
          <p:cNvCxnSpPr/>
          <p:nvPr/>
        </p:nvCxnSpPr>
        <p:spPr>
          <a:xfrm>
            <a:off x="584199" y="41275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1" name="line 211"/>
          <p:cNvCxnSpPr/>
          <p:nvPr/>
        </p:nvCxnSpPr>
        <p:spPr>
          <a:xfrm>
            <a:off x="584199" y="4405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2" name="line 212"/>
          <p:cNvCxnSpPr/>
          <p:nvPr/>
        </p:nvCxnSpPr>
        <p:spPr>
          <a:xfrm>
            <a:off x="584199" y="46831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3" name="line 213"/>
          <p:cNvCxnSpPr/>
          <p:nvPr/>
        </p:nvCxnSpPr>
        <p:spPr>
          <a:xfrm>
            <a:off x="584199" y="4960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4" name="line 214"/>
          <p:cNvCxnSpPr/>
          <p:nvPr/>
        </p:nvCxnSpPr>
        <p:spPr>
          <a:xfrm>
            <a:off x="584199" y="52387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5" name="line 215"/>
          <p:cNvCxnSpPr/>
          <p:nvPr/>
        </p:nvCxnSpPr>
        <p:spPr>
          <a:xfrm>
            <a:off x="584199" y="5238749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16" name="line 216"/>
          <p:cNvCxnSpPr/>
          <p:nvPr/>
        </p:nvCxnSpPr>
        <p:spPr>
          <a:xfrm>
            <a:off x="584199" y="4127500"/>
            <a:ext cx="1" cy="1111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17" name="shape 217"/>
          <p:cNvSpPr/>
          <p:nvPr/>
        </p:nvSpPr>
        <p:spPr>
          <a:xfrm>
            <a:off x="406399" y="4038600"/>
            <a:ext cx="54482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episode share</a:t>
            </a:r>
            <a:endParaRPr lang="en-US" sz="1200"/>
          </a:p>
        </p:txBody>
      </p:sp>
      <p:sp>
        <p:nvSpPr>
          <p:cNvPr id="218" name="shape 218"/>
          <p:cNvSpPr/>
          <p:nvPr/>
        </p:nvSpPr>
        <p:spPr>
          <a:xfrm>
            <a:off x="744537" y="5230082"/>
            <a:ext cx="266699" cy="8667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19" name="shape 219"/>
          <p:cNvSpPr/>
          <p:nvPr/>
        </p:nvSpPr>
        <p:spPr>
          <a:xfrm>
            <a:off x="877887" y="5077682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20" name="shape 220"/>
          <p:cNvSpPr/>
          <p:nvPr/>
        </p:nvSpPr>
        <p:spPr>
          <a:xfrm>
            <a:off x="87788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21" name="shape 221"/>
          <p:cNvSpPr/>
          <p:nvPr/>
        </p:nvSpPr>
        <p:spPr>
          <a:xfrm>
            <a:off x="1331912" y="5212746"/>
            <a:ext cx="266699" cy="26003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2" name="shape 222"/>
          <p:cNvSpPr/>
          <p:nvPr/>
        </p:nvSpPr>
        <p:spPr>
          <a:xfrm>
            <a:off x="1465262" y="506034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2%</a:t>
            </a:r>
            <a:endParaRPr lang="en-US" sz="1200"/>
          </a:p>
        </p:txBody>
      </p:sp>
      <p:sp>
        <p:nvSpPr>
          <p:cNvPr id="223" name="shape 223"/>
          <p:cNvSpPr/>
          <p:nvPr/>
        </p:nvSpPr>
        <p:spPr>
          <a:xfrm>
            <a:off x="146526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24" name="shape 224"/>
          <p:cNvSpPr/>
          <p:nvPr/>
        </p:nvSpPr>
        <p:spPr>
          <a:xfrm>
            <a:off x="1919287" y="4439983"/>
            <a:ext cx="266699" cy="798766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25" name="shape 225"/>
          <p:cNvSpPr/>
          <p:nvPr/>
        </p:nvSpPr>
        <p:spPr>
          <a:xfrm>
            <a:off x="2052637" y="428758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72%</a:t>
            </a:r>
            <a:endParaRPr lang="en-US" sz="1200"/>
          </a:p>
        </p:txBody>
      </p:sp>
      <p:sp>
        <p:nvSpPr>
          <p:cNvPr id="226" name="shape 226"/>
          <p:cNvSpPr/>
          <p:nvPr/>
        </p:nvSpPr>
        <p:spPr>
          <a:xfrm>
            <a:off x="205263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27" name="shape 227"/>
          <p:cNvSpPr/>
          <p:nvPr/>
        </p:nvSpPr>
        <p:spPr>
          <a:xfrm>
            <a:off x="2506662" y="4457430"/>
            <a:ext cx="266699" cy="78131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8" name="shape 228"/>
          <p:cNvSpPr/>
          <p:nvPr/>
        </p:nvSpPr>
        <p:spPr>
          <a:xfrm>
            <a:off x="2640012" y="430503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70%</a:t>
            </a:r>
            <a:endParaRPr lang="en-US" sz="1200"/>
          </a:p>
        </p:txBody>
      </p:sp>
      <p:sp>
        <p:nvSpPr>
          <p:cNvPr id="229" name="shape 229"/>
          <p:cNvSpPr/>
          <p:nvPr/>
        </p:nvSpPr>
        <p:spPr>
          <a:xfrm>
            <a:off x="264001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30" name="shape 230"/>
          <p:cNvSpPr/>
          <p:nvPr/>
        </p:nvSpPr>
        <p:spPr>
          <a:xfrm>
            <a:off x="3094037" y="4943602"/>
            <a:ext cx="266699" cy="295148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31" name="shape 231"/>
          <p:cNvSpPr/>
          <p:nvPr/>
        </p:nvSpPr>
        <p:spPr>
          <a:xfrm>
            <a:off x="3227387" y="4791202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32" name="shape 232"/>
          <p:cNvSpPr/>
          <p:nvPr/>
        </p:nvSpPr>
        <p:spPr>
          <a:xfrm>
            <a:off x="322738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33" name="shape 233"/>
          <p:cNvSpPr/>
          <p:nvPr/>
        </p:nvSpPr>
        <p:spPr>
          <a:xfrm>
            <a:off x="3681412" y="4934934"/>
            <a:ext cx="266699" cy="303815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4" name="shape 234"/>
          <p:cNvSpPr/>
          <p:nvPr/>
        </p:nvSpPr>
        <p:spPr>
          <a:xfrm>
            <a:off x="3814762" y="4782534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35" name="shape 235"/>
          <p:cNvSpPr/>
          <p:nvPr/>
        </p:nvSpPr>
        <p:spPr>
          <a:xfrm>
            <a:off x="381476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36" name="shape 236"/>
          <p:cNvSpPr/>
          <p:nvPr/>
        </p:nvSpPr>
        <p:spPr>
          <a:xfrm>
            <a:off x="4268787" y="5230082"/>
            <a:ext cx="266699" cy="8667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37" name="shape 237"/>
          <p:cNvSpPr/>
          <p:nvPr/>
        </p:nvSpPr>
        <p:spPr>
          <a:xfrm>
            <a:off x="4402137" y="5077682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38" name="shape 238"/>
          <p:cNvSpPr/>
          <p:nvPr/>
        </p:nvSpPr>
        <p:spPr>
          <a:xfrm>
            <a:off x="440213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39" name="shape 239"/>
          <p:cNvSpPr/>
          <p:nvPr/>
        </p:nvSpPr>
        <p:spPr>
          <a:xfrm>
            <a:off x="4856162" y="5238749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40" name="shape 240"/>
          <p:cNvSpPr/>
          <p:nvPr/>
        </p:nvSpPr>
        <p:spPr>
          <a:xfrm>
            <a:off x="4989512" y="508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41" name="shape 241"/>
          <p:cNvSpPr/>
          <p:nvPr/>
        </p:nvSpPr>
        <p:spPr>
          <a:xfrm>
            <a:off x="498951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42" name="shape 242"/>
          <p:cNvSpPr/>
          <p:nvPr/>
        </p:nvSpPr>
        <p:spPr>
          <a:xfrm>
            <a:off x="6222999" y="3587750"/>
            <a:ext cx="5714999" cy="2222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43" name="shape 243"/>
          <p:cNvSpPr/>
          <p:nvPr/>
        </p:nvSpPr>
        <p:spPr>
          <a:xfrm>
            <a:off x="6337299" y="366394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244" name="shape 244"/>
          <p:cNvSpPr/>
          <p:nvPr/>
        </p:nvSpPr>
        <p:spPr>
          <a:xfrm>
            <a:off x="6591299" y="3670300"/>
            <a:ext cx="194881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Base success by cleared targets</a:t>
            </a:r>
            <a:endParaRPr lang="en-US" sz="1800"/>
          </a:p>
        </p:txBody>
      </p:sp>
      <p:cxnSp>
        <p:nvCxnSpPr>
          <p:cNvPr id="245" name="line 245"/>
          <p:cNvCxnSpPr/>
          <p:nvPr/>
        </p:nvCxnSpPr>
        <p:spPr>
          <a:xfrm>
            <a:off x="6572249" y="41275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6" name="line 246"/>
          <p:cNvCxnSpPr/>
          <p:nvPr/>
        </p:nvCxnSpPr>
        <p:spPr>
          <a:xfrm>
            <a:off x="6572249" y="4405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7" name="line 247"/>
          <p:cNvCxnSpPr/>
          <p:nvPr/>
        </p:nvCxnSpPr>
        <p:spPr>
          <a:xfrm>
            <a:off x="6572249" y="46831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8" name="line 248"/>
          <p:cNvCxnSpPr/>
          <p:nvPr/>
        </p:nvCxnSpPr>
        <p:spPr>
          <a:xfrm>
            <a:off x="6572249" y="4960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9" name="line 249"/>
          <p:cNvCxnSpPr/>
          <p:nvPr/>
        </p:nvCxnSpPr>
        <p:spPr>
          <a:xfrm>
            <a:off x="6572249" y="52387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50" name="line 250"/>
          <p:cNvCxnSpPr/>
          <p:nvPr/>
        </p:nvCxnSpPr>
        <p:spPr>
          <a:xfrm>
            <a:off x="6572249" y="5238749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51" name="line 251"/>
          <p:cNvCxnSpPr/>
          <p:nvPr/>
        </p:nvCxnSpPr>
        <p:spPr>
          <a:xfrm>
            <a:off x="6572249" y="4127500"/>
            <a:ext cx="1" cy="1111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52" name="shape 252"/>
          <p:cNvSpPr/>
          <p:nvPr/>
        </p:nvSpPr>
        <p:spPr>
          <a:xfrm>
            <a:off x="6394449" y="403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success rate</a:t>
            </a:r>
            <a:endParaRPr lang="en-US" sz="1200"/>
          </a:p>
        </p:txBody>
      </p:sp>
      <p:sp>
        <p:nvSpPr>
          <p:cNvPr id="253" name="shape 253"/>
          <p:cNvSpPr/>
          <p:nvPr/>
        </p:nvSpPr>
        <p:spPr>
          <a:xfrm>
            <a:off x="6732587" y="5238749"/>
            <a:ext cx="266699" cy="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54" name="shape 254"/>
          <p:cNvSpPr/>
          <p:nvPr/>
        </p:nvSpPr>
        <p:spPr>
          <a:xfrm>
            <a:off x="6865937" y="508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5" name="shape 255"/>
          <p:cNvSpPr/>
          <p:nvPr/>
        </p:nvSpPr>
        <p:spPr>
          <a:xfrm>
            <a:off x="686593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56" name="shape 256"/>
          <p:cNvSpPr/>
          <p:nvPr/>
        </p:nvSpPr>
        <p:spPr>
          <a:xfrm>
            <a:off x="7319962" y="5238749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57" name="shape 257"/>
          <p:cNvSpPr/>
          <p:nvPr/>
        </p:nvSpPr>
        <p:spPr>
          <a:xfrm>
            <a:off x="7453312" y="508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8" name="shape 258"/>
          <p:cNvSpPr/>
          <p:nvPr/>
        </p:nvSpPr>
        <p:spPr>
          <a:xfrm>
            <a:off x="745331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59" name="shape 259"/>
          <p:cNvSpPr/>
          <p:nvPr/>
        </p:nvSpPr>
        <p:spPr>
          <a:xfrm>
            <a:off x="7907337" y="4836255"/>
            <a:ext cx="266699" cy="402494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0" name="shape 260"/>
          <p:cNvSpPr/>
          <p:nvPr/>
        </p:nvSpPr>
        <p:spPr>
          <a:xfrm>
            <a:off x="8040687" y="4683855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36%</a:t>
            </a:r>
            <a:endParaRPr lang="en-US" sz="1200"/>
          </a:p>
        </p:txBody>
      </p:sp>
      <p:sp>
        <p:nvSpPr>
          <p:cNvPr id="261" name="shape 261"/>
          <p:cNvSpPr/>
          <p:nvPr/>
        </p:nvSpPr>
        <p:spPr>
          <a:xfrm>
            <a:off x="804068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62" name="shape 262"/>
          <p:cNvSpPr/>
          <p:nvPr/>
        </p:nvSpPr>
        <p:spPr>
          <a:xfrm>
            <a:off x="8494712" y="4767580"/>
            <a:ext cx="266699" cy="47117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3" name="shape 263"/>
          <p:cNvSpPr/>
          <p:nvPr/>
        </p:nvSpPr>
        <p:spPr>
          <a:xfrm>
            <a:off x="8628062" y="461517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42%</a:t>
            </a:r>
            <a:endParaRPr lang="en-US" sz="1200"/>
          </a:p>
        </p:txBody>
      </p:sp>
      <p:sp>
        <p:nvSpPr>
          <p:cNvPr id="264" name="shape 264"/>
          <p:cNvSpPr/>
          <p:nvPr/>
        </p:nvSpPr>
        <p:spPr>
          <a:xfrm>
            <a:off x="862806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65" name="shape 265"/>
          <p:cNvSpPr/>
          <p:nvPr/>
        </p:nvSpPr>
        <p:spPr>
          <a:xfrm>
            <a:off x="9082087" y="4730797"/>
            <a:ext cx="266699" cy="507952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6" name="shape 266"/>
          <p:cNvSpPr/>
          <p:nvPr/>
        </p:nvSpPr>
        <p:spPr>
          <a:xfrm>
            <a:off x="9215437" y="4578397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46%</a:t>
            </a:r>
            <a:endParaRPr lang="en-US" sz="1200"/>
          </a:p>
        </p:txBody>
      </p:sp>
      <p:sp>
        <p:nvSpPr>
          <p:cNvPr id="267" name="shape 267"/>
          <p:cNvSpPr/>
          <p:nvPr/>
        </p:nvSpPr>
        <p:spPr>
          <a:xfrm>
            <a:off x="921543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68" name="shape 268"/>
          <p:cNvSpPr/>
          <p:nvPr/>
        </p:nvSpPr>
        <p:spPr>
          <a:xfrm>
            <a:off x="9669462" y="4857702"/>
            <a:ext cx="266699" cy="381047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9" name="shape 269"/>
          <p:cNvSpPr/>
          <p:nvPr/>
        </p:nvSpPr>
        <p:spPr>
          <a:xfrm>
            <a:off x="9802812" y="4705302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34%</a:t>
            </a:r>
            <a:endParaRPr lang="en-US" sz="1200"/>
          </a:p>
        </p:txBody>
      </p:sp>
      <p:sp>
        <p:nvSpPr>
          <p:cNvPr id="270" name="shape 270"/>
          <p:cNvSpPr/>
          <p:nvPr/>
        </p:nvSpPr>
        <p:spPr>
          <a:xfrm>
            <a:off x="980281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71" name="shape 271"/>
          <p:cNvSpPr/>
          <p:nvPr/>
        </p:nvSpPr>
        <p:spPr>
          <a:xfrm>
            <a:off x="10256837" y="4127500"/>
            <a:ext cx="266699" cy="111125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72" name="shape 272"/>
          <p:cNvSpPr/>
          <p:nvPr/>
        </p:nvSpPr>
        <p:spPr>
          <a:xfrm>
            <a:off x="10390187" y="3975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100%</a:t>
            </a:r>
            <a:endParaRPr lang="en-US" sz="1200"/>
          </a:p>
        </p:txBody>
      </p:sp>
      <p:sp>
        <p:nvSpPr>
          <p:cNvPr id="273" name="shape 273"/>
          <p:cNvSpPr/>
          <p:nvPr/>
        </p:nvSpPr>
        <p:spPr>
          <a:xfrm>
            <a:off x="10390187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74" name="shape 274"/>
          <p:cNvSpPr/>
          <p:nvPr/>
        </p:nvSpPr>
        <p:spPr>
          <a:xfrm>
            <a:off x="10844212" y="5238749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75" name="shape 275"/>
          <p:cNvSpPr/>
          <p:nvPr/>
        </p:nvSpPr>
        <p:spPr>
          <a:xfrm>
            <a:off x="10977562" y="508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76" name="shape 276"/>
          <p:cNvSpPr/>
          <p:nvPr/>
        </p:nvSpPr>
        <p:spPr>
          <a:xfrm>
            <a:off x="10977562" y="5340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77" name="shape 277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278" name="shape 278"/>
          <p:cNvSpPr/>
          <p:nvPr/>
        </p:nvSpPr>
        <p:spPr>
          <a:xfrm>
            <a:off x="546099" y="6146800"/>
            <a:ext cx="11099799" cy="5867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200" b="1">
                <a:solidFill>
                  <a:srgbClr val="111827"/>
                </a:solidFill>
              </a:rPr>
              <a:t>Evaluation emphasizes win balance, target diversity, legal base timing, push-box behavior and zero penetration.</a:t>
            </a:r>
            <a:endParaRPr lang="en-US" sz="2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Figure 4. Safety Diagnostics, Ablation Protocol and Failure-Mode Coverage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 top-tier experiment figure should expose what is tested, which constraints are active and where failures would be counted.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4889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Ablation matrix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1587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1663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Object
state</a:t>
            </a:r>
            <a:endParaRPr lang="en-US" sz="1200"/>
          </a:p>
        </p:txBody>
      </p:sp>
      <p:sp>
        <p:nvSpPr>
          <p:cNvPr id="9" name="shape 9"/>
          <p:cNvSpPr/>
          <p:nvPr/>
        </p:nvSpPr>
        <p:spPr>
          <a:xfrm>
            <a:off x="2158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2235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World
model</a:t>
            </a:r>
            <a:endParaRPr lang="en-US" sz="1200"/>
          </a:p>
        </p:txBody>
      </p:sp>
      <p:sp>
        <p:nvSpPr>
          <p:cNvPr id="11" name="shape 11"/>
          <p:cNvSpPr/>
          <p:nvPr/>
        </p:nvSpPr>
        <p:spPr>
          <a:xfrm>
            <a:off x="2730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806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Flow
actor</a:t>
            </a:r>
            <a:endParaRPr lang="en-US" sz="1200"/>
          </a:p>
        </p:txBody>
      </p:sp>
      <p:sp>
        <p:nvSpPr>
          <p:cNvPr id="13" name="shape 13"/>
          <p:cNvSpPr/>
          <p:nvPr/>
        </p:nvSpPr>
        <p:spPr>
          <a:xfrm>
            <a:off x="3301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3378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Expert
residual</a:t>
            </a:r>
            <a:endParaRPr lang="en-US" sz="1200"/>
          </a:p>
        </p:txBody>
      </p:sp>
      <p:sp>
        <p:nvSpPr>
          <p:cNvPr id="15" name="shape 15"/>
          <p:cNvSpPr/>
          <p:nvPr/>
        </p:nvSpPr>
        <p:spPr>
          <a:xfrm>
            <a:off x="3873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3949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Action
shield</a:t>
            </a:r>
            <a:endParaRPr lang="en-US" sz="1200"/>
          </a:p>
        </p:txBody>
      </p:sp>
      <p:sp>
        <p:nvSpPr>
          <p:cNvPr id="17" name="shape 17"/>
          <p:cNvSpPr/>
          <p:nvPr/>
        </p:nvSpPr>
        <p:spPr>
          <a:xfrm>
            <a:off x="495299" y="1384300"/>
            <a:ext cx="57626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Full method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1587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663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0" name="shape 20"/>
          <p:cNvSpPr/>
          <p:nvPr/>
        </p:nvSpPr>
        <p:spPr>
          <a:xfrm>
            <a:off x="2158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2235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2" name="shape 22"/>
          <p:cNvSpPr/>
          <p:nvPr/>
        </p:nvSpPr>
        <p:spPr>
          <a:xfrm>
            <a:off x="2730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2806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4" name="shape 24"/>
          <p:cNvSpPr/>
          <p:nvPr/>
        </p:nvSpPr>
        <p:spPr>
          <a:xfrm>
            <a:off x="3301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78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6" name="shape 26"/>
          <p:cNvSpPr/>
          <p:nvPr/>
        </p:nvSpPr>
        <p:spPr>
          <a:xfrm>
            <a:off x="3873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3949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8" name="shape 28"/>
          <p:cNvSpPr/>
          <p:nvPr/>
        </p:nvSpPr>
        <p:spPr>
          <a:xfrm>
            <a:off x="495299" y="1727199"/>
            <a:ext cx="78581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w/o world model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1587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663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1" name="shape 31"/>
          <p:cNvSpPr/>
          <p:nvPr/>
        </p:nvSpPr>
        <p:spPr>
          <a:xfrm>
            <a:off x="2158999" y="16446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2235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33" name="shape 33"/>
          <p:cNvSpPr/>
          <p:nvPr/>
        </p:nvSpPr>
        <p:spPr>
          <a:xfrm>
            <a:off x="2730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2806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5" name="shape 35"/>
          <p:cNvSpPr/>
          <p:nvPr/>
        </p:nvSpPr>
        <p:spPr>
          <a:xfrm>
            <a:off x="33019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3378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7" name="shape 37"/>
          <p:cNvSpPr/>
          <p:nvPr/>
        </p:nvSpPr>
        <p:spPr>
          <a:xfrm>
            <a:off x="3873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3949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9" name="shape 39"/>
          <p:cNvSpPr/>
          <p:nvPr/>
        </p:nvSpPr>
        <p:spPr>
          <a:xfrm>
            <a:off x="495299" y="2070100"/>
            <a:ext cx="89058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single-mode actor</a:t>
            </a:r>
            <a:endParaRPr lang="en-US" sz="1500"/>
          </a:p>
        </p:txBody>
      </p:sp>
      <p:sp>
        <p:nvSpPr>
          <p:cNvPr id="40" name="shape 40"/>
          <p:cNvSpPr/>
          <p:nvPr/>
        </p:nvSpPr>
        <p:spPr>
          <a:xfrm>
            <a:off x="1587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1663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2" name="shape 42"/>
          <p:cNvSpPr/>
          <p:nvPr/>
        </p:nvSpPr>
        <p:spPr>
          <a:xfrm>
            <a:off x="2158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2235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4" name="shape 44"/>
          <p:cNvSpPr/>
          <p:nvPr/>
        </p:nvSpPr>
        <p:spPr>
          <a:xfrm>
            <a:off x="2730499" y="19875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2806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46" name="shape 46"/>
          <p:cNvSpPr/>
          <p:nvPr/>
        </p:nvSpPr>
        <p:spPr>
          <a:xfrm>
            <a:off x="3301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3378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8" name="shape 48"/>
          <p:cNvSpPr/>
          <p:nvPr/>
        </p:nvSpPr>
        <p:spPr>
          <a:xfrm>
            <a:off x="3873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9" name="shape 49"/>
          <p:cNvSpPr/>
          <p:nvPr/>
        </p:nvSpPr>
        <p:spPr>
          <a:xfrm>
            <a:off x="3949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0" name="shape 50"/>
          <p:cNvSpPr/>
          <p:nvPr/>
        </p:nvSpPr>
        <p:spPr>
          <a:xfrm>
            <a:off x="495299" y="2413000"/>
            <a:ext cx="89058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residual prior</a:t>
            </a:r>
            <a:endParaRPr lang="en-US" sz="1500"/>
          </a:p>
        </p:txBody>
      </p:sp>
      <p:sp>
        <p:nvSpPr>
          <p:cNvPr id="51" name="shape 51"/>
          <p:cNvSpPr/>
          <p:nvPr/>
        </p:nvSpPr>
        <p:spPr>
          <a:xfrm>
            <a:off x="1587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1663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3" name="shape 53"/>
          <p:cNvSpPr/>
          <p:nvPr/>
        </p:nvSpPr>
        <p:spPr>
          <a:xfrm>
            <a:off x="21589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2235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5" name="shape 55"/>
          <p:cNvSpPr/>
          <p:nvPr/>
        </p:nvSpPr>
        <p:spPr>
          <a:xfrm>
            <a:off x="2730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6" name="shape 56"/>
          <p:cNvSpPr/>
          <p:nvPr/>
        </p:nvSpPr>
        <p:spPr>
          <a:xfrm>
            <a:off x="2806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7" name="shape 57"/>
          <p:cNvSpPr/>
          <p:nvPr/>
        </p:nvSpPr>
        <p:spPr>
          <a:xfrm>
            <a:off x="3301999" y="2330449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3378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59" name="shape 59"/>
          <p:cNvSpPr/>
          <p:nvPr/>
        </p:nvSpPr>
        <p:spPr>
          <a:xfrm>
            <a:off x="3873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3949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1" name="shape 61"/>
          <p:cNvSpPr/>
          <p:nvPr/>
        </p:nvSpPr>
        <p:spPr>
          <a:xfrm>
            <a:off x="495299" y="2755900"/>
            <a:ext cx="838199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action shield</a:t>
            </a:r>
            <a:endParaRPr lang="en-US" sz="1500"/>
          </a:p>
        </p:txBody>
      </p:sp>
      <p:sp>
        <p:nvSpPr>
          <p:cNvPr id="62" name="shape 62"/>
          <p:cNvSpPr/>
          <p:nvPr/>
        </p:nvSpPr>
        <p:spPr>
          <a:xfrm>
            <a:off x="1587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3" name="shape 63"/>
          <p:cNvSpPr/>
          <p:nvPr/>
        </p:nvSpPr>
        <p:spPr>
          <a:xfrm>
            <a:off x="1663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4" name="shape 64"/>
          <p:cNvSpPr/>
          <p:nvPr/>
        </p:nvSpPr>
        <p:spPr>
          <a:xfrm>
            <a:off x="2158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2235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6" name="shape 66"/>
          <p:cNvSpPr/>
          <p:nvPr/>
        </p:nvSpPr>
        <p:spPr>
          <a:xfrm>
            <a:off x="2730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7" name="shape 67"/>
          <p:cNvSpPr/>
          <p:nvPr/>
        </p:nvSpPr>
        <p:spPr>
          <a:xfrm>
            <a:off x="2806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8" name="shape 68"/>
          <p:cNvSpPr/>
          <p:nvPr/>
        </p:nvSpPr>
        <p:spPr>
          <a:xfrm>
            <a:off x="3301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9" name="shape 69"/>
          <p:cNvSpPr/>
          <p:nvPr/>
        </p:nvSpPr>
        <p:spPr>
          <a:xfrm>
            <a:off x="3378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70" name="shape 70"/>
          <p:cNvSpPr/>
          <p:nvPr/>
        </p:nvSpPr>
        <p:spPr>
          <a:xfrm>
            <a:off x="3873499" y="26733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3949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72" name="shape 72"/>
          <p:cNvSpPr/>
          <p:nvPr/>
        </p:nvSpPr>
        <p:spPr>
          <a:xfrm>
            <a:off x="482599" y="3124200"/>
            <a:ext cx="41274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>
                <a:solidFill>
                  <a:srgbClr val="111827"/>
                </a:solidFill>
              </a:rPr>
              <a:t>The matrix is a reproducible ablation protocol: report each row with the same contract metrics, replay audit and three-view media.</a:t>
            </a:r>
            <a:endParaRPr lang="en-US" sz="1300"/>
          </a:p>
        </p:txBody>
      </p:sp>
      <p:sp>
        <p:nvSpPr>
          <p:cNvPr id="73" name="shape 73"/>
          <p:cNvSpPr/>
          <p:nvPr/>
        </p:nvSpPr>
        <p:spPr>
          <a:xfrm>
            <a:off x="5397499" y="761999"/>
            <a:ext cx="31749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74" name="shape 74"/>
          <p:cNvSpPr/>
          <p:nvPr/>
        </p:nvSpPr>
        <p:spPr>
          <a:xfrm>
            <a:off x="5511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75" name="shape 75"/>
          <p:cNvSpPr/>
          <p:nvPr/>
        </p:nvSpPr>
        <p:spPr>
          <a:xfrm>
            <a:off x="57657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Measured safety audit</a:t>
            </a:r>
            <a:endParaRPr lang="en-US" sz="1800"/>
          </a:p>
        </p:txBody>
      </p:sp>
      <p:sp>
        <p:nvSpPr>
          <p:cNvPr id="76" name="shape 76"/>
          <p:cNvSpPr/>
          <p:nvPr/>
        </p:nvSpPr>
        <p:spPr>
          <a:xfrm>
            <a:off x="5607049" y="1289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7" name="shape 77"/>
          <p:cNvSpPr/>
          <p:nvPr/>
        </p:nvSpPr>
        <p:spPr>
          <a:xfrm>
            <a:off x="5714999" y="13525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78" name="shape 78"/>
          <p:cNvSpPr/>
          <p:nvPr/>
        </p:nvSpPr>
        <p:spPr>
          <a:xfrm>
            <a:off x="5937249" y="1301750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Static penetration</a:t>
            </a:r>
            <a:endParaRPr lang="en-US" sz="1600"/>
          </a:p>
        </p:txBody>
      </p:sp>
      <p:sp>
        <p:nvSpPr>
          <p:cNvPr id="79" name="shape 79"/>
          <p:cNvSpPr/>
          <p:nvPr/>
        </p:nvSpPr>
        <p:spPr>
          <a:xfrm>
            <a:off x="7746999" y="13017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0" name="shape 80"/>
          <p:cNvSpPr/>
          <p:nvPr/>
        </p:nvSpPr>
        <p:spPr>
          <a:xfrm>
            <a:off x="5607049" y="1733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5714999" y="1797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2" name="shape 82"/>
          <p:cNvSpPr/>
          <p:nvPr/>
        </p:nvSpPr>
        <p:spPr>
          <a:xfrm>
            <a:off x="5937249" y="1746250"/>
            <a:ext cx="83819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Box penetration</a:t>
            </a:r>
            <a:endParaRPr lang="en-US" sz="1600"/>
          </a:p>
        </p:txBody>
      </p:sp>
      <p:sp>
        <p:nvSpPr>
          <p:cNvPr id="83" name="shape 83"/>
          <p:cNvSpPr/>
          <p:nvPr/>
        </p:nvSpPr>
        <p:spPr>
          <a:xfrm>
            <a:off x="7746999" y="1746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4" name="shape 84"/>
          <p:cNvSpPr/>
          <p:nvPr/>
        </p:nvSpPr>
        <p:spPr>
          <a:xfrm>
            <a:off x="5607049" y="2178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5" name="shape 85"/>
          <p:cNvSpPr/>
          <p:nvPr/>
        </p:nvSpPr>
        <p:spPr>
          <a:xfrm>
            <a:off x="5714999" y="22415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6" name="shape 86"/>
          <p:cNvSpPr/>
          <p:nvPr/>
        </p:nvSpPr>
        <p:spPr>
          <a:xfrm>
            <a:off x="5937249" y="2190749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Robot contact/game</a:t>
            </a:r>
            <a:endParaRPr lang="en-US" sz="1600"/>
          </a:p>
        </p:txBody>
      </p:sp>
      <p:sp>
        <p:nvSpPr>
          <p:cNvPr id="87" name="shape 87"/>
          <p:cNvSpPr/>
          <p:nvPr/>
        </p:nvSpPr>
        <p:spPr>
          <a:xfrm>
            <a:off x="7746999" y="219074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8" name="shape 88"/>
          <p:cNvSpPr/>
          <p:nvPr/>
        </p:nvSpPr>
        <p:spPr>
          <a:xfrm>
            <a:off x="5607049" y="2622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89" name="shape 89"/>
          <p:cNvSpPr/>
          <p:nvPr/>
        </p:nvSpPr>
        <p:spPr>
          <a:xfrm>
            <a:off x="5714999" y="2686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90" name="shape 90"/>
          <p:cNvSpPr/>
          <p:nvPr/>
        </p:nvSpPr>
        <p:spPr>
          <a:xfrm>
            <a:off x="5937249" y="2635250"/>
            <a:ext cx="106171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Repeat target order</a:t>
            </a:r>
            <a:endParaRPr lang="en-US" sz="1600"/>
          </a:p>
        </p:txBody>
      </p:sp>
      <p:sp>
        <p:nvSpPr>
          <p:cNvPr id="91" name="shape 91"/>
          <p:cNvSpPr/>
          <p:nvPr/>
        </p:nvSpPr>
        <p:spPr>
          <a:xfrm>
            <a:off x="7746999" y="2635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92" name="shape 92"/>
          <p:cNvSpPr/>
          <p:nvPr/>
        </p:nvSpPr>
        <p:spPr>
          <a:xfrm>
            <a:off x="8826499" y="761999"/>
            <a:ext cx="3111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3" name="shape 93"/>
          <p:cNvSpPr/>
          <p:nvPr/>
        </p:nvSpPr>
        <p:spPr>
          <a:xfrm>
            <a:off x="8940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94" name="shape 94"/>
          <p:cNvSpPr/>
          <p:nvPr/>
        </p:nvSpPr>
        <p:spPr>
          <a:xfrm>
            <a:off x="9194799" y="84455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Observed behavior</a:t>
            </a:r>
            <a:endParaRPr lang="en-US" sz="1800"/>
          </a:p>
        </p:txBody>
      </p:sp>
      <p:sp>
        <p:nvSpPr>
          <p:cNvPr id="95" name="shape 95"/>
          <p:cNvSpPr/>
          <p:nvPr/>
        </p:nvSpPr>
        <p:spPr>
          <a:xfrm>
            <a:off x="9112249" y="13017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96" name="shape 96"/>
          <p:cNvSpPr/>
          <p:nvPr/>
        </p:nvSpPr>
        <p:spPr>
          <a:xfrm>
            <a:off x="9188449" y="1377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Yellow push events/game: 2.09</a:t>
            </a:r>
            <a:endParaRPr lang="en-US" sz="1400"/>
          </a:p>
        </p:txBody>
      </p:sp>
      <p:sp>
        <p:nvSpPr>
          <p:cNvPr id="97" name="shape 97"/>
          <p:cNvSpPr/>
          <p:nvPr/>
        </p:nvSpPr>
        <p:spPr>
          <a:xfrm>
            <a:off x="9112249" y="1746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8" name="shape 98"/>
          <p:cNvSpPr/>
          <p:nvPr/>
        </p:nvSpPr>
        <p:spPr>
          <a:xfrm>
            <a:off x="9188449" y="1822449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Blue push events/game: 0.42</a:t>
            </a:r>
            <a:endParaRPr lang="en-US" sz="1400"/>
          </a:p>
        </p:txBody>
      </p:sp>
      <p:sp>
        <p:nvSpPr>
          <p:cNvPr id="99" name="shape 99"/>
          <p:cNvSpPr/>
          <p:nvPr/>
        </p:nvSpPr>
        <p:spPr>
          <a:xfrm>
            <a:off x="9112249" y="2190749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off x="9188449" y="2266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box_ne final displacement: 0.119 m</a:t>
            </a:r>
            <a:endParaRPr lang="en-US" sz="1400"/>
          </a:p>
        </p:txBody>
      </p:sp>
      <p:sp>
        <p:nvSpPr>
          <p:cNvPr id="101" name="shape 101"/>
          <p:cNvSpPr/>
          <p:nvPr/>
        </p:nvSpPr>
        <p:spPr>
          <a:xfrm>
            <a:off x="9112249" y="2635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102" name="shape 102"/>
          <p:cNvSpPr/>
          <p:nvPr/>
        </p:nvSpPr>
        <p:spPr>
          <a:xfrm>
            <a:off x="9188449" y="27114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box_sw final displacement: 0.025 m</a:t>
            </a:r>
            <a:endParaRPr lang="en-US" sz="1400"/>
          </a:p>
        </p:txBody>
      </p:sp>
      <p:sp>
        <p:nvSpPr>
          <p:cNvPr id="103" name="shape 103"/>
          <p:cNvSpPr/>
          <p:nvPr/>
        </p:nvSpPr>
        <p:spPr>
          <a:xfrm>
            <a:off x="241299" y="3746500"/>
            <a:ext cx="116966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355599" y="3822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105" name="shape 105"/>
          <p:cNvSpPr/>
          <p:nvPr/>
        </p:nvSpPr>
        <p:spPr>
          <a:xfrm>
            <a:off x="609599" y="3829050"/>
            <a:ext cx="352043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Failure modes explicitly checked before claiming success</a:t>
            </a:r>
            <a:endParaRPr lang="en-US" sz="1800"/>
          </a:p>
        </p:txBody>
      </p:sp>
      <p:sp>
        <p:nvSpPr>
          <p:cNvPr id="106" name="shape 106"/>
          <p:cNvSpPr/>
          <p:nvPr/>
        </p:nvSpPr>
        <p:spPr>
          <a:xfrm>
            <a:off x="520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07" name="shape 107"/>
          <p:cNvSpPr/>
          <p:nvPr/>
        </p:nvSpPr>
        <p:spPr>
          <a:xfrm>
            <a:off x="596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Base before armor removal
raycast blocked, shot rejected</a:t>
            </a:r>
            <a:endParaRPr lang="en-US" sz="1400"/>
          </a:p>
        </p:txBody>
      </p:sp>
      <p:sp>
        <p:nvSpPr>
          <p:cNvPr id="108" name="shape 108"/>
          <p:cNvSpPr/>
          <p:nvPr/>
        </p:nvSpPr>
        <p:spPr>
          <a:xfrm>
            <a:off x="27749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28511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&lt;0.80 s laser dwell
100% cannot knock target</a:t>
            </a:r>
            <a:endParaRPr lang="en-US" sz="1400"/>
          </a:p>
        </p:txBody>
      </p:sp>
      <p:sp>
        <p:nvSpPr>
          <p:cNvPr id="110" name="shape 110"/>
          <p:cNvSpPr/>
          <p:nvPr/>
        </p:nvSpPr>
        <p:spPr>
          <a:xfrm>
            <a:off x="50291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11" name="shape 111"/>
          <p:cNvSpPr/>
          <p:nvPr/>
        </p:nvSpPr>
        <p:spPr>
          <a:xfrm>
            <a:off x="51053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Box/armor collision
hard penetration audited</a:t>
            </a:r>
            <a:endParaRPr lang="en-US" sz="1400"/>
          </a:p>
        </p:txBody>
      </p:sp>
      <p:sp>
        <p:nvSpPr>
          <p:cNvPr id="112" name="shape 112"/>
          <p:cNvSpPr/>
          <p:nvPr/>
        </p:nvSpPr>
        <p:spPr>
          <a:xfrm>
            <a:off x="72834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off x="73596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Stuck near firing pose
micro-aim + side nudges</a:t>
            </a:r>
            <a:endParaRPr lang="en-US" sz="1400"/>
          </a:p>
        </p:txBody>
      </p:sp>
      <p:sp>
        <p:nvSpPr>
          <p:cNvPr id="114" name="shape 114"/>
          <p:cNvSpPr/>
          <p:nvPr/>
        </p:nvSpPr>
        <p:spPr>
          <a:xfrm>
            <a:off x="9537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9613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One-route collapse
normal-hit distribution logged</a:t>
            </a:r>
            <a:endParaRPr lang="en-US" sz="1400"/>
          </a:p>
        </p:txBody>
      </p:sp>
      <p:sp>
        <p:nvSpPr>
          <p:cNvPr id="116" name="shape 116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The formal claim is tied to rule audits and replay evidence, not reward-only curves.</a:t>
            </a:r>
            <a:endParaRPr lang="en-US" sz="2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Figure 5. Sim2Real Evidence Pipeline with Three-View Replay Artifacts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The final figure connects ROS2 deployment interfaces, IsaacLab physics replay, strict audit files and README GIF evidence.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34924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ROS2 runtime contract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622299" y="1301750"/>
            <a:ext cx="2412999" cy="4445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98499" y="1377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rcvrl_vision
AprilTag / target detection</a:t>
            </a:r>
            <a:endParaRPr lang="en-US" sz="1500"/>
          </a:p>
        </p:txBody>
      </p:sp>
      <p:cxnSp>
        <p:nvCxnSpPr>
          <p:cNvPr id="9" name="line 9"/>
          <p:cNvCxnSpPr/>
          <p:nvPr/>
        </p:nvCxnSpPr>
        <p:spPr>
          <a:xfrm>
            <a:off x="1828799" y="1746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" name="shape 10"/>
          <p:cNvSpPr/>
          <p:nvPr/>
        </p:nvSpPr>
        <p:spPr>
          <a:xfrm>
            <a:off x="622299" y="2063750"/>
            <a:ext cx="2412999" cy="4445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698499" y="2139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robot_localization
wheel odom + IMU EKF</a:t>
            </a:r>
            <a:endParaRPr lang="en-US" sz="1500"/>
          </a:p>
        </p:txBody>
      </p:sp>
      <p:cxnSp>
        <p:nvCxnSpPr>
          <p:cNvPr id="12" name="line 12"/>
          <p:cNvCxnSpPr/>
          <p:nvPr/>
        </p:nvCxnSpPr>
        <p:spPr>
          <a:xfrm>
            <a:off x="1828799" y="2508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" name="shape 13"/>
          <p:cNvSpPr/>
          <p:nvPr/>
        </p:nvSpPr>
        <p:spPr>
          <a:xfrm>
            <a:off x="622299" y="2825750"/>
            <a:ext cx="2412999" cy="4445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98499" y="2901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Nav2 controller
costmap + cmd_vel</a:t>
            </a:r>
            <a:endParaRPr lang="en-US" sz="1500"/>
          </a:p>
        </p:txBody>
      </p:sp>
      <p:cxnSp>
        <p:nvCxnSpPr>
          <p:cNvPr id="15" name="line 15"/>
          <p:cNvCxnSpPr/>
          <p:nvPr/>
        </p:nvCxnSpPr>
        <p:spPr>
          <a:xfrm>
            <a:off x="1828799" y="3270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622299" y="3587750"/>
            <a:ext cx="2412999" cy="4445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98499" y="3663949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shooter services
laser dwell gate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3968749" y="761999"/>
            <a:ext cx="4190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083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0" name="shape 20"/>
          <p:cNvSpPr/>
          <p:nvPr/>
        </p:nvSpPr>
        <p:spPr>
          <a:xfrm>
            <a:off x="4337049" y="844550"/>
            <a:ext cx="182308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Policy-in-the-loop simulation</a:t>
            </a:r>
            <a:endParaRPr lang="en-US" sz="1800"/>
          </a:p>
        </p:txBody>
      </p:sp>
      <p:sp>
        <p:nvSpPr>
          <p:cNvPr id="21" name="shape 21"/>
          <p:cNvSpPr/>
          <p:nvPr/>
        </p:nvSpPr>
        <p:spPr>
          <a:xfrm>
            <a:off x="4381499" y="1333500"/>
            <a:ext cx="1396999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4457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IsaacLab arena
robots, targets, boxes</a:t>
            </a:r>
            <a:endParaRPr lang="en-US" sz="1500"/>
          </a:p>
        </p:txBody>
      </p:sp>
      <p:sp>
        <p:nvSpPr>
          <p:cNvPr id="23" name="shape 23"/>
          <p:cNvSpPr/>
          <p:nvPr/>
        </p:nvSpPr>
        <p:spPr>
          <a:xfrm>
            <a:off x="6413499" y="1333500"/>
            <a:ext cx="1396999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4" name="shape 24"/>
          <p:cNvSpPr/>
          <p:nvPr/>
        </p:nvSpPr>
        <p:spPr>
          <a:xfrm>
            <a:off x="6489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Rule environment
fast parallel rollout</a:t>
            </a:r>
            <a:endParaRPr lang="en-US" sz="1500"/>
          </a:p>
        </p:txBody>
      </p:sp>
      <p:sp>
        <p:nvSpPr>
          <p:cNvPr id="25" name="shape 25"/>
          <p:cNvSpPr/>
          <p:nvPr/>
        </p:nvSpPr>
        <p:spPr>
          <a:xfrm>
            <a:off x="5397499" y="2476500"/>
            <a:ext cx="1460499" cy="4826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473699" y="2552700"/>
            <a:ext cx="1308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World-model SAC Flow
high-level tactical actor</a:t>
            </a:r>
            <a:endParaRPr lang="en-US" sz="1500"/>
          </a:p>
        </p:txBody>
      </p:sp>
      <p:sp>
        <p:nvSpPr>
          <p:cNvPr id="27" name="shape 27"/>
          <p:cNvSpPr/>
          <p:nvPr/>
        </p:nvSpPr>
        <p:spPr>
          <a:xfrm>
            <a:off x="4508499" y="3619500"/>
            <a:ext cx="13969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45846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 eval
128+ stochastic games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6349999" y="3619500"/>
            <a:ext cx="1396999" cy="457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4261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replay
step-wise audit</a:t>
            </a:r>
            <a:endParaRPr lang="en-US" sz="1500"/>
          </a:p>
        </p:txBody>
      </p:sp>
      <p:cxnSp>
        <p:nvCxnSpPr>
          <p:cNvPr id="31" name="line 31"/>
          <p:cNvCxnSpPr/>
          <p:nvPr/>
        </p:nvCxnSpPr>
        <p:spPr>
          <a:xfrm>
            <a:off x="5778499" y="1562100"/>
            <a:ext cx="634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2" name="line 32"/>
          <p:cNvCxnSpPr/>
          <p:nvPr/>
        </p:nvCxnSpPr>
        <p:spPr>
          <a:xfrm>
            <a:off x="6222999" y="1790700"/>
            <a:ext cx="888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3" name="line 33"/>
          <p:cNvCxnSpPr/>
          <p:nvPr/>
        </p:nvCxnSpPr>
        <p:spPr>
          <a:xfrm>
            <a:off x="5079999" y="1790700"/>
            <a:ext cx="761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5206999" y="2959100"/>
            <a:ext cx="7619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6349999" y="2959100"/>
            <a:ext cx="6984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36" name="shape 36"/>
          <p:cNvSpPr/>
          <p:nvPr/>
        </p:nvSpPr>
        <p:spPr>
          <a:xfrm>
            <a:off x="4825999" y="4603750"/>
            <a:ext cx="2539999" cy="330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4902199" y="4679950"/>
            <a:ext cx="2387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strict replay: 0 hard violations, 0 warnings</a:t>
            </a:r>
            <a:endParaRPr lang="en-US" sz="1600"/>
          </a:p>
        </p:txBody>
      </p:sp>
      <p:sp>
        <p:nvSpPr>
          <p:cNvPr id="38" name="shape 38"/>
          <p:cNvSpPr/>
          <p:nvPr/>
        </p:nvSpPr>
        <p:spPr>
          <a:xfrm>
            <a:off x="8381999" y="761999"/>
            <a:ext cx="3555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84962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40" name="shape 40"/>
          <p:cNvSpPr/>
          <p:nvPr/>
        </p:nvSpPr>
        <p:spPr>
          <a:xfrm>
            <a:off x="8750299" y="844550"/>
            <a:ext cx="157162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Published replay evidence</a:t>
            </a:r>
            <a:endParaRPr lang="en-US" sz="1800"/>
          </a:p>
        </p:txBody>
      </p:sp>
      <p:sp>
        <p:nvSpPr>
          <p:cNvPr id="41" name="shape 41"/>
          <p:cNvSpPr/>
          <p:nvPr/>
        </p:nvSpPr>
        <p:spPr>
          <a:xfrm>
            <a:off x="8635999" y="1206500"/>
            <a:ext cx="1396999" cy="78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A34A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top-view first</a:t>
            </a:r>
            <a:endParaRPr lang="en-US" sz="1200"/>
          </a:p>
        </p:txBody>
      </p:sp>
      <p:sp>
        <p:nvSpPr>
          <p:cNvPr id="42" name="shape 42"/>
          <p:cNvSpPr/>
          <p:nvPr/>
        </p:nvSpPr>
        <p:spPr>
          <a:xfrm>
            <a:off x="10191749" y="1206500"/>
            <a:ext cx="1396999" cy="78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B82E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yellow POV</a:t>
            </a:r>
            <a:endParaRPr lang="en-US" sz="1200"/>
          </a:p>
        </p:txBody>
      </p:sp>
      <p:sp>
        <p:nvSpPr>
          <p:cNvPr id="43" name="shape 43"/>
          <p:cNvSpPr/>
          <p:nvPr/>
        </p:nvSpPr>
        <p:spPr>
          <a:xfrm>
            <a:off x="9429749" y="2159000"/>
            <a:ext cx="1396999" cy="78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blue POV</a:t>
            </a:r>
            <a:endParaRPr lang="en-US" sz="1200"/>
          </a:p>
        </p:txBody>
      </p:sp>
      <p:cxnSp>
        <p:nvCxnSpPr>
          <p:cNvPr id="44" name="line 44"/>
          <p:cNvCxnSpPr/>
          <p:nvPr/>
        </p:nvCxnSpPr>
        <p:spPr>
          <a:xfrm>
            <a:off x="9321799" y="1993899"/>
            <a:ext cx="488949" cy="16510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cxnSp>
        <p:nvCxnSpPr>
          <p:cNvPr id="45" name="line 45"/>
          <p:cNvCxnSpPr/>
          <p:nvPr/>
        </p:nvCxnSpPr>
        <p:spPr>
          <a:xfrm>
            <a:off x="10210799" y="1993899"/>
            <a:ext cx="679449" cy="16510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46" name="shape 46"/>
          <p:cNvSpPr/>
          <p:nvPr/>
        </p:nvSpPr>
        <p:spPr>
          <a:xfrm>
            <a:off x="8826499" y="3333750"/>
            <a:ext cx="2603499" cy="292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8902699" y="3409950"/>
            <a:ext cx="2451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policy checkpoint + export manifest</a:t>
            </a:r>
            <a:endParaRPr lang="en-US" sz="1400"/>
          </a:p>
        </p:txBody>
      </p:sp>
      <p:sp>
        <p:nvSpPr>
          <p:cNvPr id="48" name="shape 48"/>
          <p:cNvSpPr/>
          <p:nvPr/>
        </p:nvSpPr>
        <p:spPr>
          <a:xfrm>
            <a:off x="8826499" y="3803649"/>
            <a:ext cx="2603499" cy="292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49" name="shape 49"/>
          <p:cNvSpPr/>
          <p:nvPr/>
        </p:nvSpPr>
        <p:spPr>
          <a:xfrm>
            <a:off x="8902699" y="3879850"/>
            <a:ext cx="2451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contract JSON/CSV + regenerated figures</a:t>
            </a:r>
            <a:endParaRPr lang="en-US" sz="1400"/>
          </a:p>
        </p:txBody>
      </p:sp>
      <p:sp>
        <p:nvSpPr>
          <p:cNvPr id="50" name="shape 50"/>
          <p:cNvSpPr/>
          <p:nvPr/>
        </p:nvSpPr>
        <p:spPr>
          <a:xfrm>
            <a:off x="8826499" y="4273550"/>
            <a:ext cx="2603499" cy="292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1" name="shape 51"/>
          <p:cNvSpPr/>
          <p:nvPr/>
        </p:nvSpPr>
        <p:spPr>
          <a:xfrm>
            <a:off x="8902699" y="4349750"/>
            <a:ext cx="24510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strict trace + event log + audit report</a:t>
            </a:r>
            <a:endParaRPr lang="en-US" sz="1400"/>
          </a:p>
        </p:txBody>
      </p:sp>
      <p:sp>
        <p:nvSpPr>
          <p:cNvPr id="52" name="shape 52"/>
          <p:cNvSpPr/>
          <p:nvPr/>
        </p:nvSpPr>
        <p:spPr>
          <a:xfrm>
            <a:off x="8858249" y="4889499"/>
            <a:ext cx="2508249" cy="330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53" name="shape 53"/>
          <p:cNvSpPr/>
          <p:nvPr/>
        </p:nvSpPr>
        <p:spPr>
          <a:xfrm>
            <a:off x="8934449" y="4965700"/>
            <a:ext cx="23558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README order: top replay GIF first, then method and experiment figures</a:t>
            </a:r>
            <a:endParaRPr lang="en-US" sz="1400"/>
          </a:p>
        </p:txBody>
      </p:sp>
      <p:sp>
        <p:nvSpPr>
          <p:cNvPr id="54" name="shape 54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55" name="shape 55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Final media and metrics are generated from audited traces and linked directly in README.</a:t>
            </a:r>
            <a:endParaRPr lang="en-US" sz="2300"/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Generated editable PPTX master</Application>
  <Slides>5</Slides>
</Properties>
</file>

<file path=docProps/core.xml><?xml version="1.0" encoding="utf-8"?>
<cp:coreProperties xmlns:cp="http://schemas.openxmlformats.org/package/2006/metadata/core-properties" xmlns:dc="http://purl.org/dc/elements/1.1/">
  <dc:title>World Model SAC Flow Paper Figures</dc:title>
  <dc:creator>Codex</dc:creator>
</cp:coreProperties>
</file>