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241299" y="114300"/>
            <a:ext cx="9524999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2400" b="1">
                <a:solidFill>
                  <a:srgbClr val="111827"/>
                </a:solidFill>
              </a:rPr>
              <a:t>Object-Centric World-Model Flow RL for Multi-Agent Robotic Competition</a:t>
            </a:r>
            <a:endParaRPr lang="en-US" sz="2400"/>
          </a:p>
        </p:txBody>
      </p:sp>
      <p:sp>
        <p:nvSpPr>
          <p:cNvPr id="3" name="shape 3"/>
          <p:cNvSpPr/>
          <p:nvPr/>
        </p:nvSpPr>
        <p:spPr>
          <a:xfrm>
            <a:off x="266699" y="393700"/>
            <a:ext cx="9524999" cy="1904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From ROS2/IsaacLab events to object tokens, flow-policy self-play, strict rule audit and three-view replay.</a:t>
            </a:r>
            <a:endParaRPr lang="en-US" sz="1200"/>
          </a:p>
        </p:txBody>
      </p:sp>
      <p:sp>
        <p:nvSpPr>
          <p:cNvPr id="4" name="shape 4"/>
          <p:cNvSpPr/>
          <p:nvPr/>
        </p:nvSpPr>
        <p:spPr>
          <a:xfrm>
            <a:off x="177799" y="736600"/>
            <a:ext cx="3778249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292099" y="8128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(a)</a:t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546099" y="819150"/>
            <a:ext cx="257746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From arena events to object-centric state</a:t>
            </a:r>
            <a:endParaRPr lang="en-US" sz="1800"/>
          </a:p>
        </p:txBody>
      </p:sp>
      <p:sp>
        <p:nvSpPr>
          <p:cNvPr id="7" name="shape 7"/>
          <p:cNvSpPr/>
          <p:nvPr/>
        </p:nvSpPr>
        <p:spPr>
          <a:xfrm>
            <a:off x="380999" y="1079500"/>
            <a:ext cx="1511299" cy="15113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B46D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546099" y="1244600"/>
            <a:ext cx="106870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Match event table</a:t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95299" y="1498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t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761999" y="1498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robot</a:t>
            </a:r>
            <a:endParaRPr lang="en-US" sz="1200"/>
          </a:p>
        </p:txBody>
      </p:sp>
      <p:sp>
        <p:nvSpPr>
          <p:cNvPr id="11" name="shape 11"/>
          <p:cNvSpPr/>
          <p:nvPr/>
        </p:nvSpPr>
        <p:spPr>
          <a:xfrm>
            <a:off x="1028699" y="1498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target</a:t>
            </a:r>
            <a:endParaRPr lang="en-US" sz="1200"/>
          </a:p>
        </p:txBody>
      </p:sp>
      <p:sp>
        <p:nvSpPr>
          <p:cNvPr id="12" name="shape 12"/>
          <p:cNvSpPr/>
          <p:nvPr/>
        </p:nvSpPr>
        <p:spPr>
          <a:xfrm>
            <a:off x="1295399" y="1498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box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1562099" y="1498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score</a:t>
            </a:r>
            <a:endParaRPr lang="en-US" sz="1200"/>
          </a:p>
        </p:txBody>
      </p:sp>
      <p:cxnSp>
        <p:nvCxnSpPr>
          <p:cNvPr id="14" name="line 14"/>
          <p:cNvCxnSpPr/>
          <p:nvPr/>
        </p:nvCxnSpPr>
        <p:spPr>
          <a:xfrm>
            <a:off x="457199" y="1638300"/>
            <a:ext cx="1244599" cy="1"/>
          </a:xfrm>
          <a:prstGeom prst="line">
            <a:avLst/>
          </a:prstGeom>
          <a:ln w="19050">
            <a:solidFill>
              <a:srgbClr val="CBD5E1"/>
            </a:solidFill>
            <a:tailEnd type="triangle"/>
          </a:ln>
        </p:spPr>
      </p:cxnSp>
      <p:sp>
        <p:nvSpPr>
          <p:cNvPr id="15" name="shape 15"/>
          <p:cNvSpPr/>
          <p:nvPr/>
        </p:nvSpPr>
        <p:spPr>
          <a:xfrm>
            <a:off x="495299" y="17145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0.0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761999" y="17145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Y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1028699" y="17145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T01</a:t>
            </a:r>
            <a:endParaRPr lang="en-US" sz="1200"/>
          </a:p>
        </p:txBody>
      </p:sp>
      <p:sp>
        <p:nvSpPr>
          <p:cNvPr id="18" name="shape 18"/>
          <p:cNvSpPr/>
          <p:nvPr/>
        </p:nvSpPr>
        <p:spPr>
          <a:xfrm>
            <a:off x="1295399" y="17145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NE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1562099" y="17145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0</a:t>
            </a:r>
            <a:endParaRPr lang="en-US" sz="1200"/>
          </a:p>
        </p:txBody>
      </p:sp>
      <p:cxnSp>
        <p:nvCxnSpPr>
          <p:cNvPr id="20" name="line 20"/>
          <p:cNvCxnSpPr/>
          <p:nvPr/>
        </p:nvCxnSpPr>
        <p:spPr>
          <a:xfrm>
            <a:off x="457199" y="1866899"/>
            <a:ext cx="1244599" cy="1"/>
          </a:xfrm>
          <a:prstGeom prst="line">
            <a:avLst/>
          </a:prstGeom>
          <a:ln w="19050">
            <a:solidFill>
              <a:srgbClr val="CBD5E1"/>
            </a:solidFill>
            <a:tailEnd type="triangle"/>
          </a:ln>
        </p:spPr>
      </p:cxnSp>
      <p:sp>
        <p:nvSpPr>
          <p:cNvPr id="21" name="shape 21"/>
          <p:cNvSpPr/>
          <p:nvPr/>
        </p:nvSpPr>
        <p:spPr>
          <a:xfrm>
            <a:off x="495299" y="19431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7.4</a:t>
            </a:r>
            <a:endParaRPr lang="en-US" sz="1200"/>
          </a:p>
        </p:txBody>
      </p:sp>
      <p:sp>
        <p:nvSpPr>
          <p:cNvPr id="22" name="shape 22"/>
          <p:cNvSpPr/>
          <p:nvPr/>
        </p:nvSpPr>
        <p:spPr>
          <a:xfrm>
            <a:off x="761999" y="19431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B</a:t>
            </a:r>
            <a:endParaRPr lang="en-US" sz="1200"/>
          </a:p>
        </p:txBody>
      </p:sp>
      <p:sp>
        <p:nvSpPr>
          <p:cNvPr id="23" name="shape 23"/>
          <p:cNvSpPr/>
          <p:nvPr/>
        </p:nvSpPr>
        <p:spPr>
          <a:xfrm>
            <a:off x="1028699" y="19431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T08</a:t>
            </a:r>
            <a:endParaRPr lang="en-US" sz="1200"/>
          </a:p>
        </p:txBody>
      </p:sp>
      <p:sp>
        <p:nvSpPr>
          <p:cNvPr id="24" name="shape 24"/>
          <p:cNvSpPr/>
          <p:nvPr/>
        </p:nvSpPr>
        <p:spPr>
          <a:xfrm>
            <a:off x="1295399" y="19431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SW</a:t>
            </a:r>
            <a:endParaRPr lang="en-US" sz="1200"/>
          </a:p>
        </p:txBody>
      </p:sp>
      <p:sp>
        <p:nvSpPr>
          <p:cNvPr id="25" name="shape 25"/>
          <p:cNvSpPr/>
          <p:nvPr/>
        </p:nvSpPr>
        <p:spPr>
          <a:xfrm>
            <a:off x="1562099" y="19431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5</a:t>
            </a:r>
            <a:endParaRPr lang="en-US" sz="1200"/>
          </a:p>
        </p:txBody>
      </p:sp>
      <p:cxnSp>
        <p:nvCxnSpPr>
          <p:cNvPr id="26" name="line 26"/>
          <p:cNvCxnSpPr/>
          <p:nvPr/>
        </p:nvCxnSpPr>
        <p:spPr>
          <a:xfrm>
            <a:off x="457199" y="2095500"/>
            <a:ext cx="1244599" cy="1"/>
          </a:xfrm>
          <a:prstGeom prst="line">
            <a:avLst/>
          </a:prstGeom>
          <a:ln w="19050">
            <a:solidFill>
              <a:srgbClr val="CBD5E1"/>
            </a:solidFill>
            <a:tailEnd type="triangle"/>
          </a:ln>
        </p:spPr>
      </p:cxnSp>
      <p:sp>
        <p:nvSpPr>
          <p:cNvPr id="27" name="shape 27"/>
          <p:cNvSpPr/>
          <p:nvPr/>
        </p:nvSpPr>
        <p:spPr>
          <a:xfrm>
            <a:off x="495299" y="21717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18.2</a:t>
            </a:r>
            <a:endParaRPr lang="en-US" sz="1200"/>
          </a:p>
        </p:txBody>
      </p:sp>
      <p:sp>
        <p:nvSpPr>
          <p:cNvPr id="28" name="shape 28"/>
          <p:cNvSpPr/>
          <p:nvPr/>
        </p:nvSpPr>
        <p:spPr>
          <a:xfrm>
            <a:off x="761999" y="21717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Y</a:t>
            </a:r>
            <a:endParaRPr lang="en-US" sz="1200"/>
          </a:p>
        </p:txBody>
      </p:sp>
      <p:sp>
        <p:nvSpPr>
          <p:cNvPr id="29" name="shape 29"/>
          <p:cNvSpPr/>
          <p:nvPr/>
        </p:nvSpPr>
        <p:spPr>
          <a:xfrm>
            <a:off x="1028699" y="21717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Base</a:t>
            </a:r>
            <a:endParaRPr lang="en-US" sz="1200"/>
          </a:p>
        </p:txBody>
      </p:sp>
      <p:sp>
        <p:nvSpPr>
          <p:cNvPr id="30" name="shape 30"/>
          <p:cNvSpPr/>
          <p:nvPr/>
        </p:nvSpPr>
        <p:spPr>
          <a:xfrm>
            <a:off x="1295399" y="21717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NE</a:t>
            </a:r>
            <a:endParaRPr lang="en-US" sz="1200"/>
          </a:p>
        </p:txBody>
      </p:sp>
      <p:sp>
        <p:nvSpPr>
          <p:cNvPr id="31" name="shape 31"/>
          <p:cNvSpPr/>
          <p:nvPr/>
        </p:nvSpPr>
        <p:spPr>
          <a:xfrm>
            <a:off x="1562099" y="21717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70</a:t>
            </a:r>
            <a:endParaRPr lang="en-US" sz="1200"/>
          </a:p>
        </p:txBody>
      </p:sp>
      <p:cxnSp>
        <p:nvCxnSpPr>
          <p:cNvPr id="32" name="line 32"/>
          <p:cNvCxnSpPr/>
          <p:nvPr/>
        </p:nvCxnSpPr>
        <p:spPr>
          <a:xfrm>
            <a:off x="457199" y="2324100"/>
            <a:ext cx="1244599" cy="1"/>
          </a:xfrm>
          <a:prstGeom prst="line">
            <a:avLst/>
          </a:prstGeom>
          <a:ln w="19050">
            <a:solidFill>
              <a:srgbClr val="CBD5E1"/>
            </a:solidFill>
            <a:tailEnd type="triangle"/>
          </a:ln>
        </p:spPr>
      </p:cxnSp>
      <p:sp>
        <p:nvSpPr>
          <p:cNvPr id="33" name="shape 33"/>
          <p:cNvSpPr/>
          <p:nvPr/>
        </p:nvSpPr>
        <p:spPr>
          <a:xfrm>
            <a:off x="495299" y="24003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30.8</a:t>
            </a:r>
            <a:endParaRPr lang="en-US" sz="1200"/>
          </a:p>
        </p:txBody>
      </p:sp>
      <p:sp>
        <p:nvSpPr>
          <p:cNvPr id="34" name="shape 34"/>
          <p:cNvSpPr/>
          <p:nvPr/>
        </p:nvSpPr>
        <p:spPr>
          <a:xfrm>
            <a:off x="761999" y="24003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B</a:t>
            </a:r>
            <a:endParaRPr lang="en-US" sz="1200"/>
          </a:p>
        </p:txBody>
      </p:sp>
      <p:sp>
        <p:nvSpPr>
          <p:cNvPr id="35" name="shape 35"/>
          <p:cNvSpPr/>
          <p:nvPr/>
        </p:nvSpPr>
        <p:spPr>
          <a:xfrm>
            <a:off x="1028699" y="24003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Base</a:t>
            </a:r>
            <a:endParaRPr lang="en-US" sz="1200"/>
          </a:p>
        </p:txBody>
      </p:sp>
      <p:sp>
        <p:nvSpPr>
          <p:cNvPr id="36" name="shape 36"/>
          <p:cNvSpPr/>
          <p:nvPr/>
        </p:nvSpPr>
        <p:spPr>
          <a:xfrm>
            <a:off x="1295399" y="24003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SW</a:t>
            </a:r>
            <a:endParaRPr lang="en-US" sz="1200"/>
          </a:p>
        </p:txBody>
      </p:sp>
      <p:sp>
        <p:nvSpPr>
          <p:cNvPr id="37" name="shape 37"/>
          <p:cNvSpPr/>
          <p:nvPr/>
        </p:nvSpPr>
        <p:spPr>
          <a:xfrm>
            <a:off x="1562099" y="24003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70</a:t>
            </a:r>
            <a:endParaRPr lang="en-US" sz="1200"/>
          </a:p>
        </p:txBody>
      </p:sp>
      <p:cxnSp>
        <p:nvCxnSpPr>
          <p:cNvPr id="38" name="line 38"/>
          <p:cNvCxnSpPr/>
          <p:nvPr/>
        </p:nvCxnSpPr>
        <p:spPr>
          <a:xfrm>
            <a:off x="1981199" y="1816100"/>
            <a:ext cx="431799" cy="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</p:cxnSp>
      <p:sp>
        <p:nvSpPr>
          <p:cNvPr id="39" name="shape 39"/>
          <p:cNvSpPr/>
          <p:nvPr/>
        </p:nvSpPr>
        <p:spPr>
          <a:xfrm>
            <a:off x="2489199" y="1028700"/>
            <a:ext cx="355599" cy="355600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40" name="shape 40"/>
          <p:cNvSpPr/>
          <p:nvPr/>
        </p:nvSpPr>
        <p:spPr>
          <a:xfrm>
            <a:off x="2666999" y="11620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Y</a:t>
            </a:r>
            <a:endParaRPr lang="en-US" sz="1300"/>
          </a:p>
        </p:txBody>
      </p:sp>
      <p:sp>
        <p:nvSpPr>
          <p:cNvPr id="41" name="shape 41"/>
          <p:cNvSpPr/>
          <p:nvPr/>
        </p:nvSpPr>
        <p:spPr>
          <a:xfrm>
            <a:off x="2984499" y="1028700"/>
            <a:ext cx="355599" cy="3556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42" name="shape 42"/>
          <p:cNvSpPr/>
          <p:nvPr/>
        </p:nvSpPr>
        <p:spPr>
          <a:xfrm>
            <a:off x="3162299" y="11620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B</a:t>
            </a:r>
            <a:endParaRPr lang="en-US" sz="1300"/>
          </a:p>
        </p:txBody>
      </p:sp>
      <p:sp>
        <p:nvSpPr>
          <p:cNvPr id="43" name="shape 43"/>
          <p:cNvSpPr/>
          <p:nvPr/>
        </p:nvSpPr>
        <p:spPr>
          <a:xfrm>
            <a:off x="2692399" y="1612900"/>
            <a:ext cx="355599" cy="355600"/>
          </a:xfrm>
          <a:prstGeom prst="roundRect">
            <a:avLst/>
          </a:prstGeom>
          <a:solidFill>
            <a:srgbClr val="FCA5A5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44" name="shape 44"/>
          <p:cNvSpPr/>
          <p:nvPr/>
        </p:nvSpPr>
        <p:spPr>
          <a:xfrm>
            <a:off x="2870199" y="17462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T</a:t>
            </a:r>
            <a:endParaRPr lang="en-US" sz="1300"/>
          </a:p>
        </p:txBody>
      </p:sp>
      <p:sp>
        <p:nvSpPr>
          <p:cNvPr id="45" name="shape 45"/>
          <p:cNvSpPr/>
          <p:nvPr/>
        </p:nvSpPr>
        <p:spPr>
          <a:xfrm>
            <a:off x="3225799" y="1663700"/>
            <a:ext cx="355599" cy="35560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46" name="shape 46"/>
          <p:cNvSpPr/>
          <p:nvPr/>
        </p:nvSpPr>
        <p:spPr>
          <a:xfrm>
            <a:off x="3403599" y="17970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Box</a:t>
            </a:r>
            <a:endParaRPr lang="en-US" sz="1300"/>
          </a:p>
        </p:txBody>
      </p:sp>
      <p:sp>
        <p:nvSpPr>
          <p:cNvPr id="47" name="shape 47"/>
          <p:cNvSpPr/>
          <p:nvPr/>
        </p:nvSpPr>
        <p:spPr>
          <a:xfrm>
            <a:off x="2552699" y="2197100"/>
            <a:ext cx="355599" cy="35560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48" name="shape 48"/>
          <p:cNvSpPr/>
          <p:nvPr/>
        </p:nvSpPr>
        <p:spPr>
          <a:xfrm>
            <a:off x="2730499" y="2330449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Armor</a:t>
            </a:r>
            <a:endParaRPr lang="en-US" sz="1300"/>
          </a:p>
        </p:txBody>
      </p:sp>
      <p:cxnSp>
        <p:nvCxnSpPr>
          <p:cNvPr id="49" name="line 49"/>
          <p:cNvCxnSpPr/>
          <p:nvPr/>
        </p:nvCxnSpPr>
        <p:spPr>
          <a:xfrm>
            <a:off x="2666999" y="1206500"/>
            <a:ext cx="203199" cy="5842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50" name="line 50"/>
          <p:cNvCxnSpPr/>
          <p:nvPr/>
        </p:nvCxnSpPr>
        <p:spPr>
          <a:xfrm>
            <a:off x="2870199" y="1206500"/>
            <a:ext cx="292099" cy="5842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51" name="line 51"/>
          <p:cNvCxnSpPr/>
          <p:nvPr/>
        </p:nvCxnSpPr>
        <p:spPr>
          <a:xfrm>
            <a:off x="2870199" y="1790700"/>
            <a:ext cx="533399" cy="50800"/>
          </a:xfrm>
          <a:prstGeom prst="line">
            <a:avLst/>
          </a:prstGeom>
          <a:ln w="19050">
            <a:solidFill>
              <a:srgbClr val="F97316"/>
            </a:solidFill>
            <a:tailEnd type="triangle"/>
          </a:ln>
        </p:spPr>
      </p:cxnSp>
      <p:cxnSp>
        <p:nvCxnSpPr>
          <p:cNvPr id="52" name="line 52"/>
          <p:cNvCxnSpPr/>
          <p:nvPr/>
        </p:nvCxnSpPr>
        <p:spPr>
          <a:xfrm>
            <a:off x="2730499" y="1206500"/>
            <a:ext cx="431799" cy="1168400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sp>
        <p:nvSpPr>
          <p:cNvPr id="53" name="shape 53"/>
          <p:cNvSpPr/>
          <p:nvPr/>
        </p:nvSpPr>
        <p:spPr>
          <a:xfrm>
            <a:off x="2412999" y="2717800"/>
            <a:ext cx="1100137" cy="1428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>
                <a:solidFill>
                  <a:srgbClr val="111827"/>
                </a:solidFill>
              </a:rPr>
              <a:t>object graph / tokens</a:t>
            </a:r>
            <a:endParaRPr lang="en-US" sz="1500"/>
          </a:p>
        </p:txBody>
      </p:sp>
      <p:sp>
        <p:nvSpPr>
          <p:cNvPr id="54" name="shape 54"/>
          <p:cNvSpPr/>
          <p:nvPr/>
        </p:nvSpPr>
        <p:spPr>
          <a:xfrm>
            <a:off x="4127499" y="736600"/>
            <a:ext cx="4667249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55" name="shape 55"/>
          <p:cNvSpPr/>
          <p:nvPr/>
        </p:nvSpPr>
        <p:spPr>
          <a:xfrm>
            <a:off x="4241799" y="8128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(b)</a:t>
            </a:r>
            <a:endParaRPr lang="en-US" sz="1800"/>
          </a:p>
        </p:txBody>
      </p:sp>
      <p:sp>
        <p:nvSpPr>
          <p:cNvPr id="56" name="shape 56"/>
          <p:cNvSpPr/>
          <p:nvPr/>
        </p:nvSpPr>
        <p:spPr>
          <a:xfrm>
            <a:off x="4495799" y="819150"/>
            <a:ext cx="226313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Proposed world-model SAC Flow policy</a:t>
            </a:r>
            <a:endParaRPr lang="en-US" sz="1800"/>
          </a:p>
        </p:txBody>
      </p:sp>
      <p:sp>
        <p:nvSpPr>
          <p:cNvPr id="57" name="shape 57"/>
          <p:cNvSpPr/>
          <p:nvPr/>
        </p:nvSpPr>
        <p:spPr>
          <a:xfrm>
            <a:off x="4381499" y="1130299"/>
            <a:ext cx="1079499" cy="64769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58" name="shape 58"/>
          <p:cNvSpPr/>
          <p:nvPr/>
        </p:nvSpPr>
        <p:spPr>
          <a:xfrm>
            <a:off x="4457699" y="1206500"/>
            <a:ext cx="9270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Object encoder
robots / targets / boxes</a:t>
            </a:r>
            <a:endParaRPr lang="en-US" sz="1500"/>
          </a:p>
        </p:txBody>
      </p:sp>
      <p:sp>
        <p:nvSpPr>
          <p:cNvPr id="59" name="shape 59"/>
          <p:cNvSpPr/>
          <p:nvPr/>
        </p:nvSpPr>
        <p:spPr>
          <a:xfrm>
            <a:off x="5778499" y="1130299"/>
            <a:ext cx="1079499" cy="64769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60" name="shape 60"/>
          <p:cNvSpPr/>
          <p:nvPr/>
        </p:nvSpPr>
        <p:spPr>
          <a:xfrm>
            <a:off x="5854699" y="1206500"/>
            <a:ext cx="9270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World model
next state / reward / done</a:t>
            </a:r>
            <a:endParaRPr lang="en-US" sz="1500"/>
          </a:p>
        </p:txBody>
      </p:sp>
      <p:sp>
        <p:nvSpPr>
          <p:cNvPr id="61" name="shape 61"/>
          <p:cNvSpPr/>
          <p:nvPr/>
        </p:nvSpPr>
        <p:spPr>
          <a:xfrm>
            <a:off x="7175499" y="1130299"/>
            <a:ext cx="1079499" cy="647699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62" name="shape 62"/>
          <p:cNvSpPr/>
          <p:nvPr/>
        </p:nvSpPr>
        <p:spPr>
          <a:xfrm>
            <a:off x="7251699" y="1206500"/>
            <a:ext cx="9270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Flow actor
continuous tactical action</a:t>
            </a:r>
            <a:endParaRPr lang="en-US" sz="1500"/>
          </a:p>
        </p:txBody>
      </p:sp>
      <p:sp>
        <p:nvSpPr>
          <p:cNvPr id="63" name="shape 63"/>
          <p:cNvSpPr/>
          <p:nvPr/>
        </p:nvSpPr>
        <p:spPr>
          <a:xfrm>
            <a:off x="5016499" y="2127250"/>
            <a:ext cx="1301749" cy="558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64" name="shape 64"/>
          <p:cNvSpPr/>
          <p:nvPr/>
        </p:nvSpPr>
        <p:spPr>
          <a:xfrm>
            <a:off x="5092699" y="2203450"/>
            <a:ext cx="114934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Centralized twin-Q
self-play value learning</a:t>
            </a:r>
            <a:endParaRPr lang="en-US" sz="1500"/>
          </a:p>
        </p:txBody>
      </p:sp>
      <p:sp>
        <p:nvSpPr>
          <p:cNvPr id="65" name="shape 65"/>
          <p:cNvSpPr/>
          <p:nvPr/>
        </p:nvSpPr>
        <p:spPr>
          <a:xfrm>
            <a:off x="6794499" y="2127250"/>
            <a:ext cx="1301749" cy="55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66" name="shape 66"/>
          <p:cNvSpPr/>
          <p:nvPr/>
        </p:nvSpPr>
        <p:spPr>
          <a:xfrm>
            <a:off x="6870699" y="2203450"/>
            <a:ext cx="114934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Action shield + expert residual
legal fire / recovery / push</a:t>
            </a:r>
            <a:endParaRPr lang="en-US" sz="1500"/>
          </a:p>
        </p:txBody>
      </p:sp>
      <p:cxnSp>
        <p:nvCxnSpPr>
          <p:cNvPr id="67" name="line 67"/>
          <p:cNvCxnSpPr/>
          <p:nvPr/>
        </p:nvCxnSpPr>
        <p:spPr>
          <a:xfrm>
            <a:off x="5460999" y="1454150"/>
            <a:ext cx="31749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68" name="line 68"/>
          <p:cNvCxnSpPr/>
          <p:nvPr/>
        </p:nvCxnSpPr>
        <p:spPr>
          <a:xfrm>
            <a:off x="6857999" y="1454150"/>
            <a:ext cx="31749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69" name="line 69"/>
          <p:cNvCxnSpPr/>
          <p:nvPr/>
        </p:nvCxnSpPr>
        <p:spPr>
          <a:xfrm>
            <a:off x="7461249" y="1778000"/>
            <a:ext cx="253999" cy="34925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70" name="line 70"/>
          <p:cNvCxnSpPr/>
          <p:nvPr/>
        </p:nvCxnSpPr>
        <p:spPr>
          <a:xfrm>
            <a:off x="6318249" y="2406650"/>
            <a:ext cx="47624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71" name="line 71"/>
          <p:cNvCxnSpPr/>
          <p:nvPr/>
        </p:nvCxnSpPr>
        <p:spPr>
          <a:xfrm>
            <a:off x="5651499" y="1778000"/>
            <a:ext cx="793749" cy="34925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72" name="shape 72"/>
          <p:cNvSpPr/>
          <p:nvPr/>
        </p:nvSpPr>
        <p:spPr>
          <a:xfrm>
            <a:off x="4508499" y="2825750"/>
            <a:ext cx="3746499" cy="1651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3" name="shape 73"/>
          <p:cNvSpPr/>
          <p:nvPr/>
        </p:nvSpPr>
        <p:spPr>
          <a:xfrm>
            <a:off x="4584699" y="2901950"/>
            <a:ext cx="3594099" cy="3467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>
                <a:solidFill>
                  <a:srgbClr val="111827"/>
                </a:solidFill>
              </a:rPr>
              <a:t>self-play replay buffer: object_state, obs, action, reward, done</a:t>
            </a:r>
            <a:endParaRPr lang="en-US" sz="1300"/>
          </a:p>
        </p:txBody>
      </p:sp>
      <p:sp>
        <p:nvSpPr>
          <p:cNvPr id="74" name="shape 74"/>
          <p:cNvSpPr/>
          <p:nvPr/>
        </p:nvSpPr>
        <p:spPr>
          <a:xfrm>
            <a:off x="8985249" y="736600"/>
            <a:ext cx="3016249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75" name="shape 75"/>
          <p:cNvSpPr/>
          <p:nvPr/>
        </p:nvSpPr>
        <p:spPr>
          <a:xfrm>
            <a:off x="9099549" y="8128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(c)</a:t>
            </a:r>
            <a:endParaRPr lang="en-US" sz="1800"/>
          </a:p>
        </p:txBody>
      </p:sp>
      <p:sp>
        <p:nvSpPr>
          <p:cNvPr id="76" name="shape 76"/>
          <p:cNvSpPr/>
          <p:nvPr/>
        </p:nvSpPr>
        <p:spPr>
          <a:xfrm>
            <a:off x="9353549" y="819150"/>
            <a:ext cx="150875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Rule and replay contract</a:t>
            </a:r>
            <a:endParaRPr lang="en-US" sz="1800"/>
          </a:p>
        </p:txBody>
      </p:sp>
      <p:sp>
        <p:nvSpPr>
          <p:cNvPr id="77" name="shape 77"/>
          <p:cNvSpPr/>
          <p:nvPr/>
        </p:nvSpPr>
        <p:spPr>
          <a:xfrm>
            <a:off x="9188449" y="1123950"/>
            <a:ext cx="165099" cy="16510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78" name="shape 78"/>
          <p:cNvSpPr/>
          <p:nvPr/>
        </p:nvSpPr>
        <p:spPr>
          <a:xfrm>
            <a:off x="9270999" y="11620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1</a:t>
            </a:r>
            <a:endParaRPr lang="en-US" sz="1300"/>
          </a:p>
        </p:txBody>
      </p:sp>
      <p:sp>
        <p:nvSpPr>
          <p:cNvPr id="79" name="shape 79"/>
          <p:cNvSpPr/>
          <p:nvPr/>
        </p:nvSpPr>
        <p:spPr>
          <a:xfrm>
            <a:off x="9461499" y="1130299"/>
            <a:ext cx="1009332" cy="1619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700" b="1">
                <a:solidFill>
                  <a:srgbClr val="111827"/>
                </a:solidFill>
              </a:rPr>
              <a:t>0.80s laser dwell</a:t>
            </a:r>
            <a:endParaRPr lang="en-US" sz="1700"/>
          </a:p>
        </p:txBody>
      </p:sp>
      <p:sp>
        <p:nvSpPr>
          <p:cNvPr id="80" name="shape 80"/>
          <p:cNvSpPr/>
          <p:nvPr/>
        </p:nvSpPr>
        <p:spPr>
          <a:xfrm>
            <a:off x="9188449" y="1454150"/>
            <a:ext cx="165099" cy="1651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81" name="shape 81"/>
          <p:cNvSpPr/>
          <p:nvPr/>
        </p:nvSpPr>
        <p:spPr>
          <a:xfrm>
            <a:off x="9270999" y="14922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2</a:t>
            </a:r>
            <a:endParaRPr lang="en-US" sz="1300"/>
          </a:p>
        </p:txBody>
      </p:sp>
      <p:sp>
        <p:nvSpPr>
          <p:cNvPr id="82" name="shape 82"/>
          <p:cNvSpPr/>
          <p:nvPr/>
        </p:nvSpPr>
        <p:spPr>
          <a:xfrm>
            <a:off x="9461499" y="1460500"/>
            <a:ext cx="1128077" cy="1619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700" b="1">
                <a:solidFill>
                  <a:srgbClr val="111827"/>
                </a:solidFill>
              </a:rPr>
              <a:t>base range 20-80 cm</a:t>
            </a:r>
            <a:endParaRPr lang="en-US" sz="1700"/>
          </a:p>
        </p:txBody>
      </p:sp>
      <p:sp>
        <p:nvSpPr>
          <p:cNvPr id="83" name="shape 83"/>
          <p:cNvSpPr/>
          <p:nvPr/>
        </p:nvSpPr>
        <p:spPr>
          <a:xfrm>
            <a:off x="9188449" y="1784350"/>
            <a:ext cx="165099" cy="1651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84" name="shape 84"/>
          <p:cNvSpPr/>
          <p:nvPr/>
        </p:nvSpPr>
        <p:spPr>
          <a:xfrm>
            <a:off x="9270999" y="1822449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3</a:t>
            </a:r>
            <a:endParaRPr lang="en-US" sz="1300"/>
          </a:p>
        </p:txBody>
      </p:sp>
      <p:sp>
        <p:nvSpPr>
          <p:cNvPr id="85" name="shape 85"/>
          <p:cNvSpPr/>
          <p:nvPr/>
        </p:nvSpPr>
        <p:spPr>
          <a:xfrm>
            <a:off x="9461499" y="1790700"/>
            <a:ext cx="1128077" cy="1619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700" b="1">
                <a:solidFill>
                  <a:srgbClr val="111827"/>
                </a:solidFill>
              </a:rPr>
              <a:t>pushable boxes move</a:t>
            </a:r>
            <a:endParaRPr lang="en-US" sz="1700"/>
          </a:p>
        </p:txBody>
      </p:sp>
      <p:sp>
        <p:nvSpPr>
          <p:cNvPr id="86" name="shape 86"/>
          <p:cNvSpPr/>
          <p:nvPr/>
        </p:nvSpPr>
        <p:spPr>
          <a:xfrm>
            <a:off x="9188449" y="2114550"/>
            <a:ext cx="165099" cy="1651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87" name="shape 87"/>
          <p:cNvSpPr/>
          <p:nvPr/>
        </p:nvSpPr>
        <p:spPr>
          <a:xfrm>
            <a:off x="9270999" y="21526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4</a:t>
            </a:r>
            <a:endParaRPr lang="en-US" sz="1300"/>
          </a:p>
        </p:txBody>
      </p:sp>
      <p:sp>
        <p:nvSpPr>
          <p:cNvPr id="88" name="shape 88"/>
          <p:cNvSpPr/>
          <p:nvPr/>
        </p:nvSpPr>
        <p:spPr>
          <a:xfrm>
            <a:off x="9461499" y="2120900"/>
            <a:ext cx="1484312" cy="1619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700" b="1">
                <a:solidFill>
                  <a:srgbClr val="111827"/>
                </a:solidFill>
              </a:rPr>
              <a:t>no wall / box penetration</a:t>
            </a:r>
            <a:endParaRPr lang="en-US" sz="1700"/>
          </a:p>
        </p:txBody>
      </p:sp>
      <p:sp>
        <p:nvSpPr>
          <p:cNvPr id="89" name="shape 89"/>
          <p:cNvSpPr/>
          <p:nvPr/>
        </p:nvSpPr>
        <p:spPr>
          <a:xfrm>
            <a:off x="9188449" y="2444749"/>
            <a:ext cx="165099" cy="1651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90" name="shape 90"/>
          <p:cNvSpPr/>
          <p:nvPr/>
        </p:nvSpPr>
        <p:spPr>
          <a:xfrm>
            <a:off x="9270999" y="24828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5</a:t>
            </a:r>
            <a:endParaRPr lang="en-US" sz="1300"/>
          </a:p>
        </p:txBody>
      </p:sp>
      <p:sp>
        <p:nvSpPr>
          <p:cNvPr id="91" name="shape 91"/>
          <p:cNvSpPr/>
          <p:nvPr/>
        </p:nvSpPr>
        <p:spPr>
          <a:xfrm>
            <a:off x="9461499" y="2451100"/>
            <a:ext cx="1306194" cy="1619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700" b="1">
                <a:solidFill>
                  <a:srgbClr val="111827"/>
                </a:solidFill>
              </a:rPr>
              <a:t>3-view IsaacLab replay</a:t>
            </a:r>
            <a:endParaRPr lang="en-US" sz="1700"/>
          </a:p>
        </p:txBody>
      </p:sp>
      <p:sp>
        <p:nvSpPr>
          <p:cNvPr id="92" name="shape 92"/>
          <p:cNvSpPr/>
          <p:nvPr/>
        </p:nvSpPr>
        <p:spPr>
          <a:xfrm>
            <a:off x="9270999" y="2730500"/>
            <a:ext cx="2285999" cy="21589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93" name="shape 93"/>
          <p:cNvSpPr/>
          <p:nvPr/>
        </p:nvSpPr>
        <p:spPr>
          <a:xfrm>
            <a:off x="9347199" y="2806700"/>
            <a:ext cx="2133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strict audit: 0 hard violations</a:t>
            </a:r>
            <a:endParaRPr lang="en-US" sz="1500"/>
          </a:p>
        </p:txBody>
      </p:sp>
      <p:sp>
        <p:nvSpPr>
          <p:cNvPr id="94" name="shape 94"/>
          <p:cNvSpPr/>
          <p:nvPr/>
        </p:nvSpPr>
        <p:spPr>
          <a:xfrm>
            <a:off x="177799" y="3301999"/>
            <a:ext cx="377824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95" name="shape 95"/>
          <p:cNvSpPr/>
          <p:nvPr/>
        </p:nvSpPr>
        <p:spPr>
          <a:xfrm>
            <a:off x="292099" y="337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(d)</a:t>
            </a:r>
            <a:endParaRPr lang="en-US" sz="1800"/>
          </a:p>
        </p:txBody>
      </p:sp>
      <p:sp>
        <p:nvSpPr>
          <p:cNvPr id="96" name="shape 96"/>
          <p:cNvSpPr/>
          <p:nvPr/>
        </p:nvSpPr>
        <p:spPr>
          <a:xfrm>
            <a:off x="546099" y="3384550"/>
            <a:ext cx="119443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Evaluation snapshot</a:t>
            </a:r>
            <a:endParaRPr lang="en-US" sz="1800"/>
          </a:p>
        </p:txBody>
      </p:sp>
      <p:cxnSp>
        <p:nvCxnSpPr>
          <p:cNvPr id="97" name="line 97"/>
          <p:cNvCxnSpPr/>
          <p:nvPr/>
        </p:nvCxnSpPr>
        <p:spPr>
          <a:xfrm>
            <a:off x="571499" y="3873499"/>
            <a:ext cx="2857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98" name="line 98"/>
          <p:cNvCxnSpPr/>
          <p:nvPr/>
        </p:nvCxnSpPr>
        <p:spPr>
          <a:xfrm>
            <a:off x="571499" y="4167187"/>
            <a:ext cx="2857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99" name="line 99"/>
          <p:cNvCxnSpPr/>
          <p:nvPr/>
        </p:nvCxnSpPr>
        <p:spPr>
          <a:xfrm>
            <a:off x="571499" y="4460874"/>
            <a:ext cx="2857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00" name="line 100"/>
          <p:cNvCxnSpPr/>
          <p:nvPr/>
        </p:nvCxnSpPr>
        <p:spPr>
          <a:xfrm>
            <a:off x="571499" y="4754562"/>
            <a:ext cx="2857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01" name="line 101"/>
          <p:cNvCxnSpPr/>
          <p:nvPr/>
        </p:nvCxnSpPr>
        <p:spPr>
          <a:xfrm>
            <a:off x="571499" y="5048250"/>
            <a:ext cx="2857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02" name="line 102"/>
          <p:cNvCxnSpPr/>
          <p:nvPr/>
        </p:nvCxnSpPr>
        <p:spPr>
          <a:xfrm>
            <a:off x="571499" y="5048250"/>
            <a:ext cx="285749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103" name="line 103"/>
          <p:cNvCxnSpPr/>
          <p:nvPr/>
        </p:nvCxnSpPr>
        <p:spPr>
          <a:xfrm>
            <a:off x="571499" y="3873499"/>
            <a:ext cx="1" cy="117475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104" name="shape 104"/>
          <p:cNvSpPr/>
          <p:nvPr/>
        </p:nvSpPr>
        <p:spPr>
          <a:xfrm>
            <a:off x="393699" y="3784599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win rate</a:t>
            </a:r>
            <a:endParaRPr lang="en-US" sz="1200"/>
          </a:p>
        </p:txBody>
      </p:sp>
      <p:sp>
        <p:nvSpPr>
          <p:cNvPr id="105" name="shape 105"/>
          <p:cNvSpPr/>
          <p:nvPr/>
        </p:nvSpPr>
        <p:spPr>
          <a:xfrm>
            <a:off x="914399" y="4470038"/>
            <a:ext cx="266699" cy="578211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106" name="shape 106"/>
          <p:cNvSpPr/>
          <p:nvPr/>
        </p:nvSpPr>
        <p:spPr>
          <a:xfrm>
            <a:off x="1047749" y="4317638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49%</a:t>
            </a:r>
            <a:endParaRPr lang="en-US" sz="1200"/>
          </a:p>
        </p:txBody>
      </p:sp>
      <p:sp>
        <p:nvSpPr>
          <p:cNvPr id="107" name="shape 107"/>
          <p:cNvSpPr/>
          <p:nvPr/>
        </p:nvSpPr>
        <p:spPr>
          <a:xfrm>
            <a:off x="1047749" y="5149849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Yellow</a:t>
            </a:r>
            <a:endParaRPr lang="en-US" sz="1100"/>
          </a:p>
        </p:txBody>
      </p:sp>
      <p:sp>
        <p:nvSpPr>
          <p:cNvPr id="108" name="shape 108"/>
          <p:cNvSpPr/>
          <p:nvPr/>
        </p:nvSpPr>
        <p:spPr>
          <a:xfrm>
            <a:off x="1866899" y="4451711"/>
            <a:ext cx="266699" cy="59653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09" name="shape 109"/>
          <p:cNvSpPr/>
          <p:nvPr/>
        </p:nvSpPr>
        <p:spPr>
          <a:xfrm>
            <a:off x="2000249" y="4299311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51%</a:t>
            </a:r>
            <a:endParaRPr lang="en-US" sz="1200"/>
          </a:p>
        </p:txBody>
      </p:sp>
      <p:sp>
        <p:nvSpPr>
          <p:cNvPr id="110" name="shape 110"/>
          <p:cNvSpPr/>
          <p:nvPr/>
        </p:nvSpPr>
        <p:spPr>
          <a:xfrm>
            <a:off x="2000249" y="5149849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Blue</a:t>
            </a:r>
            <a:endParaRPr lang="en-US" sz="1100"/>
          </a:p>
        </p:txBody>
      </p:sp>
      <p:sp>
        <p:nvSpPr>
          <p:cNvPr id="111" name="shape 111"/>
          <p:cNvSpPr/>
          <p:nvPr/>
        </p:nvSpPr>
        <p:spPr>
          <a:xfrm>
            <a:off x="2819399" y="5048250"/>
            <a:ext cx="266699" cy="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112" name="shape 112"/>
          <p:cNvSpPr/>
          <p:nvPr/>
        </p:nvSpPr>
        <p:spPr>
          <a:xfrm>
            <a:off x="2952749" y="489585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0%</a:t>
            </a:r>
            <a:endParaRPr lang="en-US" sz="1200"/>
          </a:p>
        </p:txBody>
      </p:sp>
      <p:sp>
        <p:nvSpPr>
          <p:cNvPr id="113" name="shape 113"/>
          <p:cNvSpPr/>
          <p:nvPr/>
        </p:nvSpPr>
        <p:spPr>
          <a:xfrm>
            <a:off x="2952749" y="5149849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Draw</a:t>
            </a:r>
            <a:endParaRPr lang="en-US" sz="1100"/>
          </a:p>
        </p:txBody>
      </p:sp>
      <p:sp>
        <p:nvSpPr>
          <p:cNvPr id="114" name="shape 114"/>
          <p:cNvSpPr/>
          <p:nvPr/>
        </p:nvSpPr>
        <p:spPr>
          <a:xfrm>
            <a:off x="603249" y="5219700"/>
            <a:ext cx="2603499" cy="2158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5" name="shape 115"/>
          <p:cNvSpPr/>
          <p:nvPr/>
        </p:nvSpPr>
        <p:spPr>
          <a:xfrm>
            <a:off x="679449" y="5295900"/>
            <a:ext cx="24510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>
                <a:solidFill>
                  <a:srgbClr val="111827"/>
                </a:solidFill>
              </a:rPr>
              <a:t>128 games, mean time 30.81s</a:t>
            </a:r>
            <a:endParaRPr lang="en-US" sz="1500"/>
          </a:p>
        </p:txBody>
      </p:sp>
      <p:sp>
        <p:nvSpPr>
          <p:cNvPr id="116" name="shape 116"/>
          <p:cNvSpPr/>
          <p:nvPr/>
        </p:nvSpPr>
        <p:spPr>
          <a:xfrm>
            <a:off x="4127499" y="3301999"/>
            <a:ext cx="466724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117" name="shape 117"/>
          <p:cNvSpPr/>
          <p:nvPr/>
        </p:nvSpPr>
        <p:spPr>
          <a:xfrm>
            <a:off x="4241799" y="337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(e)</a:t>
            </a:r>
            <a:endParaRPr lang="en-US" sz="1800"/>
          </a:p>
        </p:txBody>
      </p:sp>
      <p:sp>
        <p:nvSpPr>
          <p:cNvPr id="118" name="shape 118"/>
          <p:cNvSpPr/>
          <p:nvPr/>
        </p:nvSpPr>
        <p:spPr>
          <a:xfrm>
            <a:off x="4495799" y="3384550"/>
            <a:ext cx="94297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Final artifacts</a:t>
            </a:r>
            <a:endParaRPr lang="en-US" sz="1800"/>
          </a:p>
        </p:txBody>
      </p:sp>
      <p:sp>
        <p:nvSpPr>
          <p:cNvPr id="119" name="shape 119"/>
          <p:cNvSpPr/>
          <p:nvPr/>
        </p:nvSpPr>
        <p:spPr>
          <a:xfrm>
            <a:off x="4571999" y="3873499"/>
            <a:ext cx="1492249" cy="40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20" name="shape 120"/>
          <p:cNvSpPr/>
          <p:nvPr/>
        </p:nvSpPr>
        <p:spPr>
          <a:xfrm>
            <a:off x="4648199" y="3949700"/>
            <a:ext cx="133984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policy.pt</a:t>
            </a:r>
            <a:endParaRPr lang="en-US" sz="1500"/>
          </a:p>
        </p:txBody>
      </p:sp>
      <p:sp>
        <p:nvSpPr>
          <p:cNvPr id="121" name="shape 121"/>
          <p:cNvSpPr/>
          <p:nvPr/>
        </p:nvSpPr>
        <p:spPr>
          <a:xfrm>
            <a:off x="6476999" y="3873499"/>
            <a:ext cx="1492249" cy="40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22" name="shape 122"/>
          <p:cNvSpPr/>
          <p:nvPr/>
        </p:nvSpPr>
        <p:spPr>
          <a:xfrm>
            <a:off x="6553199" y="3949700"/>
            <a:ext cx="133984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contract_eval.json/csv</a:t>
            </a:r>
            <a:endParaRPr lang="en-US" sz="1500"/>
          </a:p>
        </p:txBody>
      </p:sp>
      <p:sp>
        <p:nvSpPr>
          <p:cNvPr id="123" name="shape 123"/>
          <p:cNvSpPr/>
          <p:nvPr/>
        </p:nvSpPr>
        <p:spPr>
          <a:xfrm>
            <a:off x="4571999" y="4540250"/>
            <a:ext cx="1492249" cy="40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24" name="shape 124"/>
          <p:cNvSpPr/>
          <p:nvPr/>
        </p:nvSpPr>
        <p:spPr>
          <a:xfrm>
            <a:off x="4648199" y="4616450"/>
            <a:ext cx="133984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strict trace</a:t>
            </a:r>
            <a:endParaRPr lang="en-US" sz="1500"/>
          </a:p>
        </p:txBody>
      </p:sp>
      <p:sp>
        <p:nvSpPr>
          <p:cNvPr id="125" name="shape 125"/>
          <p:cNvSpPr/>
          <p:nvPr/>
        </p:nvSpPr>
        <p:spPr>
          <a:xfrm>
            <a:off x="6476999" y="4540250"/>
            <a:ext cx="1492249" cy="40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26" name="shape 126"/>
          <p:cNvSpPr/>
          <p:nvPr/>
        </p:nvSpPr>
        <p:spPr>
          <a:xfrm>
            <a:off x="6553199" y="4616450"/>
            <a:ext cx="133984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top/yellow/blue replay</a:t>
            </a:r>
            <a:endParaRPr lang="en-US" sz="1500"/>
          </a:p>
        </p:txBody>
      </p:sp>
      <p:cxnSp>
        <p:nvCxnSpPr>
          <p:cNvPr id="127" name="line 127"/>
          <p:cNvCxnSpPr/>
          <p:nvPr/>
        </p:nvCxnSpPr>
        <p:spPr>
          <a:xfrm>
            <a:off x="6064249" y="4076699"/>
            <a:ext cx="412749" cy="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</p:cxnSp>
      <p:cxnSp>
        <p:nvCxnSpPr>
          <p:cNvPr id="128" name="line 128"/>
          <p:cNvCxnSpPr/>
          <p:nvPr/>
        </p:nvCxnSpPr>
        <p:spPr>
          <a:xfrm>
            <a:off x="6064249" y="4743450"/>
            <a:ext cx="412749" cy="1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</p:cxnSp>
      <p:sp>
        <p:nvSpPr>
          <p:cNvPr id="129" name="shape 129"/>
          <p:cNvSpPr/>
          <p:nvPr/>
        </p:nvSpPr>
        <p:spPr>
          <a:xfrm>
            <a:off x="4571999" y="5321300"/>
            <a:ext cx="35559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>
                <a:solidFill>
                  <a:srgbClr val="111827"/>
                </a:solidFill>
              </a:rPr>
              <a:t>All formal metrics and media are regenerated from the world-model SAC Flow checkpoint, not renamed legacy PPO/MAPPO results.</a:t>
            </a:r>
            <a:endParaRPr lang="en-US" sz="1500"/>
          </a:p>
        </p:txBody>
      </p:sp>
      <p:sp>
        <p:nvSpPr>
          <p:cNvPr id="130" name="shape 130"/>
          <p:cNvSpPr/>
          <p:nvPr/>
        </p:nvSpPr>
        <p:spPr>
          <a:xfrm>
            <a:off x="8985249" y="3301999"/>
            <a:ext cx="301624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131" name="shape 131"/>
          <p:cNvSpPr/>
          <p:nvPr/>
        </p:nvSpPr>
        <p:spPr>
          <a:xfrm>
            <a:off x="9099549" y="337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(f)</a:t>
            </a:r>
            <a:endParaRPr lang="en-US" sz="1800"/>
          </a:p>
        </p:txBody>
      </p:sp>
      <p:sp>
        <p:nvSpPr>
          <p:cNvPr id="132" name="shape 132"/>
          <p:cNvSpPr/>
          <p:nvPr/>
        </p:nvSpPr>
        <p:spPr>
          <a:xfrm>
            <a:off x="9353549" y="3384550"/>
            <a:ext cx="81724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Main takeaway</a:t>
            </a:r>
            <a:endParaRPr lang="en-US" sz="1800"/>
          </a:p>
        </p:txBody>
      </p:sp>
      <p:sp>
        <p:nvSpPr>
          <p:cNvPr id="133" name="shape 133"/>
          <p:cNvSpPr/>
          <p:nvPr/>
        </p:nvSpPr>
        <p:spPr>
          <a:xfrm>
            <a:off x="9302749" y="3886200"/>
            <a:ext cx="2222499" cy="482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34" name="shape 134"/>
          <p:cNvSpPr/>
          <p:nvPr/>
        </p:nvSpPr>
        <p:spPr>
          <a:xfrm>
            <a:off x="9378949" y="3962399"/>
            <a:ext cx="20700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Object-centric state makes long-horizon target/base timing explicit.</a:t>
            </a:r>
            <a:endParaRPr lang="en-US" sz="1600"/>
          </a:p>
        </p:txBody>
      </p:sp>
      <p:sp>
        <p:nvSpPr>
          <p:cNvPr id="135" name="shape 135"/>
          <p:cNvSpPr/>
          <p:nvPr/>
        </p:nvSpPr>
        <p:spPr>
          <a:xfrm>
            <a:off x="9302749" y="4508500"/>
            <a:ext cx="2222499" cy="482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36" name="shape 136"/>
          <p:cNvSpPr/>
          <p:nvPr/>
        </p:nvSpPr>
        <p:spPr>
          <a:xfrm>
            <a:off x="9378949" y="4584700"/>
            <a:ext cx="20700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Flow actor keeps multiple tactical modes instead of one fixed route.</a:t>
            </a:r>
            <a:endParaRPr lang="en-US" sz="1600"/>
          </a:p>
        </p:txBody>
      </p:sp>
      <p:sp>
        <p:nvSpPr>
          <p:cNvPr id="137" name="shape 137"/>
          <p:cNvSpPr/>
          <p:nvPr/>
        </p:nvSpPr>
        <p:spPr>
          <a:xfrm>
            <a:off x="9302749" y="5130800"/>
            <a:ext cx="2222499" cy="3175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38" name="shape 138"/>
          <p:cNvSpPr/>
          <p:nvPr/>
        </p:nvSpPr>
        <p:spPr>
          <a:xfrm>
            <a:off x="9378949" y="5207000"/>
            <a:ext cx="20700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Strict replay closes the sim-to-result loop.</a:t>
            </a:r>
            <a:endParaRPr lang="en-US" sz="1600"/>
          </a:p>
        </p:txBody>
      </p:sp>
      <p:sp>
        <p:nvSpPr>
          <p:cNvPr id="139" name="shape 139"/>
          <p:cNvSpPr/>
          <p:nvPr/>
        </p:nvSpPr>
        <p:spPr>
          <a:xfrm>
            <a:off x="304799" y="5873750"/>
            <a:ext cx="11569699" cy="457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140" name="shape 140"/>
          <p:cNvSpPr/>
          <p:nvPr/>
        </p:nvSpPr>
        <p:spPr>
          <a:xfrm>
            <a:off x="380999" y="5949950"/>
            <a:ext cx="1141729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2400" b="1">
                <a:solidFill>
                  <a:srgbClr val="111827"/>
                </a:solidFill>
              </a:rPr>
              <a:t>World model + flow policy + rule audit jointly improve multi-agent robotic strategy under physical constraints.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241299" y="114300"/>
            <a:ext cx="9524999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2400" b="1">
                <a:solidFill>
                  <a:srgbClr val="111827"/>
                </a:solidFill>
              </a:rPr>
              <a:t>Method Architecture: Object Tokens, World Model and SAC Flow Self-Play</a:t>
            </a:r>
            <a:endParaRPr lang="en-US" sz="2400"/>
          </a:p>
        </p:txBody>
      </p:sp>
      <p:sp>
        <p:nvSpPr>
          <p:cNvPr id="3" name="shape 3"/>
          <p:cNvSpPr/>
          <p:nvPr/>
        </p:nvSpPr>
        <p:spPr>
          <a:xfrm>
            <a:off x="266699" y="393700"/>
            <a:ext cx="9524999" cy="1904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Editable pipeline diagram for the proposed multi-agent robotic RL method.</a:t>
            </a:r>
            <a:endParaRPr lang="en-US" sz="1200"/>
          </a:p>
        </p:txBody>
      </p:sp>
      <p:sp>
        <p:nvSpPr>
          <p:cNvPr id="4" name="shape 4"/>
          <p:cNvSpPr/>
          <p:nvPr/>
        </p:nvSpPr>
        <p:spPr>
          <a:xfrm>
            <a:off x="241299" y="761999"/>
            <a:ext cx="2730499" cy="514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35559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(a)</a:t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09599" y="844550"/>
            <a:ext cx="106870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Inputs and tokens</a:t>
            </a:r>
            <a:endParaRPr lang="en-US" sz="1800"/>
          </a:p>
        </p:txBody>
      </p:sp>
      <p:sp>
        <p:nvSpPr>
          <p:cNvPr id="7" name="shape 7"/>
          <p:cNvSpPr/>
          <p:nvPr/>
        </p:nvSpPr>
        <p:spPr>
          <a:xfrm>
            <a:off x="558799" y="1301750"/>
            <a:ext cx="1777999" cy="368300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634999" y="1377950"/>
            <a:ext cx="16255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Robot states</a:t>
            </a:r>
            <a:endParaRPr lang="en-US" sz="1600"/>
          </a:p>
        </p:txBody>
      </p:sp>
      <p:cxnSp>
        <p:nvCxnSpPr>
          <p:cNvPr id="9" name="line 9"/>
          <p:cNvCxnSpPr/>
          <p:nvPr/>
        </p:nvCxnSpPr>
        <p:spPr>
          <a:xfrm>
            <a:off x="2336799" y="1485900"/>
            <a:ext cx="393699" cy="1847849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</p:cxnSp>
      <p:sp>
        <p:nvSpPr>
          <p:cNvPr id="10" name="shape 10"/>
          <p:cNvSpPr/>
          <p:nvPr/>
        </p:nvSpPr>
        <p:spPr>
          <a:xfrm>
            <a:off x="558799" y="1936749"/>
            <a:ext cx="1777999" cy="3683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634999" y="2012950"/>
            <a:ext cx="16255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Opponent belief</a:t>
            </a:r>
            <a:endParaRPr lang="en-US" sz="1600"/>
          </a:p>
        </p:txBody>
      </p:sp>
      <p:cxnSp>
        <p:nvCxnSpPr>
          <p:cNvPr id="12" name="line 12"/>
          <p:cNvCxnSpPr/>
          <p:nvPr/>
        </p:nvCxnSpPr>
        <p:spPr>
          <a:xfrm>
            <a:off x="2336799" y="2120900"/>
            <a:ext cx="393699" cy="121285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558799" y="2571750"/>
            <a:ext cx="1777999" cy="368300"/>
          </a:xfrm>
          <a:prstGeom prst="roundRect">
            <a:avLst/>
          </a:prstGeom>
          <a:solidFill>
            <a:srgbClr val="FCA5A5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634999" y="2647950"/>
            <a:ext cx="16255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Targets / armor</a:t>
            </a:r>
            <a:endParaRPr lang="en-US" sz="1600"/>
          </a:p>
        </p:txBody>
      </p:sp>
      <p:cxnSp>
        <p:nvCxnSpPr>
          <p:cNvPr id="15" name="line 15"/>
          <p:cNvCxnSpPr/>
          <p:nvPr/>
        </p:nvCxnSpPr>
        <p:spPr>
          <a:xfrm>
            <a:off x="2336799" y="2755900"/>
            <a:ext cx="393699" cy="57785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</p:cxnSp>
      <p:sp>
        <p:nvSpPr>
          <p:cNvPr id="16" name="shape 16"/>
          <p:cNvSpPr/>
          <p:nvPr/>
        </p:nvSpPr>
        <p:spPr>
          <a:xfrm>
            <a:off x="558799" y="3206750"/>
            <a:ext cx="1777999" cy="36830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634999" y="3282950"/>
            <a:ext cx="16255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Pushable boxes</a:t>
            </a:r>
            <a:endParaRPr lang="en-US" sz="1600"/>
          </a:p>
        </p:txBody>
      </p:sp>
      <p:cxnSp>
        <p:nvCxnSpPr>
          <p:cNvPr id="18" name="line 18"/>
          <p:cNvCxnSpPr/>
          <p:nvPr/>
        </p:nvCxnSpPr>
        <p:spPr>
          <a:xfrm>
            <a:off x="2336799" y="3333750"/>
            <a:ext cx="393699" cy="5715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</p:cxnSp>
      <p:sp>
        <p:nvSpPr>
          <p:cNvPr id="19" name="shape 19"/>
          <p:cNvSpPr/>
          <p:nvPr/>
        </p:nvSpPr>
        <p:spPr>
          <a:xfrm>
            <a:off x="558799" y="3841750"/>
            <a:ext cx="1777999" cy="368300"/>
          </a:xfrm>
          <a:prstGeom prst="roundRect">
            <a:avLst/>
          </a:prstGeom>
          <a:solidFill>
            <a:srgbClr val="C4B5FD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634999" y="3917950"/>
            <a:ext cx="16255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Sensor fusion</a:t>
            </a:r>
            <a:endParaRPr lang="en-US" sz="1600"/>
          </a:p>
        </p:txBody>
      </p:sp>
      <p:cxnSp>
        <p:nvCxnSpPr>
          <p:cNvPr id="21" name="line 21"/>
          <p:cNvCxnSpPr/>
          <p:nvPr/>
        </p:nvCxnSpPr>
        <p:spPr>
          <a:xfrm>
            <a:off x="2336799" y="3333750"/>
            <a:ext cx="393699" cy="69215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749299" y="4572000"/>
            <a:ext cx="1587499" cy="5207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825499" y="4648200"/>
            <a:ext cx="1435099" cy="4533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700" b="1">
                <a:solidFill>
                  <a:srgbClr val="111827"/>
                </a:solidFill>
              </a:rPr>
              <a:t>Object state z_t
165 dimensions</a:t>
            </a:r>
            <a:endParaRPr lang="en-US" sz="1700"/>
          </a:p>
        </p:txBody>
      </p:sp>
      <p:sp>
        <p:nvSpPr>
          <p:cNvPr id="24" name="shape 24"/>
          <p:cNvSpPr/>
          <p:nvPr/>
        </p:nvSpPr>
        <p:spPr>
          <a:xfrm>
            <a:off x="3206749" y="761999"/>
            <a:ext cx="4381499" cy="514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332104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(b)</a:t>
            </a:r>
            <a:endParaRPr lang="en-US" sz="1800"/>
          </a:p>
        </p:txBody>
      </p:sp>
      <p:sp>
        <p:nvSpPr>
          <p:cNvPr id="26" name="shape 26"/>
          <p:cNvSpPr/>
          <p:nvPr/>
        </p:nvSpPr>
        <p:spPr>
          <a:xfrm>
            <a:off x="3575049" y="844550"/>
            <a:ext cx="81724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Learning core</a:t>
            </a:r>
            <a:endParaRPr lang="en-US" sz="1800"/>
          </a:p>
        </p:txBody>
      </p:sp>
      <p:sp>
        <p:nvSpPr>
          <p:cNvPr id="27" name="shape 27"/>
          <p:cNvSpPr/>
          <p:nvPr/>
        </p:nvSpPr>
        <p:spPr>
          <a:xfrm>
            <a:off x="3555999" y="1333500"/>
            <a:ext cx="1460499" cy="584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3632199" y="1409699"/>
            <a:ext cx="13080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Object encoder
shared MLP/token mixer</a:t>
            </a:r>
            <a:endParaRPr lang="en-US" sz="1600"/>
          </a:p>
        </p:txBody>
      </p:sp>
      <p:sp>
        <p:nvSpPr>
          <p:cNvPr id="29" name="shape 29"/>
          <p:cNvSpPr/>
          <p:nvPr/>
        </p:nvSpPr>
        <p:spPr>
          <a:xfrm>
            <a:off x="5397499" y="1333500"/>
            <a:ext cx="1587499" cy="584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5473699" y="1409699"/>
            <a:ext cx="14350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Auxiliary world model
z_{t+1}, r_t, done_t</a:t>
            </a:r>
            <a:endParaRPr lang="en-US" sz="1600"/>
          </a:p>
        </p:txBody>
      </p:sp>
      <p:sp>
        <p:nvSpPr>
          <p:cNvPr id="31" name="shape 31"/>
          <p:cNvSpPr/>
          <p:nvPr/>
        </p:nvSpPr>
        <p:spPr>
          <a:xfrm>
            <a:off x="3555999" y="2476500"/>
            <a:ext cx="1460499" cy="5842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3632199" y="2552700"/>
            <a:ext cx="13080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SAC Flow actor
velocity field over actions</a:t>
            </a:r>
            <a:endParaRPr lang="en-US" sz="1600"/>
          </a:p>
        </p:txBody>
      </p:sp>
      <p:sp>
        <p:nvSpPr>
          <p:cNvPr id="33" name="shape 33"/>
          <p:cNvSpPr/>
          <p:nvPr/>
        </p:nvSpPr>
        <p:spPr>
          <a:xfrm>
            <a:off x="5397499" y="2476500"/>
            <a:ext cx="1587499" cy="584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5473699" y="2552700"/>
            <a:ext cx="14350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Centralized twin-Q
Q1/Q2 over both robots</a:t>
            </a:r>
            <a:endParaRPr lang="en-US" sz="1600"/>
          </a:p>
        </p:txBody>
      </p:sp>
      <p:sp>
        <p:nvSpPr>
          <p:cNvPr id="35" name="shape 35"/>
          <p:cNvSpPr/>
          <p:nvPr/>
        </p:nvSpPr>
        <p:spPr>
          <a:xfrm>
            <a:off x="4222749" y="3714750"/>
            <a:ext cx="1904999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36" name="shape 36"/>
          <p:cNvSpPr/>
          <p:nvPr/>
        </p:nvSpPr>
        <p:spPr>
          <a:xfrm>
            <a:off x="4298949" y="3790950"/>
            <a:ext cx="17525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Replay buffer
(z, obs, action, reward, next z)</a:t>
            </a:r>
            <a:endParaRPr lang="en-US" sz="1600"/>
          </a:p>
        </p:txBody>
      </p:sp>
      <p:cxnSp>
        <p:nvCxnSpPr>
          <p:cNvPr id="37" name="line 37"/>
          <p:cNvCxnSpPr/>
          <p:nvPr/>
        </p:nvCxnSpPr>
        <p:spPr>
          <a:xfrm>
            <a:off x="5016499" y="1625600"/>
            <a:ext cx="38099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38" name="line 38"/>
          <p:cNvCxnSpPr/>
          <p:nvPr/>
        </p:nvCxnSpPr>
        <p:spPr>
          <a:xfrm>
            <a:off x="4286249" y="1917700"/>
            <a:ext cx="1" cy="5588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39" name="line 39"/>
          <p:cNvCxnSpPr/>
          <p:nvPr/>
        </p:nvCxnSpPr>
        <p:spPr>
          <a:xfrm>
            <a:off x="6191249" y="1917700"/>
            <a:ext cx="1" cy="5588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40" name="line 40"/>
          <p:cNvCxnSpPr/>
          <p:nvPr/>
        </p:nvCxnSpPr>
        <p:spPr>
          <a:xfrm>
            <a:off x="5016499" y="2768600"/>
            <a:ext cx="38099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41" name="line 41"/>
          <p:cNvCxnSpPr/>
          <p:nvPr/>
        </p:nvCxnSpPr>
        <p:spPr>
          <a:xfrm>
            <a:off x="4127499" y="3060700"/>
            <a:ext cx="380999" cy="65405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42" name="line 42"/>
          <p:cNvCxnSpPr/>
          <p:nvPr/>
        </p:nvCxnSpPr>
        <p:spPr>
          <a:xfrm>
            <a:off x="5968999" y="3060700"/>
            <a:ext cx="253999" cy="65405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43" name="shape 43"/>
          <p:cNvSpPr/>
          <p:nvPr/>
        </p:nvSpPr>
        <p:spPr>
          <a:xfrm>
            <a:off x="3555999" y="4572000"/>
            <a:ext cx="35559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>
                <a:solidFill>
                  <a:srgbClr val="111827"/>
                </a:solidFill>
              </a:rPr>
              <a:t>The auxiliary world model regularizes object-centric representation and prepares a clean interface for TD-MPC2/Dreamer-style imagination rollouts.</a:t>
            </a:r>
            <a:endParaRPr lang="en-US" sz="1500"/>
          </a:p>
        </p:txBody>
      </p:sp>
      <p:sp>
        <p:nvSpPr>
          <p:cNvPr id="44" name="shape 44"/>
          <p:cNvSpPr/>
          <p:nvPr/>
        </p:nvSpPr>
        <p:spPr>
          <a:xfrm>
            <a:off x="7823199" y="761999"/>
            <a:ext cx="4127499" cy="514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45" name="shape 45"/>
          <p:cNvSpPr/>
          <p:nvPr/>
        </p:nvSpPr>
        <p:spPr>
          <a:xfrm>
            <a:off x="793749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(c)</a:t>
            </a:r>
            <a:endParaRPr lang="en-US" sz="1800"/>
          </a:p>
        </p:txBody>
      </p:sp>
      <p:sp>
        <p:nvSpPr>
          <p:cNvPr id="46" name="shape 46"/>
          <p:cNvSpPr/>
          <p:nvPr/>
        </p:nvSpPr>
        <p:spPr>
          <a:xfrm>
            <a:off x="8191499" y="844550"/>
            <a:ext cx="169735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Deployment and safety layer</a:t>
            </a:r>
            <a:endParaRPr lang="en-US" sz="1800"/>
          </a:p>
        </p:txBody>
      </p:sp>
      <p:sp>
        <p:nvSpPr>
          <p:cNvPr id="47" name="shape 47"/>
          <p:cNvSpPr/>
          <p:nvPr/>
        </p:nvSpPr>
        <p:spPr>
          <a:xfrm>
            <a:off x="8223249" y="1301750"/>
            <a:ext cx="1460499" cy="4699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48" name="shape 48"/>
          <p:cNvSpPr/>
          <p:nvPr/>
        </p:nvSpPr>
        <p:spPr>
          <a:xfrm>
            <a:off x="8299449" y="1377950"/>
            <a:ext cx="13080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Raw flow action
6 tactical controls</a:t>
            </a:r>
            <a:endParaRPr lang="en-US" sz="1600"/>
          </a:p>
        </p:txBody>
      </p:sp>
      <p:sp>
        <p:nvSpPr>
          <p:cNvPr id="49" name="shape 49"/>
          <p:cNvSpPr/>
          <p:nvPr/>
        </p:nvSpPr>
        <p:spPr>
          <a:xfrm>
            <a:off x="8223249" y="2222500"/>
            <a:ext cx="1460499" cy="46990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50" name="shape 50"/>
          <p:cNvSpPr/>
          <p:nvPr/>
        </p:nvSpPr>
        <p:spPr>
          <a:xfrm>
            <a:off x="8299449" y="2298700"/>
            <a:ext cx="13080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Expert residual
route / base / push prior</a:t>
            </a:r>
            <a:endParaRPr lang="en-US" sz="1600"/>
          </a:p>
        </p:txBody>
      </p:sp>
      <p:sp>
        <p:nvSpPr>
          <p:cNvPr id="51" name="shape 51"/>
          <p:cNvSpPr/>
          <p:nvPr/>
        </p:nvSpPr>
        <p:spPr>
          <a:xfrm>
            <a:off x="8223249" y="3143250"/>
            <a:ext cx="1460499" cy="4699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52" name="shape 52"/>
          <p:cNvSpPr/>
          <p:nvPr/>
        </p:nvSpPr>
        <p:spPr>
          <a:xfrm>
            <a:off x="8299449" y="3219450"/>
            <a:ext cx="13080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Geometry action shield
line-of-sight, dwell, blockers</a:t>
            </a:r>
            <a:endParaRPr lang="en-US" sz="1500"/>
          </a:p>
        </p:txBody>
      </p:sp>
      <p:sp>
        <p:nvSpPr>
          <p:cNvPr id="53" name="shape 53"/>
          <p:cNvSpPr/>
          <p:nvPr/>
        </p:nvSpPr>
        <p:spPr>
          <a:xfrm>
            <a:off x="10159999" y="2222500"/>
            <a:ext cx="1333499" cy="4699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54" name="shape 54"/>
          <p:cNvSpPr/>
          <p:nvPr/>
        </p:nvSpPr>
        <p:spPr>
          <a:xfrm>
            <a:off x="10236199" y="2298700"/>
            <a:ext cx="11810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ROS2/Nav2 contract
cmd_vel + shooter services</a:t>
            </a:r>
            <a:endParaRPr lang="en-US" sz="1500"/>
          </a:p>
        </p:txBody>
      </p:sp>
      <p:cxnSp>
        <p:nvCxnSpPr>
          <p:cNvPr id="55" name="line 55"/>
          <p:cNvCxnSpPr/>
          <p:nvPr/>
        </p:nvCxnSpPr>
        <p:spPr>
          <a:xfrm>
            <a:off x="9683749" y="1536700"/>
            <a:ext cx="476249" cy="92075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56" name="line 56"/>
          <p:cNvCxnSpPr/>
          <p:nvPr/>
        </p:nvCxnSpPr>
        <p:spPr>
          <a:xfrm>
            <a:off x="9683749" y="2457450"/>
            <a:ext cx="47624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57" name="line 57"/>
          <p:cNvCxnSpPr/>
          <p:nvPr/>
        </p:nvCxnSpPr>
        <p:spPr>
          <a:xfrm>
            <a:off x="9683749" y="2457450"/>
            <a:ext cx="476249" cy="92075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58" name="shape 58"/>
          <p:cNvSpPr/>
          <p:nvPr/>
        </p:nvSpPr>
        <p:spPr>
          <a:xfrm>
            <a:off x="8508999" y="4286250"/>
            <a:ext cx="2603499" cy="7493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59" name="shape 59"/>
          <p:cNvSpPr/>
          <p:nvPr/>
        </p:nvSpPr>
        <p:spPr>
          <a:xfrm>
            <a:off x="8585199" y="4362450"/>
            <a:ext cx="2451099" cy="4533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700" b="1">
                <a:solidFill>
                  <a:srgbClr val="111827"/>
                </a:solidFill>
              </a:rPr>
              <a:t>Legal match action
attack target / push box / base rush / recover / fire</a:t>
            </a:r>
            <a:endParaRPr lang="en-US" sz="1700"/>
          </a:p>
        </p:txBody>
      </p:sp>
      <p:cxnSp>
        <p:nvCxnSpPr>
          <p:cNvPr id="60" name="line 60"/>
          <p:cNvCxnSpPr/>
          <p:nvPr/>
        </p:nvCxnSpPr>
        <p:spPr>
          <a:xfrm>
            <a:off x="10826749" y="2692400"/>
            <a:ext cx="1" cy="1593849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61" name="shape 61"/>
          <p:cNvSpPr/>
          <p:nvPr/>
        </p:nvSpPr>
        <p:spPr>
          <a:xfrm>
            <a:off x="469899" y="6108700"/>
            <a:ext cx="11252199" cy="3429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62" name="shape 62"/>
          <p:cNvSpPr/>
          <p:nvPr/>
        </p:nvSpPr>
        <p:spPr>
          <a:xfrm>
            <a:off x="546099" y="6184900"/>
            <a:ext cx="11099799" cy="6134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2300" b="1">
                <a:solidFill>
                  <a:srgbClr val="111827"/>
                </a:solidFill>
              </a:rPr>
              <a:t>Key design: learned high-level strategy stays inside explicit physical and rule contracts.</a:t>
            </a:r>
            <a:endParaRPr lang="en-US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241299" y="114300"/>
            <a:ext cx="9524999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2400" b="1">
                <a:solidFill>
                  <a:srgbClr val="111827"/>
                </a:solidFill>
              </a:rPr>
              <a:t>Training Dynamics and Multi-Seed Evaluation</a:t>
            </a:r>
            <a:endParaRPr lang="en-US" sz="2400"/>
          </a:p>
        </p:txBody>
      </p:sp>
      <p:sp>
        <p:nvSpPr>
          <p:cNvPr id="3" name="shape 3"/>
          <p:cNvSpPr/>
          <p:nvPr/>
        </p:nvSpPr>
        <p:spPr>
          <a:xfrm>
            <a:off x="266699" y="393700"/>
            <a:ext cx="9524999" cy="1904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Actual logged metrics from the selected world-model SAC Flow checkpoint and strict replay audit.</a:t>
            </a:r>
            <a:endParaRPr lang="en-US" sz="1200"/>
          </a:p>
        </p:txBody>
      </p:sp>
      <p:sp>
        <p:nvSpPr>
          <p:cNvPr id="4" name="shape 4"/>
          <p:cNvSpPr/>
          <p:nvPr/>
        </p:nvSpPr>
        <p:spPr>
          <a:xfrm>
            <a:off x="241299" y="761999"/>
            <a:ext cx="5587999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35559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(a)</a:t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09599" y="844550"/>
            <a:ext cx="94297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Training curves</a:t>
            </a:r>
            <a:endParaRPr lang="en-US" sz="1800"/>
          </a:p>
        </p:txBody>
      </p:sp>
      <p:cxnSp>
        <p:nvCxnSpPr>
          <p:cNvPr id="7" name="line 7"/>
          <p:cNvCxnSpPr/>
          <p:nvPr/>
        </p:nvCxnSpPr>
        <p:spPr>
          <a:xfrm>
            <a:off x="584199" y="1333500"/>
            <a:ext cx="2222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8" name="line 8"/>
          <p:cNvCxnSpPr/>
          <p:nvPr/>
        </p:nvCxnSpPr>
        <p:spPr>
          <a:xfrm>
            <a:off x="584199" y="1635125"/>
            <a:ext cx="2222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9" name="line 9"/>
          <p:cNvCxnSpPr/>
          <p:nvPr/>
        </p:nvCxnSpPr>
        <p:spPr>
          <a:xfrm>
            <a:off x="584199" y="1936749"/>
            <a:ext cx="2222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0" name="line 10"/>
          <p:cNvCxnSpPr/>
          <p:nvPr/>
        </p:nvCxnSpPr>
        <p:spPr>
          <a:xfrm>
            <a:off x="584199" y="2238375"/>
            <a:ext cx="2222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1" name="line 11"/>
          <p:cNvCxnSpPr/>
          <p:nvPr/>
        </p:nvCxnSpPr>
        <p:spPr>
          <a:xfrm>
            <a:off x="584199" y="2540000"/>
            <a:ext cx="2222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2" name="line 12"/>
          <p:cNvCxnSpPr/>
          <p:nvPr/>
        </p:nvCxnSpPr>
        <p:spPr>
          <a:xfrm>
            <a:off x="584199" y="2540000"/>
            <a:ext cx="222249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13" name="line 13"/>
          <p:cNvCxnSpPr/>
          <p:nvPr/>
        </p:nvCxnSpPr>
        <p:spPr>
          <a:xfrm>
            <a:off x="584199" y="1333500"/>
            <a:ext cx="1" cy="12065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14" name="shape 14"/>
          <p:cNvSpPr/>
          <p:nvPr/>
        </p:nvSpPr>
        <p:spPr>
          <a:xfrm>
            <a:off x="406399" y="1244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mean reward</a:t>
            </a:r>
            <a:endParaRPr lang="en-US" sz="1200"/>
          </a:p>
        </p:txBody>
      </p:sp>
      <p:sp>
        <p:nvSpPr>
          <p:cNvPr id="15" name="shape 15"/>
          <p:cNvSpPr/>
          <p:nvPr/>
        </p:nvSpPr>
        <p:spPr>
          <a:xfrm>
            <a:off x="2298699" y="26797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env steps</a:t>
            </a:r>
            <a:endParaRPr lang="en-US" sz="1200"/>
          </a:p>
        </p:txBody>
      </p:sp>
      <p:cxnSp>
        <p:nvCxnSpPr>
          <p:cNvPr id="16" name="line 16"/>
          <p:cNvCxnSpPr/>
          <p:nvPr/>
        </p:nvCxnSpPr>
        <p:spPr>
          <a:xfrm>
            <a:off x="584199" y="2152007"/>
            <a:ext cx="35846" cy="387992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17" name="line 17"/>
          <p:cNvCxnSpPr/>
          <p:nvPr/>
        </p:nvCxnSpPr>
        <p:spPr>
          <a:xfrm>
            <a:off x="620046" y="2152007"/>
            <a:ext cx="35846" cy="154610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18" name="line 18"/>
          <p:cNvCxnSpPr/>
          <p:nvPr/>
        </p:nvCxnSpPr>
        <p:spPr>
          <a:xfrm>
            <a:off x="655893" y="2306618"/>
            <a:ext cx="35846" cy="12468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19" name="line 19"/>
          <p:cNvCxnSpPr/>
          <p:nvPr/>
        </p:nvCxnSpPr>
        <p:spPr>
          <a:xfrm>
            <a:off x="691740" y="2319086"/>
            <a:ext cx="35846" cy="14803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20" name="line 20"/>
          <p:cNvCxnSpPr/>
          <p:nvPr/>
        </p:nvCxnSpPr>
        <p:spPr>
          <a:xfrm>
            <a:off x="727587" y="2333889"/>
            <a:ext cx="35846" cy="38388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21" name="line 21"/>
          <p:cNvCxnSpPr/>
          <p:nvPr/>
        </p:nvCxnSpPr>
        <p:spPr>
          <a:xfrm>
            <a:off x="763433" y="2372278"/>
            <a:ext cx="35846" cy="5121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22" name="line 22"/>
          <p:cNvCxnSpPr/>
          <p:nvPr/>
        </p:nvCxnSpPr>
        <p:spPr>
          <a:xfrm>
            <a:off x="799280" y="2256297"/>
            <a:ext cx="35846" cy="121101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23" name="line 23"/>
          <p:cNvCxnSpPr/>
          <p:nvPr/>
        </p:nvCxnSpPr>
        <p:spPr>
          <a:xfrm>
            <a:off x="835127" y="2256297"/>
            <a:ext cx="35846" cy="58100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24" name="line 24"/>
          <p:cNvCxnSpPr/>
          <p:nvPr/>
        </p:nvCxnSpPr>
        <p:spPr>
          <a:xfrm>
            <a:off x="870974" y="2189813"/>
            <a:ext cx="35846" cy="124584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25" name="line 25"/>
          <p:cNvCxnSpPr/>
          <p:nvPr/>
        </p:nvCxnSpPr>
        <p:spPr>
          <a:xfrm>
            <a:off x="906820" y="2078483"/>
            <a:ext cx="35846" cy="111330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26" name="line 26"/>
          <p:cNvCxnSpPr/>
          <p:nvPr/>
        </p:nvCxnSpPr>
        <p:spPr>
          <a:xfrm>
            <a:off x="942667" y="2078483"/>
            <a:ext cx="35846" cy="244869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27" name="line 27"/>
          <p:cNvCxnSpPr/>
          <p:nvPr/>
        </p:nvCxnSpPr>
        <p:spPr>
          <a:xfrm>
            <a:off x="978514" y="2216856"/>
            <a:ext cx="35846" cy="106495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28" name="line 28"/>
          <p:cNvCxnSpPr/>
          <p:nvPr/>
        </p:nvCxnSpPr>
        <p:spPr>
          <a:xfrm>
            <a:off x="1014361" y="2216856"/>
            <a:ext cx="35846" cy="47636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29" name="line 29"/>
          <p:cNvCxnSpPr/>
          <p:nvPr/>
        </p:nvCxnSpPr>
        <p:spPr>
          <a:xfrm>
            <a:off x="1050208" y="2014186"/>
            <a:ext cx="35846" cy="250307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30" name="line 30"/>
          <p:cNvCxnSpPr/>
          <p:nvPr/>
        </p:nvCxnSpPr>
        <p:spPr>
          <a:xfrm>
            <a:off x="1086054" y="1953506"/>
            <a:ext cx="35846" cy="60679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31" name="line 31"/>
          <p:cNvCxnSpPr/>
          <p:nvPr/>
        </p:nvCxnSpPr>
        <p:spPr>
          <a:xfrm>
            <a:off x="1121901" y="1953506"/>
            <a:ext cx="35846" cy="430997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32" name="line 32"/>
          <p:cNvCxnSpPr/>
          <p:nvPr/>
        </p:nvCxnSpPr>
        <p:spPr>
          <a:xfrm>
            <a:off x="1157748" y="2384504"/>
            <a:ext cx="35846" cy="8207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33" name="line 33"/>
          <p:cNvCxnSpPr/>
          <p:nvPr/>
        </p:nvCxnSpPr>
        <p:spPr>
          <a:xfrm>
            <a:off x="1193595" y="1408863"/>
            <a:ext cx="35846" cy="983848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34" name="line 34"/>
          <p:cNvCxnSpPr/>
          <p:nvPr/>
        </p:nvCxnSpPr>
        <p:spPr>
          <a:xfrm>
            <a:off x="1229441" y="1384667"/>
            <a:ext cx="35846" cy="24196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35" name="line 35"/>
          <p:cNvCxnSpPr/>
          <p:nvPr/>
        </p:nvCxnSpPr>
        <p:spPr>
          <a:xfrm>
            <a:off x="1265288" y="1384667"/>
            <a:ext cx="35846" cy="800541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36" name="line 36"/>
          <p:cNvCxnSpPr/>
          <p:nvPr/>
        </p:nvCxnSpPr>
        <p:spPr>
          <a:xfrm>
            <a:off x="1301135" y="2185208"/>
            <a:ext cx="35846" cy="145587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37" name="line 37"/>
          <p:cNvCxnSpPr/>
          <p:nvPr/>
        </p:nvCxnSpPr>
        <p:spPr>
          <a:xfrm>
            <a:off x="1336982" y="2134061"/>
            <a:ext cx="35846" cy="196734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38" name="line 38"/>
          <p:cNvCxnSpPr/>
          <p:nvPr/>
        </p:nvCxnSpPr>
        <p:spPr>
          <a:xfrm>
            <a:off x="1372828" y="2134061"/>
            <a:ext cx="35846" cy="127889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39" name="line 39"/>
          <p:cNvCxnSpPr/>
          <p:nvPr/>
        </p:nvCxnSpPr>
        <p:spPr>
          <a:xfrm>
            <a:off x="1408675" y="2261951"/>
            <a:ext cx="35846" cy="78126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40" name="line 40"/>
          <p:cNvCxnSpPr/>
          <p:nvPr/>
        </p:nvCxnSpPr>
        <p:spPr>
          <a:xfrm>
            <a:off x="1444522" y="1761064"/>
            <a:ext cx="35846" cy="579013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41" name="line 41"/>
          <p:cNvCxnSpPr/>
          <p:nvPr/>
        </p:nvCxnSpPr>
        <p:spPr>
          <a:xfrm>
            <a:off x="1480369" y="1761064"/>
            <a:ext cx="35846" cy="141261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42" name="line 42"/>
          <p:cNvCxnSpPr/>
          <p:nvPr/>
        </p:nvCxnSpPr>
        <p:spPr>
          <a:xfrm>
            <a:off x="1516216" y="1902325"/>
            <a:ext cx="35846" cy="442926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43" name="line 43"/>
          <p:cNvCxnSpPr/>
          <p:nvPr/>
        </p:nvCxnSpPr>
        <p:spPr>
          <a:xfrm>
            <a:off x="1552062" y="1338702"/>
            <a:ext cx="35846" cy="1006549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44" name="line 44"/>
          <p:cNvCxnSpPr/>
          <p:nvPr/>
        </p:nvCxnSpPr>
        <p:spPr>
          <a:xfrm>
            <a:off x="1587909" y="1338702"/>
            <a:ext cx="35846" cy="113530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45" name="line 45"/>
          <p:cNvCxnSpPr/>
          <p:nvPr/>
        </p:nvCxnSpPr>
        <p:spPr>
          <a:xfrm>
            <a:off x="1623756" y="1452233"/>
            <a:ext cx="35846" cy="872203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46" name="line 46"/>
          <p:cNvCxnSpPr/>
          <p:nvPr/>
        </p:nvCxnSpPr>
        <p:spPr>
          <a:xfrm>
            <a:off x="1659603" y="2324436"/>
            <a:ext cx="35846" cy="49175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47" name="line 47"/>
          <p:cNvCxnSpPr/>
          <p:nvPr/>
        </p:nvCxnSpPr>
        <p:spPr>
          <a:xfrm>
            <a:off x="1695449" y="2334103"/>
            <a:ext cx="35846" cy="39508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48" name="line 48"/>
          <p:cNvCxnSpPr/>
          <p:nvPr/>
        </p:nvCxnSpPr>
        <p:spPr>
          <a:xfrm>
            <a:off x="1731296" y="2334103"/>
            <a:ext cx="35846" cy="8359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49" name="line 49"/>
          <p:cNvCxnSpPr/>
          <p:nvPr/>
        </p:nvCxnSpPr>
        <p:spPr>
          <a:xfrm>
            <a:off x="1767143" y="2220797"/>
            <a:ext cx="35846" cy="121665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50" name="line 50"/>
          <p:cNvCxnSpPr/>
          <p:nvPr/>
        </p:nvCxnSpPr>
        <p:spPr>
          <a:xfrm>
            <a:off x="1802990" y="2220797"/>
            <a:ext cx="35846" cy="149859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51" name="line 51"/>
          <p:cNvCxnSpPr/>
          <p:nvPr/>
        </p:nvCxnSpPr>
        <p:spPr>
          <a:xfrm>
            <a:off x="1838837" y="2180733"/>
            <a:ext cx="35846" cy="189923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52" name="line 52"/>
          <p:cNvCxnSpPr/>
          <p:nvPr/>
        </p:nvCxnSpPr>
        <p:spPr>
          <a:xfrm>
            <a:off x="1874683" y="1459321"/>
            <a:ext cx="35846" cy="721411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53" name="line 53"/>
          <p:cNvCxnSpPr/>
          <p:nvPr/>
        </p:nvCxnSpPr>
        <p:spPr>
          <a:xfrm>
            <a:off x="1910530" y="1459321"/>
            <a:ext cx="35846" cy="866933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54" name="line 54"/>
          <p:cNvCxnSpPr/>
          <p:nvPr/>
        </p:nvCxnSpPr>
        <p:spPr>
          <a:xfrm>
            <a:off x="1946377" y="2243705"/>
            <a:ext cx="35846" cy="82549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55" name="line 55"/>
          <p:cNvCxnSpPr/>
          <p:nvPr/>
        </p:nvCxnSpPr>
        <p:spPr>
          <a:xfrm>
            <a:off x="1982224" y="2243705"/>
            <a:ext cx="35846" cy="98777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56" name="line 56"/>
          <p:cNvCxnSpPr/>
          <p:nvPr/>
        </p:nvCxnSpPr>
        <p:spPr>
          <a:xfrm>
            <a:off x="2018070" y="2027766"/>
            <a:ext cx="35846" cy="314715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57" name="line 57"/>
          <p:cNvCxnSpPr/>
          <p:nvPr/>
        </p:nvCxnSpPr>
        <p:spPr>
          <a:xfrm>
            <a:off x="2053917" y="2027766"/>
            <a:ext cx="35846" cy="95091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58" name="line 58"/>
          <p:cNvCxnSpPr/>
          <p:nvPr/>
        </p:nvCxnSpPr>
        <p:spPr>
          <a:xfrm>
            <a:off x="2089764" y="2107031"/>
            <a:ext cx="35846" cy="15827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59" name="line 59"/>
          <p:cNvCxnSpPr/>
          <p:nvPr/>
        </p:nvCxnSpPr>
        <p:spPr>
          <a:xfrm>
            <a:off x="2125611" y="2107031"/>
            <a:ext cx="35846" cy="108572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60" name="line 60"/>
          <p:cNvCxnSpPr/>
          <p:nvPr/>
        </p:nvCxnSpPr>
        <p:spPr>
          <a:xfrm>
            <a:off x="2161458" y="2215603"/>
            <a:ext cx="35846" cy="120374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61" name="line 61"/>
          <p:cNvCxnSpPr/>
          <p:nvPr/>
        </p:nvCxnSpPr>
        <p:spPr>
          <a:xfrm>
            <a:off x="2197304" y="2196269"/>
            <a:ext cx="35846" cy="139708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62" name="line 62"/>
          <p:cNvCxnSpPr/>
          <p:nvPr/>
        </p:nvCxnSpPr>
        <p:spPr>
          <a:xfrm>
            <a:off x="2233151" y="2196269"/>
            <a:ext cx="35846" cy="136122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63" name="line 63"/>
          <p:cNvCxnSpPr/>
          <p:nvPr/>
        </p:nvCxnSpPr>
        <p:spPr>
          <a:xfrm>
            <a:off x="2268998" y="2121695"/>
            <a:ext cx="35846" cy="210696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64" name="line 64"/>
          <p:cNvCxnSpPr/>
          <p:nvPr/>
        </p:nvCxnSpPr>
        <p:spPr>
          <a:xfrm>
            <a:off x="2304845" y="2121695"/>
            <a:ext cx="35846" cy="83393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65" name="line 65"/>
          <p:cNvCxnSpPr/>
          <p:nvPr/>
        </p:nvCxnSpPr>
        <p:spPr>
          <a:xfrm>
            <a:off x="2340691" y="2205089"/>
            <a:ext cx="35846" cy="174013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66" name="line 66"/>
          <p:cNvCxnSpPr/>
          <p:nvPr/>
        </p:nvCxnSpPr>
        <p:spPr>
          <a:xfrm>
            <a:off x="2376538" y="1851038"/>
            <a:ext cx="35846" cy="528063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67" name="line 67"/>
          <p:cNvCxnSpPr/>
          <p:nvPr/>
        </p:nvCxnSpPr>
        <p:spPr>
          <a:xfrm>
            <a:off x="2412385" y="1851038"/>
            <a:ext cx="35846" cy="494838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68" name="line 68"/>
          <p:cNvCxnSpPr/>
          <p:nvPr/>
        </p:nvCxnSpPr>
        <p:spPr>
          <a:xfrm>
            <a:off x="2448232" y="2279276"/>
            <a:ext cx="35846" cy="66600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69" name="line 69"/>
          <p:cNvCxnSpPr/>
          <p:nvPr/>
        </p:nvCxnSpPr>
        <p:spPr>
          <a:xfrm>
            <a:off x="2484078" y="2185555"/>
            <a:ext cx="35846" cy="93721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70" name="line 70"/>
          <p:cNvCxnSpPr/>
          <p:nvPr/>
        </p:nvCxnSpPr>
        <p:spPr>
          <a:xfrm>
            <a:off x="2519925" y="2185555"/>
            <a:ext cx="35846" cy="131052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71" name="line 71"/>
          <p:cNvCxnSpPr/>
          <p:nvPr/>
        </p:nvCxnSpPr>
        <p:spPr>
          <a:xfrm>
            <a:off x="2555772" y="2280971"/>
            <a:ext cx="35846" cy="35636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72" name="line 72"/>
          <p:cNvCxnSpPr/>
          <p:nvPr/>
        </p:nvCxnSpPr>
        <p:spPr>
          <a:xfrm>
            <a:off x="2591619" y="2238460"/>
            <a:ext cx="35846" cy="42511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73" name="line 73"/>
          <p:cNvCxnSpPr/>
          <p:nvPr/>
        </p:nvCxnSpPr>
        <p:spPr>
          <a:xfrm>
            <a:off x="2627466" y="1333500"/>
            <a:ext cx="35846" cy="904960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74" name="line 74"/>
          <p:cNvCxnSpPr/>
          <p:nvPr/>
        </p:nvCxnSpPr>
        <p:spPr>
          <a:xfrm>
            <a:off x="2663312" y="1333500"/>
            <a:ext cx="35846" cy="765052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75" name="line 75"/>
          <p:cNvCxnSpPr/>
          <p:nvPr/>
        </p:nvCxnSpPr>
        <p:spPr>
          <a:xfrm>
            <a:off x="2699159" y="2098552"/>
            <a:ext cx="35846" cy="206468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76" name="line 76"/>
          <p:cNvCxnSpPr/>
          <p:nvPr/>
        </p:nvCxnSpPr>
        <p:spPr>
          <a:xfrm>
            <a:off x="2735006" y="2305020"/>
            <a:ext cx="35846" cy="45563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cxnSp>
        <p:nvCxnSpPr>
          <p:cNvPr id="77" name="line 77"/>
          <p:cNvCxnSpPr/>
          <p:nvPr/>
        </p:nvCxnSpPr>
        <p:spPr>
          <a:xfrm>
            <a:off x="2770853" y="2328797"/>
            <a:ext cx="35846" cy="21786"/>
          </a:xfrm>
          <a:prstGeom prst="line">
            <a:avLst/>
          </a:prstGeom>
          <a:ln w="19050">
            <a:solidFill>
              <a:srgbClr val="2563EB"/>
            </a:solidFill>
            <a:tailEnd type="triangle"/>
          </a:ln>
        </p:spPr>
      </p:cxnSp>
      <p:sp>
        <p:nvSpPr>
          <p:cNvPr id="78" name="shape 78"/>
          <p:cNvSpPr/>
          <p:nvPr/>
        </p:nvSpPr>
        <p:spPr>
          <a:xfrm>
            <a:off x="2781299" y="2303397"/>
            <a:ext cx="50799" cy="508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79" name="shape 79"/>
          <p:cNvSpPr/>
          <p:nvPr/>
        </p:nvSpPr>
        <p:spPr>
          <a:xfrm>
            <a:off x="634999" y="1384300"/>
            <a:ext cx="507999" cy="952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000">
                <a:solidFill>
                  <a:srgbClr val="111827"/>
                </a:solidFill>
              </a:rPr>
              <a:t>1.16</a:t>
            </a:r>
            <a:endParaRPr lang="en-US" sz="1000"/>
          </a:p>
        </p:txBody>
      </p:sp>
      <p:sp>
        <p:nvSpPr>
          <p:cNvPr id="80" name="shape 80"/>
          <p:cNvSpPr/>
          <p:nvPr/>
        </p:nvSpPr>
        <p:spPr>
          <a:xfrm>
            <a:off x="634999" y="2425700"/>
            <a:ext cx="507999" cy="952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000">
                <a:solidFill>
                  <a:srgbClr val="111827"/>
                </a:solidFill>
              </a:rPr>
              <a:t>-0.0113</a:t>
            </a:r>
            <a:endParaRPr lang="en-US" sz="1000"/>
          </a:p>
        </p:txBody>
      </p:sp>
      <p:cxnSp>
        <p:nvCxnSpPr>
          <p:cNvPr id="81" name="line 81"/>
          <p:cNvCxnSpPr/>
          <p:nvPr/>
        </p:nvCxnSpPr>
        <p:spPr>
          <a:xfrm>
            <a:off x="3301999" y="1333500"/>
            <a:ext cx="2095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82" name="line 82"/>
          <p:cNvCxnSpPr/>
          <p:nvPr/>
        </p:nvCxnSpPr>
        <p:spPr>
          <a:xfrm>
            <a:off x="3301999" y="1635125"/>
            <a:ext cx="2095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83" name="line 83"/>
          <p:cNvCxnSpPr/>
          <p:nvPr/>
        </p:nvCxnSpPr>
        <p:spPr>
          <a:xfrm>
            <a:off x="3301999" y="1936749"/>
            <a:ext cx="2095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84" name="line 84"/>
          <p:cNvCxnSpPr/>
          <p:nvPr/>
        </p:nvCxnSpPr>
        <p:spPr>
          <a:xfrm>
            <a:off x="3301999" y="2238375"/>
            <a:ext cx="2095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85" name="line 85"/>
          <p:cNvCxnSpPr/>
          <p:nvPr/>
        </p:nvCxnSpPr>
        <p:spPr>
          <a:xfrm>
            <a:off x="3301999" y="2540000"/>
            <a:ext cx="20954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86" name="line 86"/>
          <p:cNvCxnSpPr/>
          <p:nvPr/>
        </p:nvCxnSpPr>
        <p:spPr>
          <a:xfrm>
            <a:off x="3301999" y="2540000"/>
            <a:ext cx="209549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87" name="line 87"/>
          <p:cNvCxnSpPr/>
          <p:nvPr/>
        </p:nvCxnSpPr>
        <p:spPr>
          <a:xfrm>
            <a:off x="3301999" y="1333500"/>
            <a:ext cx="1" cy="12065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88" name="shape 88"/>
          <p:cNvSpPr/>
          <p:nvPr/>
        </p:nvSpPr>
        <p:spPr>
          <a:xfrm>
            <a:off x="3124199" y="1244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actor loss</a:t>
            </a:r>
            <a:endParaRPr lang="en-US" sz="1200"/>
          </a:p>
        </p:txBody>
      </p:sp>
      <p:sp>
        <p:nvSpPr>
          <p:cNvPr id="89" name="shape 89"/>
          <p:cNvSpPr/>
          <p:nvPr/>
        </p:nvSpPr>
        <p:spPr>
          <a:xfrm>
            <a:off x="4889499" y="26797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env steps</a:t>
            </a:r>
            <a:endParaRPr lang="en-US" sz="1200"/>
          </a:p>
        </p:txBody>
      </p:sp>
      <p:cxnSp>
        <p:nvCxnSpPr>
          <p:cNvPr id="90" name="line 90"/>
          <p:cNvCxnSpPr/>
          <p:nvPr/>
        </p:nvCxnSpPr>
        <p:spPr>
          <a:xfrm>
            <a:off x="3301999" y="1333500"/>
            <a:ext cx="33798" cy="1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91" name="line 91"/>
          <p:cNvCxnSpPr/>
          <p:nvPr/>
        </p:nvCxnSpPr>
        <p:spPr>
          <a:xfrm>
            <a:off x="3335798" y="1333500"/>
            <a:ext cx="33798" cy="140638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92" name="line 92"/>
          <p:cNvCxnSpPr/>
          <p:nvPr/>
        </p:nvCxnSpPr>
        <p:spPr>
          <a:xfrm>
            <a:off x="3369596" y="1474138"/>
            <a:ext cx="33798" cy="73833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93" name="line 93"/>
          <p:cNvCxnSpPr/>
          <p:nvPr/>
        </p:nvCxnSpPr>
        <p:spPr>
          <a:xfrm>
            <a:off x="3403395" y="1547971"/>
            <a:ext cx="33798" cy="76158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94" name="line 94"/>
          <p:cNvCxnSpPr/>
          <p:nvPr/>
        </p:nvCxnSpPr>
        <p:spPr>
          <a:xfrm>
            <a:off x="3437193" y="1624130"/>
            <a:ext cx="33798" cy="8270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95" name="line 95"/>
          <p:cNvCxnSpPr/>
          <p:nvPr/>
        </p:nvCxnSpPr>
        <p:spPr>
          <a:xfrm>
            <a:off x="3470991" y="1706837"/>
            <a:ext cx="33798" cy="7100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96" name="line 96"/>
          <p:cNvCxnSpPr/>
          <p:nvPr/>
        </p:nvCxnSpPr>
        <p:spPr>
          <a:xfrm>
            <a:off x="3504790" y="1777844"/>
            <a:ext cx="33798" cy="75572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97" name="line 97"/>
          <p:cNvCxnSpPr/>
          <p:nvPr/>
        </p:nvCxnSpPr>
        <p:spPr>
          <a:xfrm>
            <a:off x="3538588" y="1853416"/>
            <a:ext cx="33798" cy="62615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98" name="line 98"/>
          <p:cNvCxnSpPr/>
          <p:nvPr/>
        </p:nvCxnSpPr>
        <p:spPr>
          <a:xfrm>
            <a:off x="3572387" y="1916032"/>
            <a:ext cx="33798" cy="59431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99" name="line 99"/>
          <p:cNvCxnSpPr/>
          <p:nvPr/>
        </p:nvCxnSpPr>
        <p:spPr>
          <a:xfrm>
            <a:off x="3606185" y="1975464"/>
            <a:ext cx="33798" cy="50025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00" name="line 100"/>
          <p:cNvCxnSpPr/>
          <p:nvPr/>
        </p:nvCxnSpPr>
        <p:spPr>
          <a:xfrm>
            <a:off x="3639983" y="2025489"/>
            <a:ext cx="33798" cy="54166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01" name="line 101"/>
          <p:cNvCxnSpPr/>
          <p:nvPr/>
        </p:nvCxnSpPr>
        <p:spPr>
          <a:xfrm>
            <a:off x="3673782" y="2079656"/>
            <a:ext cx="33798" cy="50570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02" name="line 102"/>
          <p:cNvCxnSpPr/>
          <p:nvPr/>
        </p:nvCxnSpPr>
        <p:spPr>
          <a:xfrm>
            <a:off x="3707580" y="2130227"/>
            <a:ext cx="33798" cy="44610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03" name="line 103"/>
          <p:cNvCxnSpPr/>
          <p:nvPr/>
        </p:nvCxnSpPr>
        <p:spPr>
          <a:xfrm>
            <a:off x="3741378" y="2174837"/>
            <a:ext cx="33798" cy="4434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04" name="line 104"/>
          <p:cNvCxnSpPr/>
          <p:nvPr/>
        </p:nvCxnSpPr>
        <p:spPr>
          <a:xfrm>
            <a:off x="3775177" y="2219185"/>
            <a:ext cx="33798" cy="27038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05" name="line 105"/>
          <p:cNvCxnSpPr/>
          <p:nvPr/>
        </p:nvCxnSpPr>
        <p:spPr>
          <a:xfrm>
            <a:off x="3808975" y="2246223"/>
            <a:ext cx="33798" cy="31978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06" name="line 106"/>
          <p:cNvCxnSpPr/>
          <p:nvPr/>
        </p:nvCxnSpPr>
        <p:spPr>
          <a:xfrm>
            <a:off x="3842774" y="2278201"/>
            <a:ext cx="33798" cy="37766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07" name="line 107"/>
          <p:cNvCxnSpPr/>
          <p:nvPr/>
        </p:nvCxnSpPr>
        <p:spPr>
          <a:xfrm>
            <a:off x="3876572" y="2315967"/>
            <a:ext cx="33798" cy="2634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08" name="line 108"/>
          <p:cNvCxnSpPr/>
          <p:nvPr/>
        </p:nvCxnSpPr>
        <p:spPr>
          <a:xfrm>
            <a:off x="3910370" y="2342315"/>
            <a:ext cx="33798" cy="2242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09" name="line 109"/>
          <p:cNvCxnSpPr/>
          <p:nvPr/>
        </p:nvCxnSpPr>
        <p:spPr>
          <a:xfrm>
            <a:off x="3944169" y="2364742"/>
            <a:ext cx="33798" cy="26813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10" name="line 110"/>
          <p:cNvCxnSpPr/>
          <p:nvPr/>
        </p:nvCxnSpPr>
        <p:spPr>
          <a:xfrm>
            <a:off x="3977967" y="2391555"/>
            <a:ext cx="33798" cy="22111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11" name="line 111"/>
          <p:cNvCxnSpPr/>
          <p:nvPr/>
        </p:nvCxnSpPr>
        <p:spPr>
          <a:xfrm>
            <a:off x="4011766" y="2413667"/>
            <a:ext cx="33798" cy="16884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12" name="line 112"/>
          <p:cNvCxnSpPr/>
          <p:nvPr/>
        </p:nvCxnSpPr>
        <p:spPr>
          <a:xfrm>
            <a:off x="4045564" y="2430551"/>
            <a:ext cx="33798" cy="11169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13" name="line 113"/>
          <p:cNvCxnSpPr/>
          <p:nvPr/>
        </p:nvCxnSpPr>
        <p:spPr>
          <a:xfrm>
            <a:off x="4079362" y="2441720"/>
            <a:ext cx="33798" cy="17456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14" name="line 114"/>
          <p:cNvCxnSpPr/>
          <p:nvPr/>
        </p:nvCxnSpPr>
        <p:spPr>
          <a:xfrm>
            <a:off x="4113161" y="2459176"/>
            <a:ext cx="33798" cy="17455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15" name="line 115"/>
          <p:cNvCxnSpPr/>
          <p:nvPr/>
        </p:nvCxnSpPr>
        <p:spPr>
          <a:xfrm>
            <a:off x="4146959" y="2476632"/>
            <a:ext cx="33798" cy="10521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16" name="line 116"/>
          <p:cNvCxnSpPr/>
          <p:nvPr/>
        </p:nvCxnSpPr>
        <p:spPr>
          <a:xfrm>
            <a:off x="4180757" y="2487153"/>
            <a:ext cx="33798" cy="10364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17" name="line 117"/>
          <p:cNvCxnSpPr/>
          <p:nvPr/>
        </p:nvCxnSpPr>
        <p:spPr>
          <a:xfrm>
            <a:off x="4214556" y="2497518"/>
            <a:ext cx="33798" cy="7408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18" name="line 118"/>
          <p:cNvCxnSpPr/>
          <p:nvPr/>
        </p:nvCxnSpPr>
        <p:spPr>
          <a:xfrm>
            <a:off x="4248354" y="2498909"/>
            <a:ext cx="33798" cy="601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19" name="line 119"/>
          <p:cNvCxnSpPr/>
          <p:nvPr/>
        </p:nvCxnSpPr>
        <p:spPr>
          <a:xfrm>
            <a:off x="4282153" y="2498909"/>
            <a:ext cx="33798" cy="23690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20" name="line 120"/>
          <p:cNvCxnSpPr/>
          <p:nvPr/>
        </p:nvCxnSpPr>
        <p:spPr>
          <a:xfrm>
            <a:off x="4315951" y="2520245"/>
            <a:ext cx="33798" cy="2354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21" name="line 121"/>
          <p:cNvCxnSpPr/>
          <p:nvPr/>
        </p:nvCxnSpPr>
        <p:spPr>
          <a:xfrm>
            <a:off x="4349749" y="2520245"/>
            <a:ext cx="33798" cy="7249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22" name="line 122"/>
          <p:cNvCxnSpPr/>
          <p:nvPr/>
        </p:nvCxnSpPr>
        <p:spPr>
          <a:xfrm>
            <a:off x="4383548" y="2527495"/>
            <a:ext cx="33798" cy="5586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23" name="line 123"/>
          <p:cNvCxnSpPr/>
          <p:nvPr/>
        </p:nvCxnSpPr>
        <p:spPr>
          <a:xfrm>
            <a:off x="4417346" y="2533081"/>
            <a:ext cx="33798" cy="6918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24" name="line 124"/>
          <p:cNvCxnSpPr/>
          <p:nvPr/>
        </p:nvCxnSpPr>
        <p:spPr>
          <a:xfrm>
            <a:off x="4451145" y="2536318"/>
            <a:ext cx="33798" cy="3681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25" name="line 125"/>
          <p:cNvCxnSpPr/>
          <p:nvPr/>
        </p:nvCxnSpPr>
        <p:spPr>
          <a:xfrm>
            <a:off x="4484943" y="2529714"/>
            <a:ext cx="33798" cy="6603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26" name="line 126"/>
          <p:cNvCxnSpPr/>
          <p:nvPr/>
        </p:nvCxnSpPr>
        <p:spPr>
          <a:xfrm>
            <a:off x="4518741" y="2528788"/>
            <a:ext cx="33798" cy="925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27" name="line 127"/>
          <p:cNvCxnSpPr/>
          <p:nvPr/>
        </p:nvCxnSpPr>
        <p:spPr>
          <a:xfrm>
            <a:off x="4552540" y="2525555"/>
            <a:ext cx="33798" cy="3233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28" name="line 128"/>
          <p:cNvCxnSpPr/>
          <p:nvPr/>
        </p:nvCxnSpPr>
        <p:spPr>
          <a:xfrm>
            <a:off x="4586338" y="2525555"/>
            <a:ext cx="33798" cy="402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29" name="line 129"/>
          <p:cNvCxnSpPr/>
          <p:nvPr/>
        </p:nvCxnSpPr>
        <p:spPr>
          <a:xfrm>
            <a:off x="4620136" y="2520165"/>
            <a:ext cx="33798" cy="9418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30" name="line 130"/>
          <p:cNvCxnSpPr/>
          <p:nvPr/>
        </p:nvCxnSpPr>
        <p:spPr>
          <a:xfrm>
            <a:off x="4653935" y="2520165"/>
            <a:ext cx="33798" cy="1962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31" name="line 131"/>
          <p:cNvCxnSpPr/>
          <p:nvPr/>
        </p:nvCxnSpPr>
        <p:spPr>
          <a:xfrm>
            <a:off x="4687733" y="2513455"/>
            <a:ext cx="33798" cy="8672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32" name="line 132"/>
          <p:cNvCxnSpPr/>
          <p:nvPr/>
        </p:nvCxnSpPr>
        <p:spPr>
          <a:xfrm>
            <a:off x="4721532" y="2508556"/>
            <a:ext cx="33798" cy="4898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33" name="line 133"/>
          <p:cNvCxnSpPr/>
          <p:nvPr/>
        </p:nvCxnSpPr>
        <p:spPr>
          <a:xfrm>
            <a:off x="4755330" y="2497005"/>
            <a:ext cx="33798" cy="11550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34" name="line 134"/>
          <p:cNvCxnSpPr/>
          <p:nvPr/>
        </p:nvCxnSpPr>
        <p:spPr>
          <a:xfrm>
            <a:off x="4789128" y="2497005"/>
            <a:ext cx="33798" cy="421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35" name="line 135"/>
          <p:cNvCxnSpPr/>
          <p:nvPr/>
        </p:nvCxnSpPr>
        <p:spPr>
          <a:xfrm>
            <a:off x="4822927" y="2493989"/>
            <a:ext cx="33798" cy="7234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36" name="line 136"/>
          <p:cNvCxnSpPr/>
          <p:nvPr/>
        </p:nvCxnSpPr>
        <p:spPr>
          <a:xfrm>
            <a:off x="4856725" y="2486929"/>
            <a:ext cx="33798" cy="7060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37" name="line 137"/>
          <p:cNvCxnSpPr/>
          <p:nvPr/>
        </p:nvCxnSpPr>
        <p:spPr>
          <a:xfrm>
            <a:off x="4890524" y="2469838"/>
            <a:ext cx="33798" cy="17091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38" name="line 138"/>
          <p:cNvCxnSpPr/>
          <p:nvPr/>
        </p:nvCxnSpPr>
        <p:spPr>
          <a:xfrm>
            <a:off x="4924322" y="2469838"/>
            <a:ext cx="33798" cy="668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39" name="line 139"/>
          <p:cNvCxnSpPr/>
          <p:nvPr/>
        </p:nvCxnSpPr>
        <p:spPr>
          <a:xfrm>
            <a:off x="4958120" y="2467788"/>
            <a:ext cx="33798" cy="271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40" name="line 140"/>
          <p:cNvCxnSpPr/>
          <p:nvPr/>
        </p:nvCxnSpPr>
        <p:spPr>
          <a:xfrm>
            <a:off x="4991919" y="2461663"/>
            <a:ext cx="33798" cy="6124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41" name="line 141"/>
          <p:cNvCxnSpPr/>
          <p:nvPr/>
        </p:nvCxnSpPr>
        <p:spPr>
          <a:xfrm>
            <a:off x="5025717" y="2453178"/>
            <a:ext cx="33798" cy="8485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42" name="line 142"/>
          <p:cNvCxnSpPr/>
          <p:nvPr/>
        </p:nvCxnSpPr>
        <p:spPr>
          <a:xfrm>
            <a:off x="5059516" y="2441178"/>
            <a:ext cx="33798" cy="12000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43" name="line 143"/>
          <p:cNvCxnSpPr/>
          <p:nvPr/>
        </p:nvCxnSpPr>
        <p:spPr>
          <a:xfrm>
            <a:off x="5093314" y="2441178"/>
            <a:ext cx="33798" cy="1906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44" name="line 144"/>
          <p:cNvCxnSpPr/>
          <p:nvPr/>
        </p:nvCxnSpPr>
        <p:spPr>
          <a:xfrm>
            <a:off x="5127112" y="2431194"/>
            <a:ext cx="33798" cy="11891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45" name="line 145"/>
          <p:cNvCxnSpPr/>
          <p:nvPr/>
        </p:nvCxnSpPr>
        <p:spPr>
          <a:xfrm>
            <a:off x="5160911" y="2416906"/>
            <a:ext cx="33798" cy="1428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46" name="line 146"/>
          <p:cNvCxnSpPr/>
          <p:nvPr/>
        </p:nvCxnSpPr>
        <p:spPr>
          <a:xfrm>
            <a:off x="5194709" y="2411787"/>
            <a:ext cx="33798" cy="5118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47" name="line 147"/>
          <p:cNvCxnSpPr/>
          <p:nvPr/>
        </p:nvCxnSpPr>
        <p:spPr>
          <a:xfrm>
            <a:off x="5228507" y="2398695"/>
            <a:ext cx="33798" cy="13091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48" name="line 148"/>
          <p:cNvCxnSpPr/>
          <p:nvPr/>
        </p:nvCxnSpPr>
        <p:spPr>
          <a:xfrm>
            <a:off x="5262306" y="2392618"/>
            <a:ext cx="33798" cy="6076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49" name="line 149"/>
          <p:cNvCxnSpPr/>
          <p:nvPr/>
        </p:nvCxnSpPr>
        <p:spPr>
          <a:xfrm>
            <a:off x="5296104" y="2390742"/>
            <a:ext cx="33798" cy="1875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50" name="line 150"/>
          <p:cNvCxnSpPr/>
          <p:nvPr/>
        </p:nvCxnSpPr>
        <p:spPr>
          <a:xfrm>
            <a:off x="5329903" y="2375545"/>
            <a:ext cx="33798" cy="15197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cxnSp>
        <p:nvCxnSpPr>
          <p:cNvPr id="151" name="line 151"/>
          <p:cNvCxnSpPr/>
          <p:nvPr/>
        </p:nvCxnSpPr>
        <p:spPr>
          <a:xfrm>
            <a:off x="5363701" y="2369195"/>
            <a:ext cx="33798" cy="6350"/>
          </a:xfrm>
          <a:prstGeom prst="line">
            <a:avLst/>
          </a:prstGeom>
          <a:ln w="19050">
            <a:solidFill>
              <a:srgbClr val="7C3AED"/>
            </a:solidFill>
            <a:tailEnd type="triangle"/>
          </a:ln>
        </p:spPr>
      </p:cxnSp>
      <p:sp>
        <p:nvSpPr>
          <p:cNvPr id="152" name="shape 152"/>
          <p:cNvSpPr/>
          <p:nvPr/>
        </p:nvSpPr>
        <p:spPr>
          <a:xfrm>
            <a:off x="5372099" y="2343795"/>
            <a:ext cx="50799" cy="508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53" name="shape 153"/>
          <p:cNvSpPr/>
          <p:nvPr/>
        </p:nvSpPr>
        <p:spPr>
          <a:xfrm>
            <a:off x="3352799" y="1384300"/>
            <a:ext cx="507999" cy="952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000">
                <a:solidFill>
                  <a:srgbClr val="111827"/>
                </a:solidFill>
              </a:rPr>
              <a:t>0</a:t>
            </a:r>
            <a:endParaRPr lang="en-US" sz="1000"/>
          </a:p>
        </p:txBody>
      </p:sp>
      <p:sp>
        <p:nvSpPr>
          <p:cNvPr id="154" name="shape 154"/>
          <p:cNvSpPr/>
          <p:nvPr/>
        </p:nvSpPr>
        <p:spPr>
          <a:xfrm>
            <a:off x="3352799" y="2425700"/>
            <a:ext cx="507999" cy="952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000">
                <a:solidFill>
                  <a:srgbClr val="111827"/>
                </a:solidFill>
              </a:rPr>
              <a:t>-118</a:t>
            </a:r>
            <a:endParaRPr lang="en-US" sz="1000"/>
          </a:p>
        </p:txBody>
      </p:sp>
      <p:sp>
        <p:nvSpPr>
          <p:cNvPr id="155" name="shape 155"/>
          <p:cNvSpPr/>
          <p:nvPr/>
        </p:nvSpPr>
        <p:spPr>
          <a:xfrm>
            <a:off x="634999" y="2781300"/>
            <a:ext cx="4667249" cy="2413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56" name="shape 156"/>
          <p:cNvSpPr/>
          <p:nvPr/>
        </p:nvSpPr>
        <p:spPr>
          <a:xfrm>
            <a:off x="711199" y="2857500"/>
            <a:ext cx="451484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200k env steps | 32 envs | batch 1024 | gradient steps 2 | RTX 4090</a:t>
            </a:r>
            <a:endParaRPr lang="en-US" sz="1500"/>
          </a:p>
        </p:txBody>
      </p:sp>
      <p:sp>
        <p:nvSpPr>
          <p:cNvPr id="157" name="shape 157"/>
          <p:cNvSpPr/>
          <p:nvPr/>
        </p:nvSpPr>
        <p:spPr>
          <a:xfrm>
            <a:off x="6095999" y="761999"/>
            <a:ext cx="2730499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158" name="shape 158"/>
          <p:cNvSpPr/>
          <p:nvPr/>
        </p:nvSpPr>
        <p:spPr>
          <a:xfrm>
            <a:off x="621029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(b)</a:t>
            </a:r>
            <a:endParaRPr lang="en-US" sz="1800"/>
          </a:p>
        </p:txBody>
      </p:sp>
      <p:sp>
        <p:nvSpPr>
          <p:cNvPr id="159" name="shape 159"/>
          <p:cNvSpPr/>
          <p:nvPr/>
        </p:nvSpPr>
        <p:spPr>
          <a:xfrm>
            <a:off x="6464299" y="844550"/>
            <a:ext cx="69151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Win balance</a:t>
            </a:r>
            <a:endParaRPr lang="en-US" sz="1800"/>
          </a:p>
        </p:txBody>
      </p:sp>
      <p:cxnSp>
        <p:nvCxnSpPr>
          <p:cNvPr id="160" name="line 160"/>
          <p:cNvCxnSpPr/>
          <p:nvPr/>
        </p:nvCxnSpPr>
        <p:spPr>
          <a:xfrm>
            <a:off x="6572249" y="1365250"/>
            <a:ext cx="180974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61" name="line 161"/>
          <p:cNvCxnSpPr/>
          <p:nvPr/>
        </p:nvCxnSpPr>
        <p:spPr>
          <a:xfrm>
            <a:off x="6572249" y="1666875"/>
            <a:ext cx="180974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62" name="line 162"/>
          <p:cNvCxnSpPr/>
          <p:nvPr/>
        </p:nvCxnSpPr>
        <p:spPr>
          <a:xfrm>
            <a:off x="6572249" y="1968500"/>
            <a:ext cx="180974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63" name="line 163"/>
          <p:cNvCxnSpPr/>
          <p:nvPr/>
        </p:nvCxnSpPr>
        <p:spPr>
          <a:xfrm>
            <a:off x="6572249" y="2270125"/>
            <a:ext cx="180974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64" name="line 164"/>
          <p:cNvCxnSpPr/>
          <p:nvPr/>
        </p:nvCxnSpPr>
        <p:spPr>
          <a:xfrm>
            <a:off x="6572249" y="2571750"/>
            <a:ext cx="180974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65" name="line 165"/>
          <p:cNvCxnSpPr/>
          <p:nvPr/>
        </p:nvCxnSpPr>
        <p:spPr>
          <a:xfrm>
            <a:off x="6572249" y="2571750"/>
            <a:ext cx="180974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166" name="line 166"/>
          <p:cNvCxnSpPr/>
          <p:nvPr/>
        </p:nvCxnSpPr>
        <p:spPr>
          <a:xfrm>
            <a:off x="6572249" y="1365250"/>
            <a:ext cx="1" cy="12065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167" name="shape 167"/>
          <p:cNvSpPr/>
          <p:nvPr/>
        </p:nvSpPr>
        <p:spPr>
          <a:xfrm>
            <a:off x="6394449" y="127635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win rate</a:t>
            </a:r>
            <a:endParaRPr lang="en-US" sz="1200"/>
          </a:p>
        </p:txBody>
      </p:sp>
      <p:sp>
        <p:nvSpPr>
          <p:cNvPr id="168" name="shape 168"/>
          <p:cNvSpPr/>
          <p:nvPr/>
        </p:nvSpPr>
        <p:spPr>
          <a:xfrm>
            <a:off x="6740524" y="1977910"/>
            <a:ext cx="266699" cy="593839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169" name="shape 169"/>
          <p:cNvSpPr/>
          <p:nvPr/>
        </p:nvSpPr>
        <p:spPr>
          <a:xfrm>
            <a:off x="6873874" y="182551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49%</a:t>
            </a:r>
            <a:endParaRPr lang="en-US" sz="1200"/>
          </a:p>
        </p:txBody>
      </p:sp>
      <p:sp>
        <p:nvSpPr>
          <p:cNvPr id="170" name="shape 170"/>
          <p:cNvSpPr/>
          <p:nvPr/>
        </p:nvSpPr>
        <p:spPr>
          <a:xfrm>
            <a:off x="6873874" y="267335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Y</a:t>
            </a:r>
            <a:endParaRPr lang="en-US" sz="1100"/>
          </a:p>
        </p:txBody>
      </p:sp>
      <p:sp>
        <p:nvSpPr>
          <p:cNvPr id="171" name="shape 171"/>
          <p:cNvSpPr/>
          <p:nvPr/>
        </p:nvSpPr>
        <p:spPr>
          <a:xfrm>
            <a:off x="7343774" y="1959089"/>
            <a:ext cx="266699" cy="6126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72" name="shape 172"/>
          <p:cNvSpPr/>
          <p:nvPr/>
        </p:nvSpPr>
        <p:spPr>
          <a:xfrm>
            <a:off x="7477124" y="1806689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51%</a:t>
            </a:r>
            <a:endParaRPr lang="en-US" sz="1200"/>
          </a:p>
        </p:txBody>
      </p:sp>
      <p:sp>
        <p:nvSpPr>
          <p:cNvPr id="173" name="shape 173"/>
          <p:cNvSpPr/>
          <p:nvPr/>
        </p:nvSpPr>
        <p:spPr>
          <a:xfrm>
            <a:off x="7477124" y="267335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B</a:t>
            </a:r>
            <a:endParaRPr lang="en-US" sz="1100"/>
          </a:p>
        </p:txBody>
      </p:sp>
      <p:sp>
        <p:nvSpPr>
          <p:cNvPr id="174" name="shape 174"/>
          <p:cNvSpPr/>
          <p:nvPr/>
        </p:nvSpPr>
        <p:spPr>
          <a:xfrm>
            <a:off x="7947024" y="2571750"/>
            <a:ext cx="266699" cy="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175" name="shape 175"/>
          <p:cNvSpPr/>
          <p:nvPr/>
        </p:nvSpPr>
        <p:spPr>
          <a:xfrm>
            <a:off x="8080374" y="241935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0%</a:t>
            </a:r>
            <a:endParaRPr lang="en-US" sz="1200"/>
          </a:p>
        </p:txBody>
      </p:sp>
      <p:sp>
        <p:nvSpPr>
          <p:cNvPr id="176" name="shape 176"/>
          <p:cNvSpPr/>
          <p:nvPr/>
        </p:nvSpPr>
        <p:spPr>
          <a:xfrm>
            <a:off x="8080374" y="267335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D</a:t>
            </a:r>
            <a:endParaRPr lang="en-US" sz="1100"/>
          </a:p>
        </p:txBody>
      </p:sp>
      <p:sp>
        <p:nvSpPr>
          <p:cNvPr id="177" name="shape 177"/>
          <p:cNvSpPr/>
          <p:nvPr/>
        </p:nvSpPr>
        <p:spPr>
          <a:xfrm>
            <a:off x="6527799" y="2781300"/>
            <a:ext cx="1904999" cy="2413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78" name="shape 178"/>
          <p:cNvSpPr/>
          <p:nvPr/>
        </p:nvSpPr>
        <p:spPr>
          <a:xfrm>
            <a:off x="6603999" y="2857500"/>
            <a:ext cx="1752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128 stochastic games</a:t>
            </a:r>
            <a:endParaRPr lang="en-US" sz="1500"/>
          </a:p>
        </p:txBody>
      </p:sp>
      <p:sp>
        <p:nvSpPr>
          <p:cNvPr id="179" name="shape 179"/>
          <p:cNvSpPr/>
          <p:nvPr/>
        </p:nvSpPr>
        <p:spPr>
          <a:xfrm>
            <a:off x="9080499" y="761999"/>
            <a:ext cx="2857499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180" name="shape 180"/>
          <p:cNvSpPr/>
          <p:nvPr/>
        </p:nvSpPr>
        <p:spPr>
          <a:xfrm>
            <a:off x="919479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(c)</a:t>
            </a:r>
            <a:endParaRPr lang="en-US" sz="1800"/>
          </a:p>
        </p:txBody>
      </p:sp>
      <p:sp>
        <p:nvSpPr>
          <p:cNvPr id="181" name="shape 181"/>
          <p:cNvSpPr/>
          <p:nvPr/>
        </p:nvSpPr>
        <p:spPr>
          <a:xfrm>
            <a:off x="9448799" y="844550"/>
            <a:ext cx="75437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Strict audit</a:t>
            </a:r>
            <a:endParaRPr lang="en-US" sz="1800"/>
          </a:p>
        </p:txBody>
      </p:sp>
      <p:cxnSp>
        <p:nvCxnSpPr>
          <p:cNvPr id="182" name="line 182"/>
          <p:cNvCxnSpPr/>
          <p:nvPr/>
        </p:nvCxnSpPr>
        <p:spPr>
          <a:xfrm>
            <a:off x="9461499" y="1365250"/>
            <a:ext cx="200024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83" name="line 183"/>
          <p:cNvCxnSpPr/>
          <p:nvPr/>
        </p:nvCxnSpPr>
        <p:spPr>
          <a:xfrm>
            <a:off x="9461499" y="1666875"/>
            <a:ext cx="200024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84" name="line 184"/>
          <p:cNvCxnSpPr/>
          <p:nvPr/>
        </p:nvCxnSpPr>
        <p:spPr>
          <a:xfrm>
            <a:off x="9461499" y="1968500"/>
            <a:ext cx="200024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85" name="line 185"/>
          <p:cNvCxnSpPr/>
          <p:nvPr/>
        </p:nvCxnSpPr>
        <p:spPr>
          <a:xfrm>
            <a:off x="9461499" y="2270125"/>
            <a:ext cx="200024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86" name="line 186"/>
          <p:cNvCxnSpPr/>
          <p:nvPr/>
        </p:nvCxnSpPr>
        <p:spPr>
          <a:xfrm>
            <a:off x="9461499" y="2571750"/>
            <a:ext cx="200024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187" name="line 187"/>
          <p:cNvCxnSpPr/>
          <p:nvPr/>
        </p:nvCxnSpPr>
        <p:spPr>
          <a:xfrm>
            <a:off x="9461499" y="2571750"/>
            <a:ext cx="200024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188" name="line 188"/>
          <p:cNvCxnSpPr/>
          <p:nvPr/>
        </p:nvCxnSpPr>
        <p:spPr>
          <a:xfrm>
            <a:off x="9461499" y="1365250"/>
            <a:ext cx="1" cy="12065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189" name="shape 189"/>
          <p:cNvSpPr/>
          <p:nvPr/>
        </p:nvSpPr>
        <p:spPr>
          <a:xfrm>
            <a:off x="9283699" y="127635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count / game</a:t>
            </a:r>
            <a:endParaRPr lang="en-US" sz="1200"/>
          </a:p>
        </p:txBody>
      </p:sp>
      <p:sp>
        <p:nvSpPr>
          <p:cNvPr id="190" name="shape 190"/>
          <p:cNvSpPr/>
          <p:nvPr/>
        </p:nvSpPr>
        <p:spPr>
          <a:xfrm>
            <a:off x="9578181" y="2571750"/>
            <a:ext cx="266699" cy="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91" name="shape 191"/>
          <p:cNvSpPr/>
          <p:nvPr/>
        </p:nvSpPr>
        <p:spPr>
          <a:xfrm>
            <a:off x="9711531" y="241935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0.0</a:t>
            </a:r>
            <a:endParaRPr lang="en-US" sz="1200"/>
          </a:p>
        </p:txBody>
      </p:sp>
      <p:sp>
        <p:nvSpPr>
          <p:cNvPr id="192" name="shape 192"/>
          <p:cNvSpPr/>
          <p:nvPr/>
        </p:nvSpPr>
        <p:spPr>
          <a:xfrm>
            <a:off x="9711531" y="267335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hard</a:t>
            </a:r>
            <a:endParaRPr lang="en-US" sz="1100"/>
          </a:p>
        </p:txBody>
      </p:sp>
      <p:sp>
        <p:nvSpPr>
          <p:cNvPr id="193" name="shape 193"/>
          <p:cNvSpPr/>
          <p:nvPr/>
        </p:nvSpPr>
        <p:spPr>
          <a:xfrm>
            <a:off x="10078243" y="2571750"/>
            <a:ext cx="266699" cy="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94" name="shape 194"/>
          <p:cNvSpPr/>
          <p:nvPr/>
        </p:nvSpPr>
        <p:spPr>
          <a:xfrm>
            <a:off x="10211593" y="241935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0.0</a:t>
            </a:r>
            <a:endParaRPr lang="en-US" sz="1200"/>
          </a:p>
        </p:txBody>
      </p:sp>
      <p:sp>
        <p:nvSpPr>
          <p:cNvPr id="195" name="shape 195"/>
          <p:cNvSpPr/>
          <p:nvPr/>
        </p:nvSpPr>
        <p:spPr>
          <a:xfrm>
            <a:off x="10211593" y="267335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warn</a:t>
            </a:r>
            <a:endParaRPr lang="en-US" sz="1100"/>
          </a:p>
        </p:txBody>
      </p:sp>
      <p:sp>
        <p:nvSpPr>
          <p:cNvPr id="196" name="shape 196"/>
          <p:cNvSpPr/>
          <p:nvPr/>
        </p:nvSpPr>
        <p:spPr>
          <a:xfrm>
            <a:off x="10578305" y="2571750"/>
            <a:ext cx="266699" cy="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97" name="shape 197"/>
          <p:cNvSpPr/>
          <p:nvPr/>
        </p:nvSpPr>
        <p:spPr>
          <a:xfrm>
            <a:off x="10711655" y="241935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0.0</a:t>
            </a:r>
            <a:endParaRPr lang="en-US" sz="1200"/>
          </a:p>
        </p:txBody>
      </p:sp>
      <p:sp>
        <p:nvSpPr>
          <p:cNvPr id="198" name="shape 198"/>
          <p:cNvSpPr/>
          <p:nvPr/>
        </p:nvSpPr>
        <p:spPr>
          <a:xfrm>
            <a:off x="10711655" y="267335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own</a:t>
            </a:r>
            <a:endParaRPr lang="en-US" sz="1100"/>
          </a:p>
        </p:txBody>
      </p:sp>
      <p:sp>
        <p:nvSpPr>
          <p:cNvPr id="199" name="shape 199"/>
          <p:cNvSpPr/>
          <p:nvPr/>
        </p:nvSpPr>
        <p:spPr>
          <a:xfrm>
            <a:off x="11078368" y="2571750"/>
            <a:ext cx="266699" cy="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00" name="shape 200"/>
          <p:cNvSpPr/>
          <p:nvPr/>
        </p:nvSpPr>
        <p:spPr>
          <a:xfrm>
            <a:off x="11211718" y="241935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0.0</a:t>
            </a:r>
            <a:endParaRPr lang="en-US" sz="1200"/>
          </a:p>
        </p:txBody>
      </p:sp>
      <p:sp>
        <p:nvSpPr>
          <p:cNvPr id="201" name="shape 201"/>
          <p:cNvSpPr/>
          <p:nvPr/>
        </p:nvSpPr>
        <p:spPr>
          <a:xfrm>
            <a:off x="11211718" y="267335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contact</a:t>
            </a:r>
            <a:endParaRPr lang="en-US" sz="1100"/>
          </a:p>
        </p:txBody>
      </p:sp>
      <p:sp>
        <p:nvSpPr>
          <p:cNvPr id="202" name="shape 202"/>
          <p:cNvSpPr/>
          <p:nvPr/>
        </p:nvSpPr>
        <p:spPr>
          <a:xfrm>
            <a:off x="9556749" y="2781300"/>
            <a:ext cx="1904999" cy="2413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9632949" y="2857500"/>
            <a:ext cx="17525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8 episodes, base wins/game 1.00</a:t>
            </a:r>
            <a:endParaRPr lang="en-US" sz="1400"/>
          </a:p>
        </p:txBody>
      </p:sp>
      <p:sp>
        <p:nvSpPr>
          <p:cNvPr id="204" name="shape 204"/>
          <p:cNvSpPr/>
          <p:nvPr/>
        </p:nvSpPr>
        <p:spPr>
          <a:xfrm>
            <a:off x="241299" y="3492500"/>
            <a:ext cx="571499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205" name="shape 205"/>
          <p:cNvSpPr/>
          <p:nvPr/>
        </p:nvSpPr>
        <p:spPr>
          <a:xfrm>
            <a:off x="355599" y="35687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(d)</a:t>
            </a:r>
            <a:endParaRPr lang="en-US" sz="1800"/>
          </a:p>
        </p:txBody>
      </p:sp>
      <p:sp>
        <p:nvSpPr>
          <p:cNvPr id="206" name="shape 206"/>
          <p:cNvSpPr/>
          <p:nvPr/>
        </p:nvSpPr>
        <p:spPr>
          <a:xfrm>
            <a:off x="609599" y="3575049"/>
            <a:ext cx="201167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Normal target count distribution</a:t>
            </a:r>
            <a:endParaRPr lang="en-US" sz="1800"/>
          </a:p>
        </p:txBody>
      </p:sp>
      <p:cxnSp>
        <p:nvCxnSpPr>
          <p:cNvPr id="207" name="line 207"/>
          <p:cNvCxnSpPr/>
          <p:nvPr/>
        </p:nvCxnSpPr>
        <p:spPr>
          <a:xfrm>
            <a:off x="584199" y="4032249"/>
            <a:ext cx="46989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208" name="line 208"/>
          <p:cNvCxnSpPr/>
          <p:nvPr/>
        </p:nvCxnSpPr>
        <p:spPr>
          <a:xfrm>
            <a:off x="584199" y="4325937"/>
            <a:ext cx="46989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209" name="line 209"/>
          <p:cNvCxnSpPr/>
          <p:nvPr/>
        </p:nvCxnSpPr>
        <p:spPr>
          <a:xfrm>
            <a:off x="584199" y="4619625"/>
            <a:ext cx="46989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210" name="line 210"/>
          <p:cNvCxnSpPr/>
          <p:nvPr/>
        </p:nvCxnSpPr>
        <p:spPr>
          <a:xfrm>
            <a:off x="584199" y="4913312"/>
            <a:ext cx="46989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211" name="line 211"/>
          <p:cNvCxnSpPr/>
          <p:nvPr/>
        </p:nvCxnSpPr>
        <p:spPr>
          <a:xfrm>
            <a:off x="584199" y="5207000"/>
            <a:ext cx="46989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212" name="line 212"/>
          <p:cNvCxnSpPr/>
          <p:nvPr/>
        </p:nvCxnSpPr>
        <p:spPr>
          <a:xfrm>
            <a:off x="584199" y="5207000"/>
            <a:ext cx="469899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213" name="line 213"/>
          <p:cNvCxnSpPr/>
          <p:nvPr/>
        </p:nvCxnSpPr>
        <p:spPr>
          <a:xfrm>
            <a:off x="584199" y="4032249"/>
            <a:ext cx="1" cy="117475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214" name="shape 214"/>
          <p:cNvSpPr/>
          <p:nvPr/>
        </p:nvSpPr>
        <p:spPr>
          <a:xfrm>
            <a:off x="406399" y="3943350"/>
            <a:ext cx="54482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episode share</a:t>
            </a:r>
            <a:endParaRPr lang="en-US" sz="1200"/>
          </a:p>
        </p:txBody>
      </p:sp>
      <p:sp>
        <p:nvSpPr>
          <p:cNvPr id="215" name="shape 215"/>
          <p:cNvSpPr/>
          <p:nvPr/>
        </p:nvSpPr>
        <p:spPr>
          <a:xfrm>
            <a:off x="744537" y="5197836"/>
            <a:ext cx="266699" cy="9163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216" name="shape 216"/>
          <p:cNvSpPr/>
          <p:nvPr/>
        </p:nvSpPr>
        <p:spPr>
          <a:xfrm>
            <a:off x="877887" y="5045436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1%</a:t>
            </a:r>
            <a:endParaRPr lang="en-US" sz="1200"/>
          </a:p>
        </p:txBody>
      </p:sp>
      <p:sp>
        <p:nvSpPr>
          <p:cNvPr id="217" name="shape 217"/>
          <p:cNvSpPr/>
          <p:nvPr/>
        </p:nvSpPr>
        <p:spPr>
          <a:xfrm>
            <a:off x="877887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Y1</a:t>
            </a:r>
            <a:endParaRPr lang="en-US" sz="1100"/>
          </a:p>
        </p:txBody>
      </p:sp>
      <p:sp>
        <p:nvSpPr>
          <p:cNvPr id="218" name="shape 218"/>
          <p:cNvSpPr/>
          <p:nvPr/>
        </p:nvSpPr>
        <p:spPr>
          <a:xfrm>
            <a:off x="1331912" y="5179510"/>
            <a:ext cx="266699" cy="27489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19" name="shape 219"/>
          <p:cNvSpPr/>
          <p:nvPr/>
        </p:nvSpPr>
        <p:spPr>
          <a:xfrm>
            <a:off x="1465262" y="502711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2%</a:t>
            </a:r>
            <a:endParaRPr lang="en-US" sz="1200"/>
          </a:p>
        </p:txBody>
      </p:sp>
      <p:sp>
        <p:nvSpPr>
          <p:cNvPr id="220" name="shape 220"/>
          <p:cNvSpPr/>
          <p:nvPr/>
        </p:nvSpPr>
        <p:spPr>
          <a:xfrm>
            <a:off x="1465262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B1</a:t>
            </a:r>
            <a:endParaRPr lang="en-US" sz="1100"/>
          </a:p>
        </p:txBody>
      </p:sp>
      <p:sp>
        <p:nvSpPr>
          <p:cNvPr id="221" name="shape 221"/>
          <p:cNvSpPr/>
          <p:nvPr/>
        </p:nvSpPr>
        <p:spPr>
          <a:xfrm>
            <a:off x="1919287" y="4362589"/>
            <a:ext cx="266699" cy="844410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222" name="shape 222"/>
          <p:cNvSpPr/>
          <p:nvPr/>
        </p:nvSpPr>
        <p:spPr>
          <a:xfrm>
            <a:off x="2052637" y="4210189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72%</a:t>
            </a:r>
            <a:endParaRPr lang="en-US" sz="1200"/>
          </a:p>
        </p:txBody>
      </p:sp>
      <p:sp>
        <p:nvSpPr>
          <p:cNvPr id="223" name="shape 223"/>
          <p:cNvSpPr/>
          <p:nvPr/>
        </p:nvSpPr>
        <p:spPr>
          <a:xfrm>
            <a:off x="2052637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Y2</a:t>
            </a:r>
            <a:endParaRPr lang="en-US" sz="1100"/>
          </a:p>
        </p:txBody>
      </p:sp>
      <p:sp>
        <p:nvSpPr>
          <p:cNvPr id="224" name="shape 224"/>
          <p:cNvSpPr/>
          <p:nvPr/>
        </p:nvSpPr>
        <p:spPr>
          <a:xfrm>
            <a:off x="2506662" y="4381033"/>
            <a:ext cx="266699" cy="82596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25" name="shape 225"/>
          <p:cNvSpPr/>
          <p:nvPr/>
        </p:nvSpPr>
        <p:spPr>
          <a:xfrm>
            <a:off x="2640012" y="4228633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70%</a:t>
            </a:r>
            <a:endParaRPr lang="en-US" sz="1200"/>
          </a:p>
        </p:txBody>
      </p:sp>
      <p:sp>
        <p:nvSpPr>
          <p:cNvPr id="226" name="shape 226"/>
          <p:cNvSpPr/>
          <p:nvPr/>
        </p:nvSpPr>
        <p:spPr>
          <a:xfrm>
            <a:off x="2640012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B2</a:t>
            </a:r>
            <a:endParaRPr lang="en-US" sz="1100"/>
          </a:p>
        </p:txBody>
      </p:sp>
      <p:sp>
        <p:nvSpPr>
          <p:cNvPr id="227" name="shape 227"/>
          <p:cNvSpPr/>
          <p:nvPr/>
        </p:nvSpPr>
        <p:spPr>
          <a:xfrm>
            <a:off x="3094037" y="4894986"/>
            <a:ext cx="266699" cy="312013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228" name="shape 228"/>
          <p:cNvSpPr/>
          <p:nvPr/>
        </p:nvSpPr>
        <p:spPr>
          <a:xfrm>
            <a:off x="3227387" y="4742586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27%</a:t>
            </a:r>
            <a:endParaRPr lang="en-US" sz="1200"/>
          </a:p>
        </p:txBody>
      </p:sp>
      <p:sp>
        <p:nvSpPr>
          <p:cNvPr id="229" name="shape 229"/>
          <p:cNvSpPr/>
          <p:nvPr/>
        </p:nvSpPr>
        <p:spPr>
          <a:xfrm>
            <a:off x="3227387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Y3</a:t>
            </a:r>
            <a:endParaRPr lang="en-US" sz="1100"/>
          </a:p>
        </p:txBody>
      </p:sp>
      <p:sp>
        <p:nvSpPr>
          <p:cNvPr id="230" name="shape 230"/>
          <p:cNvSpPr/>
          <p:nvPr/>
        </p:nvSpPr>
        <p:spPr>
          <a:xfrm>
            <a:off x="3681412" y="4885823"/>
            <a:ext cx="266699" cy="32117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31" name="shape 231"/>
          <p:cNvSpPr/>
          <p:nvPr/>
        </p:nvSpPr>
        <p:spPr>
          <a:xfrm>
            <a:off x="3814762" y="4733423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27%</a:t>
            </a:r>
            <a:endParaRPr lang="en-US" sz="1200"/>
          </a:p>
        </p:txBody>
      </p:sp>
      <p:sp>
        <p:nvSpPr>
          <p:cNvPr id="232" name="shape 232"/>
          <p:cNvSpPr/>
          <p:nvPr/>
        </p:nvSpPr>
        <p:spPr>
          <a:xfrm>
            <a:off x="3814762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B3</a:t>
            </a:r>
            <a:endParaRPr lang="en-US" sz="1100"/>
          </a:p>
        </p:txBody>
      </p:sp>
      <p:sp>
        <p:nvSpPr>
          <p:cNvPr id="233" name="shape 233"/>
          <p:cNvSpPr/>
          <p:nvPr/>
        </p:nvSpPr>
        <p:spPr>
          <a:xfrm>
            <a:off x="4268787" y="5197836"/>
            <a:ext cx="266699" cy="9163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234" name="shape 234"/>
          <p:cNvSpPr/>
          <p:nvPr/>
        </p:nvSpPr>
        <p:spPr>
          <a:xfrm>
            <a:off x="4402137" y="5045436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1%</a:t>
            </a:r>
            <a:endParaRPr lang="en-US" sz="1200"/>
          </a:p>
        </p:txBody>
      </p:sp>
      <p:sp>
        <p:nvSpPr>
          <p:cNvPr id="235" name="shape 235"/>
          <p:cNvSpPr/>
          <p:nvPr/>
        </p:nvSpPr>
        <p:spPr>
          <a:xfrm>
            <a:off x="4402137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Y4</a:t>
            </a:r>
            <a:endParaRPr lang="en-US" sz="1100"/>
          </a:p>
        </p:txBody>
      </p:sp>
      <p:sp>
        <p:nvSpPr>
          <p:cNvPr id="236" name="shape 236"/>
          <p:cNvSpPr/>
          <p:nvPr/>
        </p:nvSpPr>
        <p:spPr>
          <a:xfrm>
            <a:off x="4856162" y="5207000"/>
            <a:ext cx="266699" cy="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37" name="shape 237"/>
          <p:cNvSpPr/>
          <p:nvPr/>
        </p:nvSpPr>
        <p:spPr>
          <a:xfrm>
            <a:off x="4989512" y="5054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0%</a:t>
            </a:r>
            <a:endParaRPr lang="en-US" sz="1200"/>
          </a:p>
        </p:txBody>
      </p:sp>
      <p:sp>
        <p:nvSpPr>
          <p:cNvPr id="238" name="shape 238"/>
          <p:cNvSpPr/>
          <p:nvPr/>
        </p:nvSpPr>
        <p:spPr>
          <a:xfrm>
            <a:off x="4989512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B4</a:t>
            </a:r>
            <a:endParaRPr lang="en-US" sz="1100"/>
          </a:p>
        </p:txBody>
      </p:sp>
      <p:sp>
        <p:nvSpPr>
          <p:cNvPr id="239" name="shape 239"/>
          <p:cNvSpPr/>
          <p:nvPr/>
        </p:nvSpPr>
        <p:spPr>
          <a:xfrm>
            <a:off x="6222999" y="3492500"/>
            <a:ext cx="571499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240" name="shape 240"/>
          <p:cNvSpPr/>
          <p:nvPr/>
        </p:nvSpPr>
        <p:spPr>
          <a:xfrm>
            <a:off x="6337299" y="35687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(e)</a:t>
            </a:r>
            <a:endParaRPr lang="en-US" sz="1800"/>
          </a:p>
        </p:txBody>
      </p:sp>
      <p:sp>
        <p:nvSpPr>
          <p:cNvPr id="241" name="shape 241"/>
          <p:cNvSpPr/>
          <p:nvPr/>
        </p:nvSpPr>
        <p:spPr>
          <a:xfrm>
            <a:off x="6591299" y="3575049"/>
            <a:ext cx="194881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Base success by cleared targets</a:t>
            </a:r>
            <a:endParaRPr lang="en-US" sz="1800"/>
          </a:p>
        </p:txBody>
      </p:sp>
      <p:cxnSp>
        <p:nvCxnSpPr>
          <p:cNvPr id="242" name="line 242"/>
          <p:cNvCxnSpPr/>
          <p:nvPr/>
        </p:nvCxnSpPr>
        <p:spPr>
          <a:xfrm>
            <a:off x="6572249" y="4032249"/>
            <a:ext cx="46989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243" name="line 243"/>
          <p:cNvCxnSpPr/>
          <p:nvPr/>
        </p:nvCxnSpPr>
        <p:spPr>
          <a:xfrm>
            <a:off x="6572249" y="4325937"/>
            <a:ext cx="46989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244" name="line 244"/>
          <p:cNvCxnSpPr/>
          <p:nvPr/>
        </p:nvCxnSpPr>
        <p:spPr>
          <a:xfrm>
            <a:off x="6572249" y="4619625"/>
            <a:ext cx="46989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245" name="line 245"/>
          <p:cNvCxnSpPr/>
          <p:nvPr/>
        </p:nvCxnSpPr>
        <p:spPr>
          <a:xfrm>
            <a:off x="6572249" y="4913312"/>
            <a:ext cx="46989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246" name="line 246"/>
          <p:cNvCxnSpPr/>
          <p:nvPr/>
        </p:nvCxnSpPr>
        <p:spPr>
          <a:xfrm>
            <a:off x="6572249" y="5207000"/>
            <a:ext cx="4698999" cy="1"/>
          </a:xfrm>
          <a:prstGeom prst="line">
            <a:avLst/>
          </a:prstGeom>
          <a:ln w="19050">
            <a:solidFill>
              <a:srgbClr val="E2E8F0"/>
            </a:solidFill>
            <a:tailEnd type="triangle"/>
          </a:ln>
        </p:spPr>
      </p:cxnSp>
      <p:cxnSp>
        <p:nvCxnSpPr>
          <p:cNvPr id="247" name="line 247"/>
          <p:cNvCxnSpPr/>
          <p:nvPr/>
        </p:nvCxnSpPr>
        <p:spPr>
          <a:xfrm>
            <a:off x="6572249" y="5207000"/>
            <a:ext cx="469899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248" name="line 248"/>
          <p:cNvCxnSpPr/>
          <p:nvPr/>
        </p:nvCxnSpPr>
        <p:spPr>
          <a:xfrm>
            <a:off x="6572249" y="4032249"/>
            <a:ext cx="1" cy="117475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249" name="shape 249"/>
          <p:cNvSpPr/>
          <p:nvPr/>
        </p:nvSpPr>
        <p:spPr>
          <a:xfrm>
            <a:off x="6394449" y="394335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success rate</a:t>
            </a:r>
            <a:endParaRPr lang="en-US" sz="1200"/>
          </a:p>
        </p:txBody>
      </p:sp>
      <p:sp>
        <p:nvSpPr>
          <p:cNvPr id="250" name="shape 250"/>
          <p:cNvSpPr/>
          <p:nvPr/>
        </p:nvSpPr>
        <p:spPr>
          <a:xfrm>
            <a:off x="6732587" y="5207000"/>
            <a:ext cx="266699" cy="0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251" name="shape 251"/>
          <p:cNvSpPr/>
          <p:nvPr/>
        </p:nvSpPr>
        <p:spPr>
          <a:xfrm>
            <a:off x="6865937" y="5054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0%</a:t>
            </a:r>
            <a:endParaRPr lang="en-US" sz="1200"/>
          </a:p>
        </p:txBody>
      </p:sp>
      <p:sp>
        <p:nvSpPr>
          <p:cNvPr id="252" name="shape 252"/>
          <p:cNvSpPr/>
          <p:nvPr/>
        </p:nvSpPr>
        <p:spPr>
          <a:xfrm>
            <a:off x="6865937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Y1</a:t>
            </a:r>
            <a:endParaRPr lang="en-US" sz="1100"/>
          </a:p>
        </p:txBody>
      </p:sp>
      <p:sp>
        <p:nvSpPr>
          <p:cNvPr id="253" name="shape 253"/>
          <p:cNvSpPr/>
          <p:nvPr/>
        </p:nvSpPr>
        <p:spPr>
          <a:xfrm>
            <a:off x="7319962" y="5207000"/>
            <a:ext cx="266699" cy="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54" name="shape 254"/>
          <p:cNvSpPr/>
          <p:nvPr/>
        </p:nvSpPr>
        <p:spPr>
          <a:xfrm>
            <a:off x="7453312" y="5054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0%</a:t>
            </a:r>
            <a:endParaRPr lang="en-US" sz="1200"/>
          </a:p>
        </p:txBody>
      </p:sp>
      <p:sp>
        <p:nvSpPr>
          <p:cNvPr id="255" name="shape 255"/>
          <p:cNvSpPr/>
          <p:nvPr/>
        </p:nvSpPr>
        <p:spPr>
          <a:xfrm>
            <a:off x="7453312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B1</a:t>
            </a:r>
            <a:endParaRPr lang="en-US" sz="1100"/>
          </a:p>
        </p:txBody>
      </p:sp>
      <p:sp>
        <p:nvSpPr>
          <p:cNvPr id="256" name="shape 256"/>
          <p:cNvSpPr/>
          <p:nvPr/>
        </p:nvSpPr>
        <p:spPr>
          <a:xfrm>
            <a:off x="7907337" y="4781505"/>
            <a:ext cx="266699" cy="425494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257" name="shape 257"/>
          <p:cNvSpPr/>
          <p:nvPr/>
        </p:nvSpPr>
        <p:spPr>
          <a:xfrm>
            <a:off x="8040687" y="4629105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36%</a:t>
            </a:r>
            <a:endParaRPr lang="en-US" sz="1200"/>
          </a:p>
        </p:txBody>
      </p:sp>
      <p:sp>
        <p:nvSpPr>
          <p:cNvPr id="258" name="shape 258"/>
          <p:cNvSpPr/>
          <p:nvPr/>
        </p:nvSpPr>
        <p:spPr>
          <a:xfrm>
            <a:off x="8040687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Y2</a:t>
            </a:r>
            <a:endParaRPr lang="en-US" sz="1100"/>
          </a:p>
        </p:txBody>
      </p:sp>
      <p:sp>
        <p:nvSpPr>
          <p:cNvPr id="259" name="shape 259"/>
          <p:cNvSpPr/>
          <p:nvPr/>
        </p:nvSpPr>
        <p:spPr>
          <a:xfrm>
            <a:off x="8494712" y="4708905"/>
            <a:ext cx="266699" cy="49809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60" name="shape 260"/>
          <p:cNvSpPr/>
          <p:nvPr/>
        </p:nvSpPr>
        <p:spPr>
          <a:xfrm>
            <a:off x="8628062" y="4556505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42%</a:t>
            </a:r>
            <a:endParaRPr lang="en-US" sz="1200"/>
          </a:p>
        </p:txBody>
      </p:sp>
      <p:sp>
        <p:nvSpPr>
          <p:cNvPr id="261" name="shape 261"/>
          <p:cNvSpPr/>
          <p:nvPr/>
        </p:nvSpPr>
        <p:spPr>
          <a:xfrm>
            <a:off x="8628062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B2</a:t>
            </a:r>
            <a:endParaRPr lang="en-US" sz="1100"/>
          </a:p>
        </p:txBody>
      </p:sp>
      <p:sp>
        <p:nvSpPr>
          <p:cNvPr id="262" name="shape 262"/>
          <p:cNvSpPr/>
          <p:nvPr/>
        </p:nvSpPr>
        <p:spPr>
          <a:xfrm>
            <a:off x="9082087" y="4670021"/>
            <a:ext cx="266699" cy="536978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263" name="shape 263"/>
          <p:cNvSpPr/>
          <p:nvPr/>
        </p:nvSpPr>
        <p:spPr>
          <a:xfrm>
            <a:off x="9215437" y="4517621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46%</a:t>
            </a:r>
            <a:endParaRPr lang="en-US" sz="1200"/>
          </a:p>
        </p:txBody>
      </p:sp>
      <p:sp>
        <p:nvSpPr>
          <p:cNvPr id="264" name="shape 264"/>
          <p:cNvSpPr/>
          <p:nvPr/>
        </p:nvSpPr>
        <p:spPr>
          <a:xfrm>
            <a:off x="9215437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Y3</a:t>
            </a:r>
            <a:endParaRPr lang="en-US" sz="1100"/>
          </a:p>
        </p:txBody>
      </p:sp>
      <p:sp>
        <p:nvSpPr>
          <p:cNvPr id="265" name="shape 265"/>
          <p:cNvSpPr/>
          <p:nvPr/>
        </p:nvSpPr>
        <p:spPr>
          <a:xfrm>
            <a:off x="9669462" y="4804178"/>
            <a:ext cx="266699" cy="402821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66" name="shape 266"/>
          <p:cNvSpPr/>
          <p:nvPr/>
        </p:nvSpPr>
        <p:spPr>
          <a:xfrm>
            <a:off x="9802812" y="4651778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34%</a:t>
            </a:r>
            <a:endParaRPr lang="en-US" sz="1200"/>
          </a:p>
        </p:txBody>
      </p:sp>
      <p:sp>
        <p:nvSpPr>
          <p:cNvPr id="267" name="shape 267"/>
          <p:cNvSpPr/>
          <p:nvPr/>
        </p:nvSpPr>
        <p:spPr>
          <a:xfrm>
            <a:off x="9802812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B3</a:t>
            </a:r>
            <a:endParaRPr lang="en-US" sz="1100"/>
          </a:p>
        </p:txBody>
      </p:sp>
      <p:sp>
        <p:nvSpPr>
          <p:cNvPr id="268" name="shape 268"/>
          <p:cNvSpPr/>
          <p:nvPr/>
        </p:nvSpPr>
        <p:spPr>
          <a:xfrm>
            <a:off x="10256837" y="4032249"/>
            <a:ext cx="266699" cy="1174750"/>
          </a:xfrm>
          <a:prstGeom prst="roundRect">
            <a:avLst/>
          </a:prstGeom>
          <a:solidFill>
            <a:srgbClr val="E5B82E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269" name="shape 269"/>
          <p:cNvSpPr/>
          <p:nvPr/>
        </p:nvSpPr>
        <p:spPr>
          <a:xfrm>
            <a:off x="10390187" y="387985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100%</a:t>
            </a:r>
            <a:endParaRPr lang="en-US" sz="1200"/>
          </a:p>
        </p:txBody>
      </p:sp>
      <p:sp>
        <p:nvSpPr>
          <p:cNvPr id="270" name="shape 270"/>
          <p:cNvSpPr/>
          <p:nvPr/>
        </p:nvSpPr>
        <p:spPr>
          <a:xfrm>
            <a:off x="10390187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Y4</a:t>
            </a:r>
            <a:endParaRPr lang="en-US" sz="1100"/>
          </a:p>
        </p:txBody>
      </p:sp>
      <p:sp>
        <p:nvSpPr>
          <p:cNvPr id="271" name="shape 271"/>
          <p:cNvSpPr/>
          <p:nvPr/>
        </p:nvSpPr>
        <p:spPr>
          <a:xfrm>
            <a:off x="10844212" y="5207000"/>
            <a:ext cx="266699" cy="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72" name="shape 272"/>
          <p:cNvSpPr/>
          <p:nvPr/>
        </p:nvSpPr>
        <p:spPr>
          <a:xfrm>
            <a:off x="10977562" y="5054600"/>
            <a:ext cx="507999" cy="11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0%</a:t>
            </a:r>
            <a:endParaRPr lang="en-US" sz="1200"/>
          </a:p>
        </p:txBody>
      </p:sp>
      <p:sp>
        <p:nvSpPr>
          <p:cNvPr id="273" name="shape 273"/>
          <p:cNvSpPr/>
          <p:nvPr/>
        </p:nvSpPr>
        <p:spPr>
          <a:xfrm>
            <a:off x="10977562" y="5308600"/>
            <a:ext cx="507999" cy="104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100">
                <a:solidFill>
                  <a:srgbClr val="111827"/>
                </a:solidFill>
              </a:rPr>
              <a:t>B4</a:t>
            </a:r>
            <a:endParaRPr lang="en-US" sz="1100"/>
          </a:p>
        </p:txBody>
      </p:sp>
      <p:sp>
        <p:nvSpPr>
          <p:cNvPr id="274" name="shape 274"/>
          <p:cNvSpPr/>
          <p:nvPr/>
        </p:nvSpPr>
        <p:spPr>
          <a:xfrm>
            <a:off x="469899" y="6070600"/>
            <a:ext cx="11252199" cy="3429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275" name="shape 275"/>
          <p:cNvSpPr/>
          <p:nvPr/>
        </p:nvSpPr>
        <p:spPr>
          <a:xfrm>
            <a:off x="546099" y="6146800"/>
            <a:ext cx="11099799" cy="5867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2200" b="1">
                <a:solidFill>
                  <a:srgbClr val="111827"/>
                </a:solidFill>
              </a:rPr>
              <a:t>Evaluation emphasizes win balance, target diversity, legal base timing, push-box behavior and zero penetration.</a:t>
            </a:r>
            <a:endParaRPr 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241299" y="114300"/>
            <a:ext cx="9524999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2400" b="1">
                <a:solidFill>
                  <a:srgbClr val="111827"/>
                </a:solidFill>
              </a:rPr>
              <a:t>Ablation Design and Safety Diagnostics</a:t>
            </a:r>
            <a:endParaRPr lang="en-US" sz="2400"/>
          </a:p>
        </p:txBody>
      </p:sp>
      <p:sp>
        <p:nvSpPr>
          <p:cNvPr id="3" name="shape 3"/>
          <p:cNvSpPr/>
          <p:nvPr/>
        </p:nvSpPr>
        <p:spPr>
          <a:xfrm>
            <a:off x="266699" y="393700"/>
            <a:ext cx="9524999" cy="1904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Component-wise evaluation plan plus measured safety and behavior indicators from the selected run.</a:t>
            </a:r>
            <a:endParaRPr lang="en-US" sz="1200"/>
          </a:p>
        </p:txBody>
      </p:sp>
      <p:sp>
        <p:nvSpPr>
          <p:cNvPr id="4" name="shape 4"/>
          <p:cNvSpPr/>
          <p:nvPr/>
        </p:nvSpPr>
        <p:spPr>
          <a:xfrm>
            <a:off x="241299" y="761999"/>
            <a:ext cx="4889499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35559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(a)</a:t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09599" y="844550"/>
            <a:ext cx="94297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Ablation matrix</a:t>
            </a:r>
            <a:endParaRPr lang="en-US" sz="1800"/>
          </a:p>
        </p:txBody>
      </p:sp>
      <p:sp>
        <p:nvSpPr>
          <p:cNvPr id="7" name="shape 7"/>
          <p:cNvSpPr/>
          <p:nvPr/>
        </p:nvSpPr>
        <p:spPr>
          <a:xfrm>
            <a:off x="1587499" y="908050"/>
            <a:ext cx="520699" cy="2921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663699" y="984250"/>
            <a:ext cx="368299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Object
state</a:t>
            </a:r>
            <a:endParaRPr lang="en-US" sz="1200"/>
          </a:p>
        </p:txBody>
      </p:sp>
      <p:sp>
        <p:nvSpPr>
          <p:cNvPr id="9" name="shape 9"/>
          <p:cNvSpPr/>
          <p:nvPr/>
        </p:nvSpPr>
        <p:spPr>
          <a:xfrm>
            <a:off x="2158999" y="908050"/>
            <a:ext cx="520699" cy="2921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2235199" y="984250"/>
            <a:ext cx="368299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World
model</a:t>
            </a:r>
            <a:endParaRPr lang="en-US" sz="1200"/>
          </a:p>
        </p:txBody>
      </p:sp>
      <p:sp>
        <p:nvSpPr>
          <p:cNvPr id="11" name="shape 11"/>
          <p:cNvSpPr/>
          <p:nvPr/>
        </p:nvSpPr>
        <p:spPr>
          <a:xfrm>
            <a:off x="2730499" y="908050"/>
            <a:ext cx="520699" cy="2921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2806699" y="984250"/>
            <a:ext cx="368299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Flow
actor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3301999" y="908050"/>
            <a:ext cx="520699" cy="2921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3378199" y="984250"/>
            <a:ext cx="368299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Expert
residual</a:t>
            </a:r>
            <a:endParaRPr lang="en-US" sz="1200"/>
          </a:p>
        </p:txBody>
      </p:sp>
      <p:sp>
        <p:nvSpPr>
          <p:cNvPr id="15" name="shape 15"/>
          <p:cNvSpPr/>
          <p:nvPr/>
        </p:nvSpPr>
        <p:spPr>
          <a:xfrm>
            <a:off x="3873499" y="908050"/>
            <a:ext cx="520699" cy="2921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3949699" y="984250"/>
            <a:ext cx="368299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 b="1">
                <a:solidFill>
                  <a:srgbClr val="111827"/>
                </a:solidFill>
              </a:rPr>
              <a:t>Action
shield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495299" y="1384300"/>
            <a:ext cx="576262" cy="1428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Full method</a:t>
            </a:r>
            <a:endParaRPr lang="en-US" sz="1500"/>
          </a:p>
        </p:txBody>
      </p:sp>
      <p:sp>
        <p:nvSpPr>
          <p:cNvPr id="18" name="shape 18"/>
          <p:cNvSpPr/>
          <p:nvPr/>
        </p:nvSpPr>
        <p:spPr>
          <a:xfrm>
            <a:off x="1587499" y="13017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1663699" y="13779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2158999" y="13017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2235199" y="13779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22" name="shape 22"/>
          <p:cNvSpPr/>
          <p:nvPr/>
        </p:nvSpPr>
        <p:spPr>
          <a:xfrm>
            <a:off x="2730499" y="13017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2806699" y="13779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24" name="shape 24"/>
          <p:cNvSpPr/>
          <p:nvPr/>
        </p:nvSpPr>
        <p:spPr>
          <a:xfrm>
            <a:off x="3301999" y="13017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3378199" y="13779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26" name="shape 26"/>
          <p:cNvSpPr/>
          <p:nvPr/>
        </p:nvSpPr>
        <p:spPr>
          <a:xfrm>
            <a:off x="3873499" y="13017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3949699" y="13779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28" name="shape 28"/>
          <p:cNvSpPr/>
          <p:nvPr/>
        </p:nvSpPr>
        <p:spPr>
          <a:xfrm>
            <a:off x="495299" y="1727199"/>
            <a:ext cx="785812" cy="1428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>
                <a:solidFill>
                  <a:srgbClr val="111827"/>
                </a:solidFill>
              </a:rPr>
              <a:t>w/o world model</a:t>
            </a:r>
            <a:endParaRPr lang="en-US" sz="1500"/>
          </a:p>
        </p:txBody>
      </p:sp>
      <p:sp>
        <p:nvSpPr>
          <p:cNvPr id="29" name="shape 29"/>
          <p:cNvSpPr/>
          <p:nvPr/>
        </p:nvSpPr>
        <p:spPr>
          <a:xfrm>
            <a:off x="1587499" y="16446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1663699" y="17208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2158999" y="1644650"/>
            <a:ext cx="520699" cy="228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2235199" y="17208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x</a:t>
            </a:r>
            <a:endParaRPr lang="en-US" sz="1400"/>
          </a:p>
        </p:txBody>
      </p:sp>
      <p:sp>
        <p:nvSpPr>
          <p:cNvPr id="33" name="shape 33"/>
          <p:cNvSpPr/>
          <p:nvPr/>
        </p:nvSpPr>
        <p:spPr>
          <a:xfrm>
            <a:off x="2730499" y="16446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2806699" y="17208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35" name="shape 35"/>
          <p:cNvSpPr/>
          <p:nvPr/>
        </p:nvSpPr>
        <p:spPr>
          <a:xfrm>
            <a:off x="3301999" y="16446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36" name="shape 36"/>
          <p:cNvSpPr/>
          <p:nvPr/>
        </p:nvSpPr>
        <p:spPr>
          <a:xfrm>
            <a:off x="3378199" y="17208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37" name="shape 37"/>
          <p:cNvSpPr/>
          <p:nvPr/>
        </p:nvSpPr>
        <p:spPr>
          <a:xfrm>
            <a:off x="3873499" y="16446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38" name="shape 38"/>
          <p:cNvSpPr/>
          <p:nvPr/>
        </p:nvSpPr>
        <p:spPr>
          <a:xfrm>
            <a:off x="3949699" y="17208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39" name="shape 39"/>
          <p:cNvSpPr/>
          <p:nvPr/>
        </p:nvSpPr>
        <p:spPr>
          <a:xfrm>
            <a:off x="495299" y="2070100"/>
            <a:ext cx="733424" cy="1428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>
                <a:solidFill>
                  <a:srgbClr val="111827"/>
                </a:solidFill>
              </a:rPr>
              <a:t>Gaussian actor</a:t>
            </a:r>
            <a:endParaRPr lang="en-US" sz="1500"/>
          </a:p>
        </p:txBody>
      </p:sp>
      <p:sp>
        <p:nvSpPr>
          <p:cNvPr id="40" name="shape 40"/>
          <p:cNvSpPr/>
          <p:nvPr/>
        </p:nvSpPr>
        <p:spPr>
          <a:xfrm>
            <a:off x="1587499" y="19875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1663699" y="20637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42" name="shape 42"/>
          <p:cNvSpPr/>
          <p:nvPr/>
        </p:nvSpPr>
        <p:spPr>
          <a:xfrm>
            <a:off x="2158999" y="19875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43" name="shape 43"/>
          <p:cNvSpPr/>
          <p:nvPr/>
        </p:nvSpPr>
        <p:spPr>
          <a:xfrm>
            <a:off x="2235199" y="20637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44" name="shape 44"/>
          <p:cNvSpPr/>
          <p:nvPr/>
        </p:nvSpPr>
        <p:spPr>
          <a:xfrm>
            <a:off x="2730499" y="1987550"/>
            <a:ext cx="520699" cy="228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45" name="shape 45"/>
          <p:cNvSpPr/>
          <p:nvPr/>
        </p:nvSpPr>
        <p:spPr>
          <a:xfrm>
            <a:off x="2806699" y="20637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x</a:t>
            </a:r>
            <a:endParaRPr lang="en-US" sz="1400"/>
          </a:p>
        </p:txBody>
      </p:sp>
      <p:sp>
        <p:nvSpPr>
          <p:cNvPr id="46" name="shape 46"/>
          <p:cNvSpPr/>
          <p:nvPr/>
        </p:nvSpPr>
        <p:spPr>
          <a:xfrm>
            <a:off x="3301999" y="19875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47" name="shape 47"/>
          <p:cNvSpPr/>
          <p:nvPr/>
        </p:nvSpPr>
        <p:spPr>
          <a:xfrm>
            <a:off x="3378199" y="20637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48" name="shape 48"/>
          <p:cNvSpPr/>
          <p:nvPr/>
        </p:nvSpPr>
        <p:spPr>
          <a:xfrm>
            <a:off x="3873499" y="19875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49" name="shape 49"/>
          <p:cNvSpPr/>
          <p:nvPr/>
        </p:nvSpPr>
        <p:spPr>
          <a:xfrm>
            <a:off x="3949699" y="20637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50" name="shape 50"/>
          <p:cNvSpPr/>
          <p:nvPr/>
        </p:nvSpPr>
        <p:spPr>
          <a:xfrm>
            <a:off x="495299" y="2413000"/>
            <a:ext cx="890587" cy="1428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>
                <a:solidFill>
                  <a:srgbClr val="111827"/>
                </a:solidFill>
              </a:rPr>
              <a:t>no residual prior</a:t>
            </a:r>
            <a:endParaRPr lang="en-US" sz="1500"/>
          </a:p>
        </p:txBody>
      </p:sp>
      <p:sp>
        <p:nvSpPr>
          <p:cNvPr id="51" name="shape 51"/>
          <p:cNvSpPr/>
          <p:nvPr/>
        </p:nvSpPr>
        <p:spPr>
          <a:xfrm>
            <a:off x="1587499" y="2330449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52" name="shape 52"/>
          <p:cNvSpPr/>
          <p:nvPr/>
        </p:nvSpPr>
        <p:spPr>
          <a:xfrm>
            <a:off x="1663699" y="24066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53" name="shape 53"/>
          <p:cNvSpPr/>
          <p:nvPr/>
        </p:nvSpPr>
        <p:spPr>
          <a:xfrm>
            <a:off x="2158999" y="2330449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54" name="shape 54"/>
          <p:cNvSpPr/>
          <p:nvPr/>
        </p:nvSpPr>
        <p:spPr>
          <a:xfrm>
            <a:off x="2235199" y="24066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55" name="shape 55"/>
          <p:cNvSpPr/>
          <p:nvPr/>
        </p:nvSpPr>
        <p:spPr>
          <a:xfrm>
            <a:off x="2730499" y="2330449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56" name="shape 56"/>
          <p:cNvSpPr/>
          <p:nvPr/>
        </p:nvSpPr>
        <p:spPr>
          <a:xfrm>
            <a:off x="2806699" y="24066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57" name="shape 57"/>
          <p:cNvSpPr/>
          <p:nvPr/>
        </p:nvSpPr>
        <p:spPr>
          <a:xfrm>
            <a:off x="3301999" y="2330449"/>
            <a:ext cx="520699" cy="228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58" name="shape 58"/>
          <p:cNvSpPr/>
          <p:nvPr/>
        </p:nvSpPr>
        <p:spPr>
          <a:xfrm>
            <a:off x="3378199" y="24066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x</a:t>
            </a:r>
            <a:endParaRPr lang="en-US" sz="1400"/>
          </a:p>
        </p:txBody>
      </p:sp>
      <p:sp>
        <p:nvSpPr>
          <p:cNvPr id="59" name="shape 59"/>
          <p:cNvSpPr/>
          <p:nvPr/>
        </p:nvSpPr>
        <p:spPr>
          <a:xfrm>
            <a:off x="3873499" y="2330449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60" name="shape 60"/>
          <p:cNvSpPr/>
          <p:nvPr/>
        </p:nvSpPr>
        <p:spPr>
          <a:xfrm>
            <a:off x="3949699" y="24066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61" name="shape 61"/>
          <p:cNvSpPr/>
          <p:nvPr/>
        </p:nvSpPr>
        <p:spPr>
          <a:xfrm>
            <a:off x="495299" y="2755900"/>
            <a:ext cx="838199" cy="1428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>
                <a:solidFill>
                  <a:srgbClr val="111827"/>
                </a:solidFill>
              </a:rPr>
              <a:t>no action shield</a:t>
            </a:r>
            <a:endParaRPr lang="en-US" sz="1500"/>
          </a:p>
        </p:txBody>
      </p:sp>
      <p:sp>
        <p:nvSpPr>
          <p:cNvPr id="62" name="shape 62"/>
          <p:cNvSpPr/>
          <p:nvPr/>
        </p:nvSpPr>
        <p:spPr>
          <a:xfrm>
            <a:off x="1587499" y="26733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63" name="shape 63"/>
          <p:cNvSpPr/>
          <p:nvPr/>
        </p:nvSpPr>
        <p:spPr>
          <a:xfrm>
            <a:off x="1663699" y="27495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64" name="shape 64"/>
          <p:cNvSpPr/>
          <p:nvPr/>
        </p:nvSpPr>
        <p:spPr>
          <a:xfrm>
            <a:off x="2158999" y="26733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2235199" y="27495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66" name="shape 66"/>
          <p:cNvSpPr/>
          <p:nvPr/>
        </p:nvSpPr>
        <p:spPr>
          <a:xfrm>
            <a:off x="2730499" y="26733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67" name="shape 67"/>
          <p:cNvSpPr/>
          <p:nvPr/>
        </p:nvSpPr>
        <p:spPr>
          <a:xfrm>
            <a:off x="2806699" y="27495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68" name="shape 68"/>
          <p:cNvSpPr/>
          <p:nvPr/>
        </p:nvSpPr>
        <p:spPr>
          <a:xfrm>
            <a:off x="3301999" y="2673350"/>
            <a:ext cx="520699" cy="228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69" name="shape 69"/>
          <p:cNvSpPr/>
          <p:nvPr/>
        </p:nvSpPr>
        <p:spPr>
          <a:xfrm>
            <a:off x="3378199" y="27495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yes</a:t>
            </a:r>
            <a:endParaRPr lang="en-US" sz="1400"/>
          </a:p>
        </p:txBody>
      </p:sp>
      <p:sp>
        <p:nvSpPr>
          <p:cNvPr id="70" name="shape 70"/>
          <p:cNvSpPr/>
          <p:nvPr/>
        </p:nvSpPr>
        <p:spPr>
          <a:xfrm>
            <a:off x="3873499" y="2673350"/>
            <a:ext cx="520699" cy="228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3949699" y="2749550"/>
            <a:ext cx="3682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x</a:t>
            </a:r>
            <a:endParaRPr lang="en-US" sz="1400"/>
          </a:p>
        </p:txBody>
      </p:sp>
      <p:sp>
        <p:nvSpPr>
          <p:cNvPr id="72" name="shape 72"/>
          <p:cNvSpPr/>
          <p:nvPr/>
        </p:nvSpPr>
        <p:spPr>
          <a:xfrm>
            <a:off x="482599" y="3124200"/>
            <a:ext cx="4127499" cy="3467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>
                <a:solidFill>
                  <a:srgbClr val="111827"/>
                </a:solidFill>
              </a:rPr>
              <a:t>No fabricated ablation scores: this panel defines the exact component toggles for reproducible follow-up experiments.</a:t>
            </a:r>
            <a:endParaRPr lang="en-US" sz="1300"/>
          </a:p>
        </p:txBody>
      </p:sp>
      <p:sp>
        <p:nvSpPr>
          <p:cNvPr id="73" name="shape 73"/>
          <p:cNvSpPr/>
          <p:nvPr/>
        </p:nvSpPr>
        <p:spPr>
          <a:xfrm>
            <a:off x="5397499" y="761999"/>
            <a:ext cx="3174999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74" name="shape 74"/>
          <p:cNvSpPr/>
          <p:nvPr/>
        </p:nvSpPr>
        <p:spPr>
          <a:xfrm>
            <a:off x="551179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(b)</a:t>
            </a:r>
            <a:endParaRPr lang="en-US" sz="1800"/>
          </a:p>
        </p:txBody>
      </p:sp>
      <p:sp>
        <p:nvSpPr>
          <p:cNvPr id="75" name="shape 75"/>
          <p:cNvSpPr/>
          <p:nvPr/>
        </p:nvSpPr>
        <p:spPr>
          <a:xfrm>
            <a:off x="5765799" y="844550"/>
            <a:ext cx="132016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Measured safety audit</a:t>
            </a:r>
            <a:endParaRPr lang="en-US" sz="1800"/>
          </a:p>
        </p:txBody>
      </p:sp>
      <p:sp>
        <p:nvSpPr>
          <p:cNvPr id="76" name="shape 76"/>
          <p:cNvSpPr/>
          <p:nvPr/>
        </p:nvSpPr>
        <p:spPr>
          <a:xfrm>
            <a:off x="5607049" y="1289050"/>
            <a:ext cx="215899" cy="21589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77" name="shape 77"/>
          <p:cNvSpPr/>
          <p:nvPr/>
        </p:nvSpPr>
        <p:spPr>
          <a:xfrm>
            <a:off x="5714999" y="1352549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0</a:t>
            </a:r>
            <a:endParaRPr lang="en-US" sz="1300"/>
          </a:p>
        </p:txBody>
      </p:sp>
      <p:sp>
        <p:nvSpPr>
          <p:cNvPr id="78" name="shape 78"/>
          <p:cNvSpPr/>
          <p:nvPr/>
        </p:nvSpPr>
        <p:spPr>
          <a:xfrm>
            <a:off x="5937249" y="1301750"/>
            <a:ext cx="1005839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Static penetration</a:t>
            </a:r>
            <a:endParaRPr lang="en-US" sz="1600"/>
          </a:p>
        </p:txBody>
      </p:sp>
      <p:sp>
        <p:nvSpPr>
          <p:cNvPr id="79" name="shape 79"/>
          <p:cNvSpPr/>
          <p:nvPr/>
        </p:nvSpPr>
        <p:spPr>
          <a:xfrm>
            <a:off x="7746999" y="130175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0.00</a:t>
            </a:r>
            <a:endParaRPr lang="en-US" sz="1800"/>
          </a:p>
        </p:txBody>
      </p:sp>
      <p:sp>
        <p:nvSpPr>
          <p:cNvPr id="80" name="shape 80"/>
          <p:cNvSpPr/>
          <p:nvPr/>
        </p:nvSpPr>
        <p:spPr>
          <a:xfrm>
            <a:off x="5607049" y="1733550"/>
            <a:ext cx="215899" cy="21589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81" name="shape 81"/>
          <p:cNvSpPr/>
          <p:nvPr/>
        </p:nvSpPr>
        <p:spPr>
          <a:xfrm>
            <a:off x="5714999" y="17970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0</a:t>
            </a:r>
            <a:endParaRPr lang="en-US" sz="1300"/>
          </a:p>
        </p:txBody>
      </p:sp>
      <p:sp>
        <p:nvSpPr>
          <p:cNvPr id="82" name="shape 82"/>
          <p:cNvSpPr/>
          <p:nvPr/>
        </p:nvSpPr>
        <p:spPr>
          <a:xfrm>
            <a:off x="5937249" y="1746250"/>
            <a:ext cx="838199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Box penetration</a:t>
            </a:r>
            <a:endParaRPr lang="en-US" sz="1600"/>
          </a:p>
        </p:txBody>
      </p:sp>
      <p:sp>
        <p:nvSpPr>
          <p:cNvPr id="83" name="shape 83"/>
          <p:cNvSpPr/>
          <p:nvPr/>
        </p:nvSpPr>
        <p:spPr>
          <a:xfrm>
            <a:off x="7746999" y="174625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0.00</a:t>
            </a:r>
            <a:endParaRPr lang="en-US" sz="1800"/>
          </a:p>
        </p:txBody>
      </p:sp>
      <p:sp>
        <p:nvSpPr>
          <p:cNvPr id="84" name="shape 84"/>
          <p:cNvSpPr/>
          <p:nvPr/>
        </p:nvSpPr>
        <p:spPr>
          <a:xfrm>
            <a:off x="5607049" y="2178050"/>
            <a:ext cx="215899" cy="21589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85" name="shape 85"/>
          <p:cNvSpPr/>
          <p:nvPr/>
        </p:nvSpPr>
        <p:spPr>
          <a:xfrm>
            <a:off x="5714999" y="22415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0</a:t>
            </a:r>
            <a:endParaRPr lang="en-US" sz="1300"/>
          </a:p>
        </p:txBody>
      </p:sp>
      <p:sp>
        <p:nvSpPr>
          <p:cNvPr id="86" name="shape 86"/>
          <p:cNvSpPr/>
          <p:nvPr/>
        </p:nvSpPr>
        <p:spPr>
          <a:xfrm>
            <a:off x="5937249" y="2190749"/>
            <a:ext cx="1005839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Robot contact/game</a:t>
            </a:r>
            <a:endParaRPr lang="en-US" sz="1600"/>
          </a:p>
        </p:txBody>
      </p:sp>
      <p:sp>
        <p:nvSpPr>
          <p:cNvPr id="87" name="shape 87"/>
          <p:cNvSpPr/>
          <p:nvPr/>
        </p:nvSpPr>
        <p:spPr>
          <a:xfrm>
            <a:off x="7746999" y="2190749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0.00</a:t>
            </a:r>
            <a:endParaRPr lang="en-US" sz="1800"/>
          </a:p>
        </p:txBody>
      </p:sp>
      <p:sp>
        <p:nvSpPr>
          <p:cNvPr id="88" name="shape 88"/>
          <p:cNvSpPr/>
          <p:nvPr/>
        </p:nvSpPr>
        <p:spPr>
          <a:xfrm>
            <a:off x="5607049" y="2622550"/>
            <a:ext cx="215899" cy="21589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89" name="shape 89"/>
          <p:cNvSpPr/>
          <p:nvPr/>
        </p:nvSpPr>
        <p:spPr>
          <a:xfrm>
            <a:off x="5714999" y="2686050"/>
            <a:ext cx="507999" cy="12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300" b="1">
                <a:solidFill>
                  <a:srgbClr val="111827"/>
                </a:solidFill>
              </a:rPr>
              <a:t>0</a:t>
            </a:r>
            <a:endParaRPr lang="en-US" sz="1300"/>
          </a:p>
        </p:txBody>
      </p:sp>
      <p:sp>
        <p:nvSpPr>
          <p:cNvPr id="90" name="shape 90"/>
          <p:cNvSpPr/>
          <p:nvPr/>
        </p:nvSpPr>
        <p:spPr>
          <a:xfrm>
            <a:off x="5937249" y="2635250"/>
            <a:ext cx="1061719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Repeat target order</a:t>
            </a:r>
            <a:endParaRPr lang="en-US" sz="1600"/>
          </a:p>
        </p:txBody>
      </p:sp>
      <p:sp>
        <p:nvSpPr>
          <p:cNvPr id="91" name="shape 91"/>
          <p:cNvSpPr/>
          <p:nvPr/>
        </p:nvSpPr>
        <p:spPr>
          <a:xfrm>
            <a:off x="7746999" y="263525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0.00</a:t>
            </a:r>
            <a:endParaRPr lang="en-US" sz="1800"/>
          </a:p>
        </p:txBody>
      </p:sp>
      <p:sp>
        <p:nvSpPr>
          <p:cNvPr id="92" name="shape 92"/>
          <p:cNvSpPr/>
          <p:nvPr/>
        </p:nvSpPr>
        <p:spPr>
          <a:xfrm>
            <a:off x="8826499" y="761999"/>
            <a:ext cx="3111499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93" name="shape 93"/>
          <p:cNvSpPr/>
          <p:nvPr/>
        </p:nvSpPr>
        <p:spPr>
          <a:xfrm>
            <a:off x="894079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(c)</a:t>
            </a:r>
            <a:endParaRPr lang="en-US" sz="1800"/>
          </a:p>
        </p:txBody>
      </p:sp>
      <p:sp>
        <p:nvSpPr>
          <p:cNvPr id="94" name="shape 94"/>
          <p:cNvSpPr/>
          <p:nvPr/>
        </p:nvSpPr>
        <p:spPr>
          <a:xfrm>
            <a:off x="9194799" y="844550"/>
            <a:ext cx="106870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Observed behavior</a:t>
            </a:r>
            <a:endParaRPr lang="en-US" sz="1800"/>
          </a:p>
        </p:txBody>
      </p:sp>
      <p:sp>
        <p:nvSpPr>
          <p:cNvPr id="95" name="shape 95"/>
          <p:cNvSpPr/>
          <p:nvPr/>
        </p:nvSpPr>
        <p:spPr>
          <a:xfrm>
            <a:off x="9112249" y="1301750"/>
            <a:ext cx="2412999" cy="266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96" name="shape 96"/>
          <p:cNvSpPr/>
          <p:nvPr/>
        </p:nvSpPr>
        <p:spPr>
          <a:xfrm>
            <a:off x="9188449" y="1377950"/>
            <a:ext cx="22605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Yellow push events/game: 2.09</a:t>
            </a:r>
            <a:endParaRPr lang="en-US" sz="1400"/>
          </a:p>
        </p:txBody>
      </p:sp>
      <p:sp>
        <p:nvSpPr>
          <p:cNvPr id="97" name="shape 97"/>
          <p:cNvSpPr/>
          <p:nvPr/>
        </p:nvSpPr>
        <p:spPr>
          <a:xfrm>
            <a:off x="9112249" y="1746250"/>
            <a:ext cx="2412999" cy="266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98" name="shape 98"/>
          <p:cNvSpPr/>
          <p:nvPr/>
        </p:nvSpPr>
        <p:spPr>
          <a:xfrm>
            <a:off x="9188449" y="1822449"/>
            <a:ext cx="22605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Blue push events/game: 0.42</a:t>
            </a:r>
            <a:endParaRPr lang="en-US" sz="1400"/>
          </a:p>
        </p:txBody>
      </p:sp>
      <p:sp>
        <p:nvSpPr>
          <p:cNvPr id="99" name="shape 99"/>
          <p:cNvSpPr/>
          <p:nvPr/>
        </p:nvSpPr>
        <p:spPr>
          <a:xfrm>
            <a:off x="9112249" y="2190749"/>
            <a:ext cx="2412999" cy="266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00" name="shape 100"/>
          <p:cNvSpPr/>
          <p:nvPr/>
        </p:nvSpPr>
        <p:spPr>
          <a:xfrm>
            <a:off x="9188449" y="2266950"/>
            <a:ext cx="22605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box_ne final displacement: 0.119 m</a:t>
            </a:r>
            <a:endParaRPr lang="en-US" sz="1400"/>
          </a:p>
        </p:txBody>
      </p:sp>
      <p:sp>
        <p:nvSpPr>
          <p:cNvPr id="101" name="shape 101"/>
          <p:cNvSpPr/>
          <p:nvPr/>
        </p:nvSpPr>
        <p:spPr>
          <a:xfrm>
            <a:off x="9112249" y="2635250"/>
            <a:ext cx="2412999" cy="266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txBody>
          <a:bodyPr/>
          <a:lstStyle/>
          <a:p/>
        </p:txBody>
      </p:sp>
      <p:sp>
        <p:nvSpPr>
          <p:cNvPr id="102" name="shape 102"/>
          <p:cNvSpPr/>
          <p:nvPr/>
        </p:nvSpPr>
        <p:spPr>
          <a:xfrm>
            <a:off x="9188449" y="2711450"/>
            <a:ext cx="226059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box_sw final displacement: 0.025 m</a:t>
            </a:r>
            <a:endParaRPr lang="en-US" sz="1400"/>
          </a:p>
        </p:txBody>
      </p:sp>
      <p:sp>
        <p:nvSpPr>
          <p:cNvPr id="103" name="shape 103"/>
          <p:cNvSpPr/>
          <p:nvPr/>
        </p:nvSpPr>
        <p:spPr>
          <a:xfrm>
            <a:off x="241299" y="3746500"/>
            <a:ext cx="11696699" cy="200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104" name="shape 104"/>
          <p:cNvSpPr/>
          <p:nvPr/>
        </p:nvSpPr>
        <p:spPr>
          <a:xfrm>
            <a:off x="355599" y="38227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(d)</a:t>
            </a:r>
            <a:endParaRPr lang="en-US" sz="1800"/>
          </a:p>
        </p:txBody>
      </p:sp>
      <p:sp>
        <p:nvSpPr>
          <p:cNvPr id="105" name="shape 105"/>
          <p:cNvSpPr/>
          <p:nvPr/>
        </p:nvSpPr>
        <p:spPr>
          <a:xfrm>
            <a:off x="609599" y="3829050"/>
            <a:ext cx="352043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Failure modes explicitly checked before claiming success</a:t>
            </a:r>
            <a:endParaRPr lang="en-US" sz="1800"/>
          </a:p>
        </p:txBody>
      </p:sp>
      <p:sp>
        <p:nvSpPr>
          <p:cNvPr id="106" name="shape 106"/>
          <p:cNvSpPr/>
          <p:nvPr/>
        </p:nvSpPr>
        <p:spPr>
          <a:xfrm>
            <a:off x="520699" y="4318000"/>
            <a:ext cx="1809749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07" name="shape 107"/>
          <p:cNvSpPr/>
          <p:nvPr/>
        </p:nvSpPr>
        <p:spPr>
          <a:xfrm>
            <a:off x="596899" y="4394200"/>
            <a:ext cx="165734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Base before armor removal
raycast blocked, shot rejected</a:t>
            </a:r>
            <a:endParaRPr lang="en-US" sz="1400"/>
          </a:p>
        </p:txBody>
      </p:sp>
      <p:sp>
        <p:nvSpPr>
          <p:cNvPr id="108" name="shape 108"/>
          <p:cNvSpPr/>
          <p:nvPr/>
        </p:nvSpPr>
        <p:spPr>
          <a:xfrm>
            <a:off x="2774949" y="4318000"/>
            <a:ext cx="1809749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09" name="shape 109"/>
          <p:cNvSpPr/>
          <p:nvPr/>
        </p:nvSpPr>
        <p:spPr>
          <a:xfrm>
            <a:off x="2851149" y="4394200"/>
            <a:ext cx="165734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&lt;0.80 s laser dwell
100% cannot knock target</a:t>
            </a:r>
            <a:endParaRPr lang="en-US" sz="1400"/>
          </a:p>
        </p:txBody>
      </p:sp>
      <p:sp>
        <p:nvSpPr>
          <p:cNvPr id="110" name="shape 110"/>
          <p:cNvSpPr/>
          <p:nvPr/>
        </p:nvSpPr>
        <p:spPr>
          <a:xfrm>
            <a:off x="5029199" y="4318000"/>
            <a:ext cx="1809749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5105399" y="4394200"/>
            <a:ext cx="165734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Box/armor collision
hard penetration audited</a:t>
            </a:r>
            <a:endParaRPr lang="en-US" sz="1400"/>
          </a:p>
        </p:txBody>
      </p:sp>
      <p:sp>
        <p:nvSpPr>
          <p:cNvPr id="112" name="shape 112"/>
          <p:cNvSpPr/>
          <p:nvPr/>
        </p:nvSpPr>
        <p:spPr>
          <a:xfrm>
            <a:off x="7283449" y="4318000"/>
            <a:ext cx="1809749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13" name="shape 113"/>
          <p:cNvSpPr/>
          <p:nvPr/>
        </p:nvSpPr>
        <p:spPr>
          <a:xfrm>
            <a:off x="7359649" y="4394200"/>
            <a:ext cx="165734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Stuck near firing pose
micro-aim + side nudges</a:t>
            </a:r>
            <a:endParaRPr lang="en-US" sz="1400"/>
          </a:p>
        </p:txBody>
      </p:sp>
      <p:sp>
        <p:nvSpPr>
          <p:cNvPr id="114" name="shape 114"/>
          <p:cNvSpPr/>
          <p:nvPr/>
        </p:nvSpPr>
        <p:spPr>
          <a:xfrm>
            <a:off x="9537699" y="4318000"/>
            <a:ext cx="1809749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15" name="shape 115"/>
          <p:cNvSpPr/>
          <p:nvPr/>
        </p:nvSpPr>
        <p:spPr>
          <a:xfrm>
            <a:off x="9613899" y="4394200"/>
            <a:ext cx="1657349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400" b="1">
                <a:solidFill>
                  <a:srgbClr val="111827"/>
                </a:solidFill>
              </a:rPr>
              <a:t>One-route collapse
normal-hit distribution logged</a:t>
            </a:r>
            <a:endParaRPr lang="en-US" sz="1400"/>
          </a:p>
        </p:txBody>
      </p:sp>
      <p:sp>
        <p:nvSpPr>
          <p:cNvPr id="116" name="shape 116"/>
          <p:cNvSpPr/>
          <p:nvPr/>
        </p:nvSpPr>
        <p:spPr>
          <a:xfrm>
            <a:off x="469899" y="6070600"/>
            <a:ext cx="11252199" cy="3429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117" name="shape 117"/>
          <p:cNvSpPr/>
          <p:nvPr/>
        </p:nvSpPr>
        <p:spPr>
          <a:xfrm>
            <a:off x="546099" y="6146800"/>
            <a:ext cx="11099799" cy="6134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2300" b="1">
                <a:solidFill>
                  <a:srgbClr val="111827"/>
                </a:solidFill>
              </a:rPr>
              <a:t>The formal claim is tied to rule audits and replay evidence, not reward-only curves.</a:t>
            </a:r>
            <a:endParaRPr lang="en-US"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241299" y="114300"/>
            <a:ext cx="9524999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2400" b="1">
                <a:solidFill>
                  <a:srgbClr val="111827"/>
                </a:solidFill>
              </a:rPr>
              <a:t>ROS2 + IsaacLab + RL Closed Loop and Replay Evidence</a:t>
            </a:r>
            <a:endParaRPr lang="en-US" sz="2400"/>
          </a:p>
        </p:txBody>
      </p:sp>
      <p:sp>
        <p:nvSpPr>
          <p:cNvPr id="3" name="shape 3"/>
          <p:cNvSpPr/>
          <p:nvPr/>
        </p:nvSpPr>
        <p:spPr>
          <a:xfrm>
            <a:off x="266699" y="393700"/>
            <a:ext cx="9524999" cy="1904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200">
                <a:solidFill>
                  <a:srgbClr val="111827"/>
                </a:solidFill>
              </a:rPr>
              <a:t>Deployment-facing diagram: learned high-level policy remains inside ROS2/Nav2 and strict replay contracts.</a:t>
            </a:r>
            <a:endParaRPr lang="en-US" sz="1200"/>
          </a:p>
        </p:txBody>
      </p:sp>
      <p:sp>
        <p:nvSpPr>
          <p:cNvPr id="4" name="shape 4"/>
          <p:cNvSpPr/>
          <p:nvPr/>
        </p:nvSpPr>
        <p:spPr>
          <a:xfrm>
            <a:off x="241299" y="761999"/>
            <a:ext cx="3492499" cy="495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35559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(a)</a:t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09599" y="844550"/>
            <a:ext cx="132016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ROS2 runtime contract</a:t>
            </a:r>
            <a:endParaRPr lang="en-US" sz="1800"/>
          </a:p>
        </p:txBody>
      </p:sp>
      <p:sp>
        <p:nvSpPr>
          <p:cNvPr id="7" name="shape 7"/>
          <p:cNvSpPr/>
          <p:nvPr/>
        </p:nvSpPr>
        <p:spPr>
          <a:xfrm>
            <a:off x="622299" y="1301750"/>
            <a:ext cx="2412999" cy="444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698499" y="1377950"/>
            <a:ext cx="2260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rcvrl_vision
AprilTag / target detection</a:t>
            </a:r>
            <a:endParaRPr lang="en-US" sz="1500"/>
          </a:p>
        </p:txBody>
      </p:sp>
      <p:cxnSp>
        <p:nvCxnSpPr>
          <p:cNvPr id="9" name="line 9"/>
          <p:cNvCxnSpPr/>
          <p:nvPr/>
        </p:nvCxnSpPr>
        <p:spPr>
          <a:xfrm>
            <a:off x="1828799" y="1746250"/>
            <a:ext cx="1" cy="3175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10" name="shape 10"/>
          <p:cNvSpPr/>
          <p:nvPr/>
        </p:nvSpPr>
        <p:spPr>
          <a:xfrm>
            <a:off x="622299" y="2063750"/>
            <a:ext cx="2412999" cy="4445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698499" y="2139950"/>
            <a:ext cx="2260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robot_localization
wheel odom + IMU EKF</a:t>
            </a:r>
            <a:endParaRPr lang="en-US" sz="1500"/>
          </a:p>
        </p:txBody>
      </p:sp>
      <p:cxnSp>
        <p:nvCxnSpPr>
          <p:cNvPr id="12" name="line 12"/>
          <p:cNvCxnSpPr/>
          <p:nvPr/>
        </p:nvCxnSpPr>
        <p:spPr>
          <a:xfrm>
            <a:off x="1828799" y="2508250"/>
            <a:ext cx="1" cy="3175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622299" y="2825750"/>
            <a:ext cx="2412999" cy="4445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698499" y="2901950"/>
            <a:ext cx="2260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Nav2 controller
costmap + cmd_vel</a:t>
            </a:r>
            <a:endParaRPr lang="en-US" sz="1500"/>
          </a:p>
        </p:txBody>
      </p:sp>
      <p:cxnSp>
        <p:nvCxnSpPr>
          <p:cNvPr id="15" name="line 15"/>
          <p:cNvCxnSpPr/>
          <p:nvPr/>
        </p:nvCxnSpPr>
        <p:spPr>
          <a:xfrm>
            <a:off x="1828799" y="3270250"/>
            <a:ext cx="1" cy="3175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16" name="shape 16"/>
          <p:cNvSpPr/>
          <p:nvPr/>
        </p:nvSpPr>
        <p:spPr>
          <a:xfrm>
            <a:off x="622299" y="3587750"/>
            <a:ext cx="2412999" cy="4445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698499" y="3663949"/>
            <a:ext cx="2260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shooter services
laser dwell gate</a:t>
            </a:r>
            <a:endParaRPr lang="en-US" sz="1500"/>
          </a:p>
        </p:txBody>
      </p:sp>
      <p:sp>
        <p:nvSpPr>
          <p:cNvPr id="18" name="shape 18"/>
          <p:cNvSpPr/>
          <p:nvPr/>
        </p:nvSpPr>
        <p:spPr>
          <a:xfrm>
            <a:off x="3968749" y="761999"/>
            <a:ext cx="4190999" cy="495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408304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(b)</a:t>
            </a:r>
            <a:endParaRPr lang="en-US" sz="1800"/>
          </a:p>
        </p:txBody>
      </p:sp>
      <p:sp>
        <p:nvSpPr>
          <p:cNvPr id="20" name="shape 20"/>
          <p:cNvSpPr/>
          <p:nvPr/>
        </p:nvSpPr>
        <p:spPr>
          <a:xfrm>
            <a:off x="4337049" y="844550"/>
            <a:ext cx="1823084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Policy-in-the-loop simulation</a:t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4381499" y="1333500"/>
            <a:ext cx="1396999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4457699" y="1409699"/>
            <a:ext cx="1244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IsaacLab arena
robots, targets, boxes</a:t>
            </a:r>
            <a:endParaRPr lang="en-US" sz="1500"/>
          </a:p>
        </p:txBody>
      </p:sp>
      <p:sp>
        <p:nvSpPr>
          <p:cNvPr id="23" name="shape 23"/>
          <p:cNvSpPr/>
          <p:nvPr/>
        </p:nvSpPr>
        <p:spPr>
          <a:xfrm>
            <a:off x="6413499" y="1333500"/>
            <a:ext cx="1396999" cy="457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6489699" y="1409699"/>
            <a:ext cx="1244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Rule environment
fast parallel rollout</a:t>
            </a:r>
            <a:endParaRPr lang="en-US" sz="1500"/>
          </a:p>
        </p:txBody>
      </p:sp>
      <p:sp>
        <p:nvSpPr>
          <p:cNvPr id="25" name="shape 25"/>
          <p:cNvSpPr/>
          <p:nvPr/>
        </p:nvSpPr>
        <p:spPr>
          <a:xfrm>
            <a:off x="5397499" y="2476500"/>
            <a:ext cx="1460499" cy="4826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5473699" y="2552700"/>
            <a:ext cx="13080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World-model SAC Flow
high-level tactical actor</a:t>
            </a:r>
            <a:endParaRPr lang="en-US" sz="1500"/>
          </a:p>
        </p:txBody>
      </p:sp>
      <p:sp>
        <p:nvSpPr>
          <p:cNvPr id="27" name="shape 27"/>
          <p:cNvSpPr/>
          <p:nvPr/>
        </p:nvSpPr>
        <p:spPr>
          <a:xfrm>
            <a:off x="4508499" y="3619500"/>
            <a:ext cx="1396999" cy="457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4584699" y="3695699"/>
            <a:ext cx="1244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Contract eval
128+ stochastic games</a:t>
            </a:r>
            <a:endParaRPr lang="en-US" sz="1500"/>
          </a:p>
        </p:txBody>
      </p:sp>
      <p:sp>
        <p:nvSpPr>
          <p:cNvPr id="29" name="shape 29"/>
          <p:cNvSpPr/>
          <p:nvPr/>
        </p:nvSpPr>
        <p:spPr>
          <a:xfrm>
            <a:off x="6349999" y="3619500"/>
            <a:ext cx="1396999" cy="457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6426199" y="3695699"/>
            <a:ext cx="1244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Strict replay
step-wise audit</a:t>
            </a:r>
            <a:endParaRPr lang="en-US" sz="1500"/>
          </a:p>
        </p:txBody>
      </p:sp>
      <p:cxnSp>
        <p:nvCxnSpPr>
          <p:cNvPr id="31" name="line 31"/>
          <p:cNvCxnSpPr/>
          <p:nvPr/>
        </p:nvCxnSpPr>
        <p:spPr>
          <a:xfrm>
            <a:off x="5778499" y="1562100"/>
            <a:ext cx="634999" cy="1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32" name="line 32"/>
          <p:cNvCxnSpPr/>
          <p:nvPr/>
        </p:nvCxnSpPr>
        <p:spPr>
          <a:xfrm>
            <a:off x="6222999" y="1790700"/>
            <a:ext cx="888999" cy="6858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33" name="line 33"/>
          <p:cNvCxnSpPr/>
          <p:nvPr/>
        </p:nvCxnSpPr>
        <p:spPr>
          <a:xfrm>
            <a:off x="5079999" y="1790700"/>
            <a:ext cx="761999" cy="6858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34" name="line 34"/>
          <p:cNvCxnSpPr/>
          <p:nvPr/>
        </p:nvCxnSpPr>
        <p:spPr>
          <a:xfrm>
            <a:off x="5206999" y="2959100"/>
            <a:ext cx="761999" cy="6604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cxnSp>
        <p:nvCxnSpPr>
          <p:cNvPr id="35" name="line 35"/>
          <p:cNvCxnSpPr/>
          <p:nvPr/>
        </p:nvCxnSpPr>
        <p:spPr>
          <a:xfrm>
            <a:off x="6349999" y="2959100"/>
            <a:ext cx="698499" cy="660400"/>
          </a:xfrm>
          <a:prstGeom prst="line">
            <a:avLst/>
          </a:prstGeom>
          <a:ln w="19050">
            <a:solidFill>
              <a:srgbClr val="111827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4825999" y="4603750"/>
            <a:ext cx="2539999" cy="330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37" name="shape 37"/>
          <p:cNvSpPr/>
          <p:nvPr/>
        </p:nvSpPr>
        <p:spPr>
          <a:xfrm>
            <a:off x="4902199" y="4679950"/>
            <a:ext cx="2387599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600" b="1">
                <a:solidFill>
                  <a:srgbClr val="111827"/>
                </a:solidFill>
              </a:rPr>
              <a:t>strict replay: 0 hard violations, 0 warnings</a:t>
            </a:r>
            <a:endParaRPr lang="en-US" sz="1600"/>
          </a:p>
        </p:txBody>
      </p:sp>
      <p:sp>
        <p:nvSpPr>
          <p:cNvPr id="38" name="shape 38"/>
          <p:cNvSpPr/>
          <p:nvPr/>
        </p:nvSpPr>
        <p:spPr>
          <a:xfrm>
            <a:off x="8381999" y="761999"/>
            <a:ext cx="3555999" cy="495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/>
          <a:lstStyle/>
          <a:p/>
        </p:txBody>
      </p:sp>
      <p:sp>
        <p:nvSpPr>
          <p:cNvPr id="39" name="shape 39"/>
          <p:cNvSpPr/>
          <p:nvPr/>
        </p:nvSpPr>
        <p:spPr>
          <a:xfrm>
            <a:off x="8496299" y="838200"/>
            <a:ext cx="50799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(c)</a:t>
            </a:r>
            <a:endParaRPr lang="en-US" sz="1800"/>
          </a:p>
        </p:txBody>
      </p:sp>
      <p:sp>
        <p:nvSpPr>
          <p:cNvPr id="40" name="shape 40"/>
          <p:cNvSpPr/>
          <p:nvPr/>
        </p:nvSpPr>
        <p:spPr>
          <a:xfrm>
            <a:off x="8750299" y="844550"/>
            <a:ext cx="1131569" cy="17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800" b="1">
                <a:solidFill>
                  <a:srgbClr val="111827"/>
                </a:solidFill>
              </a:rPr>
              <a:t>Published evidence</a:t>
            </a:r>
            <a:endParaRPr lang="en-US" sz="1800"/>
          </a:p>
        </p:txBody>
      </p:sp>
      <p:sp>
        <p:nvSpPr>
          <p:cNvPr id="41" name="shape 41"/>
          <p:cNvSpPr/>
          <p:nvPr/>
        </p:nvSpPr>
        <p:spPr>
          <a:xfrm>
            <a:off x="8731249" y="1333500"/>
            <a:ext cx="2539999" cy="34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42" name="shape 42"/>
          <p:cNvSpPr/>
          <p:nvPr/>
        </p:nvSpPr>
        <p:spPr>
          <a:xfrm>
            <a:off x="8807449" y="1409699"/>
            <a:ext cx="2387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final replay top view</a:t>
            </a:r>
            <a:endParaRPr lang="en-US" sz="1500"/>
          </a:p>
        </p:txBody>
      </p:sp>
      <p:sp>
        <p:nvSpPr>
          <p:cNvPr id="43" name="shape 43"/>
          <p:cNvSpPr/>
          <p:nvPr/>
        </p:nvSpPr>
        <p:spPr>
          <a:xfrm>
            <a:off x="8731249" y="2000250"/>
            <a:ext cx="2539999" cy="34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B82E"/>
            </a:solidFill>
          </a:ln>
        </p:spPr>
        <p:txBody>
          <a:bodyPr/>
          <a:lstStyle/>
          <a:p/>
        </p:txBody>
      </p:sp>
      <p:sp>
        <p:nvSpPr>
          <p:cNvPr id="44" name="shape 44"/>
          <p:cNvSpPr/>
          <p:nvPr/>
        </p:nvSpPr>
        <p:spPr>
          <a:xfrm>
            <a:off x="8807449" y="2076449"/>
            <a:ext cx="2387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yellow first-person replay</a:t>
            </a:r>
            <a:endParaRPr lang="en-US" sz="1500"/>
          </a:p>
        </p:txBody>
      </p:sp>
      <p:sp>
        <p:nvSpPr>
          <p:cNvPr id="45" name="shape 45"/>
          <p:cNvSpPr/>
          <p:nvPr/>
        </p:nvSpPr>
        <p:spPr>
          <a:xfrm>
            <a:off x="8731249" y="2667000"/>
            <a:ext cx="2539999" cy="34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6" name="shape 46"/>
          <p:cNvSpPr/>
          <p:nvPr/>
        </p:nvSpPr>
        <p:spPr>
          <a:xfrm>
            <a:off x="8807449" y="2743200"/>
            <a:ext cx="2387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blue first-person replay</a:t>
            </a:r>
            <a:endParaRPr lang="en-US" sz="1500"/>
          </a:p>
        </p:txBody>
      </p:sp>
      <p:sp>
        <p:nvSpPr>
          <p:cNvPr id="47" name="shape 47"/>
          <p:cNvSpPr/>
          <p:nvPr/>
        </p:nvSpPr>
        <p:spPr>
          <a:xfrm>
            <a:off x="8731249" y="3333750"/>
            <a:ext cx="2539999" cy="34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48" name="shape 48"/>
          <p:cNvSpPr/>
          <p:nvPr/>
        </p:nvSpPr>
        <p:spPr>
          <a:xfrm>
            <a:off x="8807449" y="3409950"/>
            <a:ext cx="2387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checkpoint + export manifest</a:t>
            </a:r>
            <a:endParaRPr lang="en-US" sz="1500"/>
          </a:p>
        </p:txBody>
      </p:sp>
      <p:sp>
        <p:nvSpPr>
          <p:cNvPr id="49" name="shape 49"/>
          <p:cNvSpPr/>
          <p:nvPr/>
        </p:nvSpPr>
        <p:spPr>
          <a:xfrm>
            <a:off x="8731249" y="4000500"/>
            <a:ext cx="2539999" cy="34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50" name="shape 50"/>
          <p:cNvSpPr/>
          <p:nvPr/>
        </p:nvSpPr>
        <p:spPr>
          <a:xfrm>
            <a:off x="8807449" y="4076699"/>
            <a:ext cx="2387599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1500" b="1">
                <a:solidFill>
                  <a:srgbClr val="111827"/>
                </a:solidFill>
              </a:rPr>
              <a:t>contract JSON/CSV + figures</a:t>
            </a:r>
            <a:endParaRPr lang="en-US" sz="1500"/>
          </a:p>
        </p:txBody>
      </p:sp>
      <p:sp>
        <p:nvSpPr>
          <p:cNvPr id="51" name="shape 51"/>
          <p:cNvSpPr/>
          <p:nvPr/>
        </p:nvSpPr>
        <p:spPr>
          <a:xfrm>
            <a:off x="469899" y="6070600"/>
            <a:ext cx="11252199" cy="3429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52" name="shape 52"/>
          <p:cNvSpPr/>
          <p:nvPr/>
        </p:nvSpPr>
        <p:spPr>
          <a:xfrm>
            <a:off x="546099" y="6146800"/>
            <a:ext cx="11099799" cy="6134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60000" tIns="40000" rIns="60000" bIns="40000"/>
          <a:lstStyle/>
          <a:p>
            <a:r>
              <a:rPr lang="en-US" sz="2300" b="1">
                <a:solidFill>
                  <a:srgbClr val="111827"/>
                </a:solidFill>
              </a:rPr>
              <a:t>Final media and metrics are generated from audited traces and linked directly in README.</a:t>
            </a:r>
            <a:endParaRPr lang="en-US" sz="23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Generated editable PPTX master</Application>
  <Slides>5</Slides>
</Properties>
</file>

<file path=docProps/core.xml><?xml version="1.0" encoding="utf-8"?>
<cp:coreProperties xmlns:cp="http://schemas.openxmlformats.org/package/2006/metadata/core-properties" xmlns:dc="http://purl.org/dc/elements/1.1/">
  <dc:title>World Model SAC Flow Paper Figures</dc:title>
  <dc:creator>Codex</dc:creator>
</cp:coreProperties>
</file>